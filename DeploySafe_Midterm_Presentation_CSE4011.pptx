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200"/>
            </a:pPr>
            <a:r>
              <a:t>TALKING POINTS:</a:t>
            </a:r>
          </a:p>
          <a:p>
            <a:pPr>
              <a:defRPr sz="1100"/>
            </a:pPr>
            <a:r>
              <a:t>- Good morning Dr. Kiran Khatter and Mr. Naveen Singh. Today I am presenting DeploySafe for our CSE 4011 Mid-Term Evaluation (A2).</a:t>
            </a:r>
          </a:p>
          <a:p>
            <a:pPr>
              <a:defRPr sz="1100"/>
            </a:pPr>
            <a:r>
              <a:t>- DeploySafe is an automated pre-deployment risk analysis tool that inspects repositories before release to catch critical deployment failures.</a:t>
            </a:r>
          </a:p>
          <a:p>
            <a:pPr>
              <a:defRPr sz="1100"/>
            </a:pPr>
            <a:r>
              <a:t>- It bridges modern software engineering, AI code intelligence, and DevOps workflows as outlined in our course syllabus.</a:t>
            </a:r>
          </a:p>
          <a:p>
            <a:pPr>
              <a:defRPr sz="1100"/>
            </a:pPr>
            <a:r>
              <a:t>- All findings are validated against actual disk files by a Critic agent, and scored through a deterministic mathematical formula.</a:t>
            </a:r>
          </a:p>
          <a:p>
            <a:br/>
            <a:pPr>
              <a:defRPr b="1" sz="1200"/>
            </a:pPr>
            <a:r>
              <a:t>LIKELY PROFESSOR QUESTION:</a:t>
            </a:r>
          </a:p>
          <a:p>
            <a:pPr>
              <a:defRPr sz="1100"/>
            </a:pPr>
            <a:r>
              <a:t>Why is this problem best solved by an AI DevOps tool rather than standard static analysis?</a:t>
            </a:r>
          </a:p>
          <a:p>
            <a:br/>
            <a:pPr>
              <a:defRPr b="1" sz="1200"/>
            </a:pPr>
            <a:r>
              <a:t>CONCISE ANSWER:</a:t>
            </a:r>
          </a:p>
          <a:p>
            <a:pPr>
              <a:defRPr sz="1100"/>
            </a:pPr>
            <a:r>
              <a:t>Static analysis checks individual files for syntax rules in isolation. DeploySafe uses specialized domain agents to correlate human intent in documentation with deployment manifests, catching cross-domain misconfigurations like a missing database container.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200"/>
            </a:pPr>
            <a:r>
              <a:t>TALKING POINTS:</a:t>
            </a:r>
          </a:p>
          <a:p>
            <a:pPr>
              <a:defRPr sz="1100"/>
            </a:pPr>
            <a:r>
              <a:t>- This slide highlights the common blind spots in traditional CI/CD pipelines.</a:t>
            </a:r>
          </a:p>
          <a:p>
            <a:pPr>
              <a:defRPr sz="1100"/>
            </a:pPr>
            <a:r>
              <a:t>- Unit tests check code logic in isolation, but they miss missing container services, unpinned dependencies, and undeclared secrets.</a:t>
            </a:r>
          </a:p>
          <a:p>
            <a:pPr>
              <a:defRPr sz="1100"/>
            </a:pPr>
            <a:r>
              <a:t>- DeploySafe analyzes cross-file relationships and documentation context to catch these issues before release.</a:t>
            </a:r>
          </a:p>
          <a:p>
            <a:pPr>
              <a:defRPr sz="1100"/>
            </a:pPr>
            <a:r>
              <a:t>- It sits right after unit tests pass, acting as an automated pre-flight gatekeeper.</a:t>
            </a:r>
          </a:p>
          <a:p>
            <a:br/>
            <a:pPr>
              <a:defRPr b="1" sz="1200"/>
            </a:pPr>
            <a:r>
              <a:t>LIKELY PROFESSOR QUESTION:</a:t>
            </a:r>
          </a:p>
          <a:p>
            <a:pPr>
              <a:defRPr sz="1100"/>
            </a:pPr>
            <a:r>
              <a:t>Why don't staging environments catch these problems?</a:t>
            </a:r>
          </a:p>
          <a:p>
            <a:br/>
            <a:pPr>
              <a:defRPr b="1" sz="1200"/>
            </a:pPr>
            <a:r>
              <a:t>CONCISE ANSWER:</a:t>
            </a:r>
          </a:p>
          <a:p>
            <a:pPr>
              <a:defRPr sz="1100"/>
            </a:pPr>
            <a:r>
              <a:t>Staging catches only scenarios covered by existing integration tests against running infrastructure. It misses unpinned container tags that change overnight and missing documentation requirements before release. DeploySafe catches these statically in under 5 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200"/>
            </a:pPr>
            <a:r>
              <a:t>TALKING POINTS:</a:t>
            </a:r>
          </a:p>
          <a:p>
            <a:pPr>
              <a:defRPr sz="1100"/>
            </a:pPr>
            <a:r>
              <a:t>- This slide maps our project deliverables to the 4 components of the A2 Mid-Term Rubric in the CSE 4011 Course Handout.</a:t>
            </a:r>
          </a:p>
          <a:p>
            <a:pPr>
              <a:defRPr sz="1100"/>
            </a:pPr>
            <a:r>
              <a:t>- Component 1 (10%): RAG-based code and docs retrieval using ChromaDB and AST parsing.</a:t>
            </a:r>
          </a:p>
          <a:p>
            <a:pPr>
              <a:defRPr sz="1100"/>
            </a:pPr>
            <a:r>
              <a:t>- Component 2 (10%): Pre-deployment verification gate with non-zero exit codes to block broken releases.</a:t>
            </a:r>
          </a:p>
          <a:p>
            <a:pPr>
              <a:defRPr sz="1100"/>
            </a:pPr>
            <a:r>
              <a:t>- Component 3 (5%): Test suite quality with 62 unit and integration tests running in CI.</a:t>
            </a:r>
          </a:p>
          <a:p>
            <a:pPr>
              <a:defRPr sz="1100"/>
            </a:pPr>
            <a:r>
              <a:t>- Component 4 (5%): Working prototype with FastAPI, React 19, Docker Compose, and OpenAPI docs.</a:t>
            </a:r>
          </a:p>
          <a:p>
            <a:br/>
            <a:pPr>
              <a:defRPr b="1" sz="1200"/>
            </a:pPr>
            <a:r>
              <a:t>LIKELY PROFESSOR QUESTION:</a:t>
            </a:r>
          </a:p>
          <a:p>
            <a:pPr>
              <a:defRPr sz="1100"/>
            </a:pPr>
            <a:r>
              <a:t>How does DeploySafe satisfy Course Outcomes CO1, CO2, and CO3?</a:t>
            </a:r>
          </a:p>
          <a:p>
            <a:br/>
            <a:pPr>
              <a:defRPr b="1" sz="1200"/>
            </a:pPr>
            <a:r>
              <a:t>CONCISE ANSWER:</a:t>
            </a:r>
          </a:p>
          <a:p>
            <a:pPr>
              <a:defRPr sz="1100"/>
            </a:pPr>
            <a:r>
              <a:t>DeploySafe fulfills CO1 through prompt engineering and model selection; CO2 through semantic code search with ChromaDB and automated test analysis; and CO3 through an end-to-end AI-augmented release gate.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200"/>
            </a:pPr>
            <a:r>
              <a:t>TALKING POINTS:</a:t>
            </a:r>
          </a:p>
          <a:p>
            <a:pPr>
              <a:defRPr sz="1100"/>
            </a:pPr>
            <a:r>
              <a:t>- This slide explains our multi-agent architecture and division of labor.</a:t>
            </a:r>
          </a:p>
          <a:p>
            <a:pPr>
              <a:defRPr sz="1100"/>
            </a:pPr>
            <a:r>
              <a:t>- Instead of sending an entire repository to one giant LLM prompt, we divide work across specialist agents.</a:t>
            </a:r>
          </a:p>
          <a:p>
            <a:pPr>
              <a:defRPr sz="1100"/>
            </a:pPr>
            <a:r>
              <a:t>- The Code Agent checks Python ASTs, Config Agent checks Docker manifests, and Dependency Agent checks version pins.</a:t>
            </a:r>
          </a:p>
          <a:p>
            <a:pPr>
              <a:defRPr sz="1100"/>
            </a:pPr>
            <a:r>
              <a:t>- The Critic agent performs physical disk verification to ensure every reported line actually exists.</a:t>
            </a:r>
          </a:p>
          <a:p>
            <a:br/>
            <a:pPr>
              <a:defRPr b="1" sz="1200"/>
            </a:pPr>
            <a:r>
              <a:t>LIKELY PROFESSOR QUESTION:</a:t>
            </a:r>
          </a:p>
          <a:p>
            <a:pPr>
              <a:defRPr sz="1100"/>
            </a:pPr>
            <a:r>
              <a:t>How are the agents orchestrated?</a:t>
            </a:r>
          </a:p>
          <a:p>
            <a:br/>
            <a:pPr>
              <a:defRPr b="1" sz="1200"/>
            </a:pPr>
            <a:r>
              <a:t>CONCISE ANSWER:</a:t>
            </a:r>
          </a:p>
          <a:p>
            <a:pPr>
              <a:defRPr sz="1100"/>
            </a:pPr>
            <a:r>
              <a:t>The Orchestrator inspects the repository's technology stack (e.g., Python, Docker, Node) and dispatches independent domain agents concurrently using a thread pool before aggregating findings into a Pydantic blackboard.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200"/>
            </a:pPr>
            <a:r>
              <a:t>TALKING POINTS:</a:t>
            </a:r>
          </a:p>
          <a:p>
            <a:pPr>
              <a:defRPr sz="1100"/>
            </a:pPr>
            <a:r>
              <a:t>- This slide demonstrates how our RAG pipeline catches configuration drift, fulfilling the 10% RAG requirement.</a:t>
            </a:r>
          </a:p>
          <a:p>
            <a:pPr>
              <a:defRPr sz="1100"/>
            </a:pPr>
            <a:r>
              <a:t>- Traditional linters check syntax inside docker-compose.yml, but they have no idea what services the code actually expects.</a:t>
            </a:r>
          </a:p>
          <a:p>
            <a:pPr>
              <a:defRPr sz="1100"/>
            </a:pPr>
            <a:r>
              <a:t>- Our RAG agent queries ChromaDB for documentation requirements, discovers Redis is required, and checks docker-compose.yml.</a:t>
            </a:r>
          </a:p>
          <a:p>
            <a:pPr>
              <a:defRPr sz="1100"/>
            </a:pPr>
            <a:r>
              <a:t>- The Critic verifies the file on disk and confirms the service is missing, flagging a High-severity deployment blocker.</a:t>
            </a:r>
          </a:p>
          <a:p>
            <a:br/>
            <a:pPr>
              <a:defRPr b="1" sz="1200"/>
            </a:pPr>
            <a:r>
              <a:t>LIKELY PROFESSOR QUESTION:</a:t>
            </a:r>
          </a:p>
          <a:p>
            <a:pPr>
              <a:defRPr sz="1100"/>
            </a:pPr>
            <a:r>
              <a:t>What happens if a repository has no documentation?</a:t>
            </a:r>
          </a:p>
          <a:p>
            <a:br/>
            <a:pPr>
              <a:defRPr b="1" sz="1200"/>
            </a:pPr>
            <a:r>
              <a:t>CONCISE ANSWER:</a:t>
            </a:r>
          </a:p>
          <a:p>
            <a:pPr>
              <a:defRPr sz="1100"/>
            </a:pPr>
            <a:r>
              <a:t>DeploySafe handles missing documentation gracefully. If no markdown files exist, the RAG agent returns an empty context set, and the other agents continue static code, manifest, and dependency analysis without interruption.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200"/>
            </a:pPr>
            <a:r>
              <a:t>TALKING POINTS:</a:t>
            </a:r>
          </a:p>
          <a:p>
            <a:pPr>
              <a:defRPr sz="1100"/>
            </a:pPr>
            <a:r>
              <a:t>- A core design decision in DeploySafe is strictly separating LLM reasoning from mathematical scoring.</a:t>
            </a:r>
          </a:p>
          <a:p>
            <a:pPr>
              <a:defRPr sz="1100"/>
            </a:pPr>
            <a:r>
              <a:t>- If an LLM directly outputs a risk score like '85', that number is subjective and cannot be audited.</a:t>
            </a:r>
          </a:p>
          <a:p>
            <a:pPr>
              <a:defRPr sz="1100"/>
            </a:pPr>
            <a:r>
              <a:t>- In DeploySafe, the LLM only outputs categorical findings.</a:t>
            </a:r>
          </a:p>
          <a:p>
            <a:pPr>
              <a:defRPr sz="1100"/>
            </a:pPr>
            <a:r>
              <a:t>- The Critic verifies the evidence on disk, and pure Python arithmetic calculates the final 0–100 score.</a:t>
            </a:r>
          </a:p>
          <a:p>
            <a:br/>
            <a:pPr>
              <a:defRPr b="1" sz="1200"/>
            </a:pPr>
            <a:r>
              <a:t>LIKELY PROFESSOR QUESTION:</a:t>
            </a:r>
          </a:p>
          <a:p>
            <a:pPr>
              <a:defRPr sz="1100"/>
            </a:pPr>
            <a:r>
              <a:t>Can the LLM hallucinate a high risk score?</a:t>
            </a:r>
          </a:p>
          <a:p>
            <a:br/>
            <a:pPr>
              <a:defRPr b="1" sz="1200"/>
            </a:pPr>
            <a:r>
              <a:t>CONCISE ANSWER:</a:t>
            </a:r>
          </a:p>
          <a:p>
            <a:pPr>
              <a:defRPr sz="1100"/>
            </a:pPr>
            <a:r>
              <a:t>No. The LLM never outputs numbers or scores. Risk scores are computed deterministically by pure Python math based on verified findings that pass Critic validation.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200"/>
            </a:pPr>
            <a:r>
              <a:t>TALKING POINTS:</a:t>
            </a:r>
          </a:p>
          <a:p>
            <a:pPr>
              <a:defRPr sz="1100"/>
            </a:pPr>
            <a:r>
              <a:t>- This slide showcases the running DeploySafe web console built in React 19, TypeScript, and Tailwind CSS.</a:t>
            </a:r>
          </a:p>
          <a:p>
            <a:pPr>
              <a:defRPr sz="1100"/>
            </a:pPr>
            <a:r>
              <a:t>- The dashboard displays the overall risk score hero, severity cards, and Critic audit health.</a:t>
            </a:r>
          </a:p>
          <a:p>
            <a:pPr>
              <a:defRPr sz="1100"/>
            </a:pPr>
            <a:r>
              <a:t>- Each finding links directly to the source file, line numbers, and actionable remediation instructions.</a:t>
            </a:r>
          </a:p>
          <a:p>
            <a:pPr>
              <a:defRPr sz="1100"/>
            </a:pPr>
            <a:r>
              <a:t>- The execution view displays real-time telemetry and per-agent execution duration.</a:t>
            </a:r>
          </a:p>
          <a:p>
            <a:br/>
            <a:pPr>
              <a:defRPr b="1" sz="1200"/>
            </a:pPr>
            <a:r>
              <a:t>LIKELY PROFESSOR QUESTION:</a:t>
            </a:r>
          </a:p>
          <a:p>
            <a:pPr>
              <a:defRPr sz="1100"/>
            </a:pPr>
            <a:r>
              <a:t>How does the frontend communicate with the backend?</a:t>
            </a:r>
          </a:p>
          <a:p>
            <a:br/>
            <a:pPr>
              <a:defRPr b="1" sz="1200"/>
            </a:pPr>
            <a:r>
              <a:t>CONCISE ANSWER:</a:t>
            </a:r>
          </a:p>
          <a:p>
            <a:pPr>
              <a:defRPr sz="1100"/>
            </a:pPr>
            <a:r>
              <a:t>The React frontend communicates with our FastAPI REST gateway via typed API endpoints, supporting real-time status polling during analysis runs.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200"/>
            </a:pPr>
            <a:r>
              <a:t>TALKING POINTS:</a:t>
            </a:r>
          </a:p>
          <a:p>
            <a:pPr>
              <a:defRPr sz="1100"/>
            </a:pPr>
            <a:r>
              <a:t>- This slide presents an honest view of what is working today versus what is scheduled for the final evaluation.</a:t>
            </a:r>
          </a:p>
          <a:p>
            <a:pPr>
              <a:defRPr sz="1100"/>
            </a:pPr>
            <a:r>
              <a:t>- Our core backend, ChromaDB vector store, multi-agent engine, Critic, and web console are fully operational.</a:t>
            </a:r>
          </a:p>
          <a:p>
            <a:pPr>
              <a:defRPr sz="1100"/>
            </a:pPr>
            <a:r>
              <a:t>- To prove code quality, we have 62 automated unit and integration tests running in CI.</a:t>
            </a:r>
          </a:p>
          <a:p>
            <a:pPr>
              <a:defRPr sz="1100"/>
            </a:pPr>
            <a:r>
              <a:t>- Our test suite covers AST parsing, vector search, agent prompts, Critic line checks, and risk calculation.</a:t>
            </a:r>
          </a:p>
          <a:p>
            <a:br/>
            <a:pPr>
              <a:defRPr b="1" sz="1200"/>
            </a:pPr>
            <a:r>
              <a:t>LIKELY PROFESSOR QUESTION:</a:t>
            </a:r>
          </a:p>
          <a:p>
            <a:pPr>
              <a:defRPr sz="1100"/>
            </a:pPr>
            <a:r>
              <a:t>How do you ensure your automated tests are reliable?</a:t>
            </a:r>
          </a:p>
          <a:p>
            <a:br/>
            <a:pPr>
              <a:defRPr b="1" sz="1200"/>
            </a:pPr>
            <a:r>
              <a:t>CONCISE ANSWER:</a:t>
            </a:r>
          </a:p>
          <a:p>
            <a:pPr>
              <a:defRPr sz="1100"/>
            </a:pPr>
            <a:r>
              <a:t>Our test suite exercises real file tree traversals, real ChromaDB vector insertions and cosine queries, real AST code parsing, and real mathematical risk calculations with zero mocking of internal business logic.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200"/>
            </a:pPr>
            <a:r>
              <a:t>TALKING POINTS:</a:t>
            </a:r>
          </a:p>
          <a:p>
            <a:pPr>
              <a:defRPr sz="1100"/>
            </a:pPr>
            <a:r>
              <a:t>- We containerized DeploySafe to production standards using Docker Compose.</a:t>
            </a:r>
          </a:p>
          <a:p>
            <a:pPr>
              <a:defRPr sz="1100"/>
            </a:pPr>
            <a:r>
              <a:t>- The backend runs securely under a dedicated non-root user with persistent Chroma storage.</a:t>
            </a:r>
          </a:p>
          <a:p>
            <a:pPr>
              <a:defRPr sz="1100"/>
            </a:pPr>
            <a:r>
              <a:t>- The frontend is compiled into static assets served by an ultra-light Nginx Alpine reverse proxy, eliminating CORS issues.</a:t>
            </a:r>
          </a:p>
          <a:p>
            <a:pPr>
              <a:defRPr sz="1100"/>
            </a:pPr>
            <a:r>
              <a:t>- In our live tests across real repositories, the entire pipeline executes in ~5.0 seconds with zero hallucinations.</a:t>
            </a:r>
          </a:p>
          <a:p>
            <a:br/>
            <a:pPr>
              <a:defRPr b="1" sz="1200"/>
            </a:pPr>
            <a:r>
              <a:t>LIKELY PROFESSOR QUESTION:</a:t>
            </a:r>
          </a:p>
          <a:p>
            <a:pPr>
              <a:defRPr sz="1100"/>
            </a:pPr>
            <a:r>
              <a:t>Why use a multi-stage Docker build for the frontend rather than running Node.js in production?</a:t>
            </a:r>
          </a:p>
          <a:p>
            <a:br/>
            <a:pPr>
              <a:defRPr b="1" sz="1200"/>
            </a:pPr>
            <a:r>
              <a:t>CONCISE ANSWER:</a:t>
            </a:r>
          </a:p>
          <a:p>
            <a:pPr>
              <a:defRPr sz="1100"/>
            </a:pPr>
            <a:r>
              <a:t>A multi-stage build compiles our React application into lightweight static files during the build phase and discards all Node.js build tooling, producing an ultra-secure 21MB Alpine Nginx container with zero unnecessary runtime dependencies.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b="1" sz="1200"/>
            </a:pPr>
            <a:r>
              <a:t>TALKING POINTS:</a:t>
            </a:r>
          </a:p>
          <a:p>
            <a:pPr>
              <a:defRPr sz="1100"/>
            </a:pPr>
            <a:r>
              <a:t>- To conclude, DeploySafe provides automated pre-deployment risk analysis to catch configuration drift before production.</a:t>
            </a:r>
          </a:p>
          <a:p>
            <a:pPr>
              <a:defRPr sz="1100"/>
            </a:pPr>
            <a:r>
              <a:t>- Our roadmap focuses on GitHub PR bot automation, diff-only scanning, and auto-fix PR generation.</a:t>
            </a:r>
          </a:p>
          <a:p>
            <a:pPr>
              <a:defRPr sz="1100"/>
            </a:pPr>
            <a:r>
              <a:t>- Under Criterion C10, I led the end-to-end architecture, RAG pipeline, agent prompts, testing, and container deployment.</a:t>
            </a:r>
          </a:p>
          <a:p>
            <a:pPr>
              <a:defRPr sz="1100"/>
            </a:pPr>
            <a:r>
              <a:t>- Thank you Dr. Kiran Khatter and Mr. Naveen Singh, and I warmly welcome your questions.</a:t>
            </a:r>
          </a:p>
          <a:p>
            <a:br/>
            <a:pPr>
              <a:defRPr b="1" sz="1200"/>
            </a:pPr>
            <a:r>
              <a:t>LIKELY PROFESSOR QUESTION:</a:t>
            </a:r>
          </a:p>
          <a:p>
            <a:pPr>
              <a:defRPr sz="1100"/>
            </a:pPr>
            <a:r>
              <a:t>What was the single most challenging architectural hurdle you solved in this midterm?</a:t>
            </a:r>
          </a:p>
          <a:p>
            <a:br/>
            <a:pPr>
              <a:defRPr b="1" sz="1200"/>
            </a:pPr>
            <a:r>
              <a:t>CONCISE ANSWER:</a:t>
            </a:r>
          </a:p>
          <a:p>
            <a:pPr>
              <a:defRPr sz="1100"/>
            </a:pPr>
            <a:r>
              <a:t>Eliminating hallucination in risk scoring. By strictly restricting the LLM to evidence-backed finding proposals and delegating verification to the Critic and scoring to pure Python arithmetic, we created a system that engineers and managers can mathematically trust.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5303520" cy="4754880"/>
          </a:xfrm>
          <a:prstGeom prst="rect">
            <a:avLst/>
          </a:prstGeom>
          <a:noFill/>
        </p:spPr>
        <p:txBody>
          <a:bodyPr wrap="square" lIns="0" tIns="0" rIns="0" bIns="0">
            <a:spAutoFit/>
          </a:bodyPr>
          <a:lstStyle/>
          <a:p>
            <a:pPr algn="l">
              <a:spcAft>
                <a:spcPts val="1000"/>
              </a:spcAft>
            </a:pPr>
            <a:r>
              <a:rPr sz="1100" b="1">
                <a:solidFill>
                  <a:srgbClr val="2563EB"/>
                </a:solidFill>
                <a:latin typeface="Segoe UI"/>
              </a:rPr>
              <a:t>DEPLOYSAFE  |  PROJECT PHASE EVALUATION 2 (A2)</a:t>
            </a:r>
          </a:p>
          <a:p>
            <a:pPr algn="l">
              <a:spcAft>
                <a:spcPts val="1400"/>
              </a:spcAft>
            </a:pPr>
            <a:r>
              <a:rPr sz="2800" b="1">
                <a:solidFill>
                  <a:srgbClr val="0F172A"/>
                </a:solidFill>
                <a:latin typeface="Segoe UI"/>
              </a:rPr>
              <a:t>Automated Pre-Deployment Risk Analysis for DevOps Pipelines</a:t>
            </a:r>
          </a:p>
          <a:p>
            <a:pPr algn="l">
              <a:spcAft>
                <a:spcPts val="2400"/>
              </a:spcAft>
            </a:pPr>
            <a:r>
              <a:rPr sz="1350" b="0">
                <a:solidFill>
                  <a:srgbClr val="475569"/>
                </a:solidFill>
                <a:latin typeface="Segoe UI"/>
              </a:rPr>
              <a:t>An intelligent analysis tool that inspects repositories before release, detecting configuration drift, unpinned dependencies, and missing environment secrets.</a:t>
            </a:r>
          </a:p>
        </p:txBody>
      </p:sp>
      <p:sp>
        <p:nvSpPr>
          <p:cNvPr id="4" name="Rounded Rectangle 3"/>
          <p:cNvSpPr/>
          <p:nvPr/>
        </p:nvSpPr>
        <p:spPr>
          <a:xfrm>
            <a:off x="731520" y="3977639"/>
            <a:ext cx="516636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114800"/>
            <a:ext cx="4800600" cy="1874519"/>
          </a:xfrm>
          <a:prstGeom prst="rect">
            <a:avLst/>
          </a:prstGeom>
          <a:noFill/>
        </p:spPr>
        <p:txBody>
          <a:bodyPr wrap="square" lIns="0" tIns="0" rIns="0" bIns="0">
            <a:spAutoFit/>
          </a:bodyPr>
          <a:lstStyle/>
          <a:p>
            <a:pPr algn="l">
              <a:spcAft>
                <a:spcPts val="400"/>
              </a:spcAft>
            </a:pPr>
            <a:r>
              <a:rPr sz="1100" b="1">
                <a:solidFill>
                  <a:srgbClr val="0F172A"/>
                </a:solidFill>
                <a:latin typeface="Segoe UI"/>
              </a:rPr>
              <a:t>Course: CSE 4011 — Intelligent Developer Tools and AI DevOps Workflows</a:t>
            </a:r>
          </a:p>
          <a:p>
            <a:pPr algn="l">
              <a:spcAft>
                <a:spcPts val="400"/>
              </a:spcAft>
            </a:pPr>
            <a:r>
              <a:rPr sz="1100" b="1">
                <a:solidFill>
                  <a:srgbClr val="2563EB"/>
                </a:solidFill>
                <a:latin typeface="Segoe UI"/>
              </a:rPr>
              <a:t>Faculty Mentors: Dr. Kiran Khatter &amp; Mr. Naveen Singh</a:t>
            </a:r>
          </a:p>
          <a:p>
            <a:pPr algn="l">
              <a:spcAft>
                <a:spcPts val="400"/>
              </a:spcAft>
            </a:pPr>
            <a:r>
              <a:rPr sz="1050" b="0">
                <a:solidFill>
                  <a:srgbClr val="475569"/>
                </a:solidFill>
                <a:latin typeface="Segoe UI"/>
              </a:rPr>
              <a:t>Evaluation: Mid-Term Examination (A2 · 30% Weightage · 5–9 Oct 2026)</a:t>
            </a:r>
          </a:p>
          <a:p>
            <a:pPr algn="l">
              <a:spcAft>
                <a:spcPts val="0"/>
              </a:spcAft>
            </a:pPr>
            <a:r>
              <a:rPr sz="1050" b="0">
                <a:solidFill>
                  <a:srgbClr val="0F172A"/>
                </a:solidFill>
                <a:latin typeface="Segoe UI"/>
              </a:rPr>
              <a:t>Student: Yash Rao  |  Batch 2023–27 (7th Semester)</a:t>
            </a:r>
          </a:p>
        </p:txBody>
      </p:sp>
      <p:sp>
        <p:nvSpPr>
          <p:cNvPr id="6" name="Rounded Rectangle 5"/>
          <p:cNvSpPr/>
          <p:nvPr/>
        </p:nvSpPr>
        <p:spPr>
          <a:xfrm>
            <a:off x="6172200" y="1097280"/>
            <a:ext cx="5285232"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creenshot_dashboard.png"/>
          <p:cNvPicPr>
            <a:picLocks noChangeAspect="1"/>
          </p:cNvPicPr>
          <p:nvPr/>
        </p:nvPicPr>
        <p:blipFill>
          <a:blip r:embed="rId2"/>
          <a:stretch>
            <a:fillRect/>
          </a:stretch>
        </p:blipFill>
        <p:spPr>
          <a:xfrm>
            <a:off x="6309360" y="1234440"/>
            <a:ext cx="5010912" cy="4297680"/>
          </a:xfrm>
          <a:prstGeom prst="rect">
            <a:avLst/>
          </a:prstGeom>
        </p:spPr>
      </p:pic>
      <p:sp>
        <p:nvSpPr>
          <p:cNvPr id="8" name="TextBox 7"/>
          <p:cNvSpPr txBox="1"/>
          <p:nvPr/>
        </p:nvSpPr>
        <p:spPr>
          <a:xfrm>
            <a:off x="6309360" y="5669280"/>
            <a:ext cx="5010912" cy="320040"/>
          </a:xfrm>
          <a:prstGeom prst="rect">
            <a:avLst/>
          </a:prstGeom>
          <a:noFill/>
        </p:spPr>
        <p:txBody>
          <a:bodyPr wrap="none" tIns="0" lIns="0" rIns="0" bIns="0">
            <a:spAutoFit/>
          </a:bodyPr>
          <a:lstStyle/>
          <a:p>
            <a:pPr algn="r"/>
            <a:r>
              <a:rPr sz="1000">
                <a:solidFill>
                  <a:srgbClr val="94A3B8"/>
                </a:solidFill>
                <a:latin typeface="Segoe UI"/>
              </a:rPr>
              <a:t>DeploySafe Web Console  |  Deterministic Risk Overview Hero</a:t>
            </a:r>
          </a:p>
        </p:txBody>
      </p:sp>
      <p:sp>
        <p:nvSpPr>
          <p:cNvPr id="9" name="TextBox 8"/>
          <p:cNvSpPr txBox="1"/>
          <p:nvPr/>
        </p:nvSpPr>
        <p:spPr>
          <a:xfrm>
            <a:off x="731520" y="6355080"/>
            <a:ext cx="10728655" cy="320040"/>
          </a:xfrm>
          <a:prstGeom prst="rect">
            <a:avLst/>
          </a:prstGeom>
          <a:noFill/>
        </p:spPr>
        <p:txBody>
          <a:bodyPr wrap="square" lIns="0" tIns="0" rIns="0" bIns="0">
            <a:spAutoFit/>
          </a:bodyPr>
          <a:lstStyle/>
          <a:p>
            <a:r>
              <a:rPr sz="1000">
                <a:solidFill>
                  <a:srgbClr val="94A3B8"/>
                </a:solidFill>
                <a:latin typeface="Segoe UI"/>
              </a:rPr>
              <a:t>DeploySafe  |  CSE 4011: Intelligent Developer Tools &amp; AI DevOps Workflows</a:t>
            </a:r>
            <a:r>
              <a:t>                                                  </a:t>
            </a:r>
            <a:r>
              <a:rPr sz="1000" b="1">
                <a:solidFill>
                  <a:srgbClr val="475569"/>
                </a:solidFill>
                <a:latin typeface="Segoe UI"/>
              </a:rPr>
              <a:t>01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1005840"/>
          </a:xfrm>
          <a:prstGeom prst="rect">
            <a:avLst/>
          </a:prstGeom>
          <a:noFill/>
        </p:spPr>
        <p:txBody>
          <a:bodyPr wrap="square" lIns="0" tIns="0" rIns="0" bIns="0">
            <a:spAutoFit/>
          </a:bodyPr>
          <a:lstStyle/>
          <a:p>
            <a:pPr>
              <a:spcAft>
                <a:spcPts val="400"/>
              </a:spcAft>
            </a:pPr>
            <a:r>
              <a:rPr sz="2800" b="1">
                <a:solidFill>
                  <a:srgbClr val="0F172A"/>
                </a:solidFill>
                <a:latin typeface="Segoe UI"/>
              </a:rPr>
              <a:t>Why Green Builds Still Fail in Production</a:t>
            </a:r>
          </a:p>
          <a:p>
            <a:pPr>
              <a:spcAft>
                <a:spcPts val="0"/>
              </a:spcAft>
            </a:pPr>
            <a:r>
              <a:rPr sz="1350" b="0">
                <a:solidFill>
                  <a:srgbClr val="475569"/>
                </a:solidFill>
                <a:latin typeface="Segoe UI"/>
              </a:rPr>
              <a:t>Unit tests pass in isolated environments, but fail when deployed to real production infrastructure.</a:t>
            </a:r>
          </a:p>
        </p:txBody>
      </p:sp>
      <p:sp>
        <p:nvSpPr>
          <p:cNvPr id="4" name="Rounded Rectangle 3"/>
          <p:cNvSpPr/>
          <p:nvPr/>
        </p:nvSpPr>
        <p:spPr>
          <a:xfrm>
            <a:off x="731520" y="1645920"/>
            <a:ext cx="5184648" cy="3611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810512"/>
            <a:ext cx="4782312" cy="3282696"/>
          </a:xfrm>
          <a:prstGeom prst="rect">
            <a:avLst/>
          </a:prstGeom>
          <a:noFill/>
        </p:spPr>
        <p:txBody>
          <a:bodyPr wrap="square" lIns="0" tIns="0" rIns="0" bIns="0">
            <a:spAutoFit/>
          </a:bodyPr>
          <a:lstStyle/>
          <a:p>
            <a:pPr algn="l">
              <a:spcAft>
                <a:spcPts val="600"/>
              </a:spcAft>
            </a:pPr>
            <a:r>
              <a:rPr sz="1100" b="1">
                <a:solidFill>
                  <a:srgbClr val="DC2626"/>
                </a:solidFill>
                <a:latin typeface="Segoe UI"/>
              </a:rPr>
              <a:t>COMMON DEPLOYMENT BLIND SPOTS</a:t>
            </a:r>
          </a:p>
          <a:p>
            <a:pPr algn="l">
              <a:spcAft>
                <a:spcPts val="1000"/>
              </a:spcAft>
            </a:pPr>
            <a:r>
              <a:rPr sz="1700" b="1">
                <a:solidFill>
                  <a:srgbClr val="0F172A"/>
                </a:solidFill>
                <a:latin typeface="Segoe UI"/>
              </a:rPr>
              <a:t>What CI/CD Pipelines Miss Before Release</a:t>
            </a:r>
          </a:p>
          <a:p>
            <a:pPr algn="l">
              <a:spcAft>
                <a:spcPts val="1000"/>
              </a:spcAft>
            </a:pPr>
            <a:r>
              <a:rPr sz="1200" b="0">
                <a:solidFill>
                  <a:srgbClr val="475569"/>
                </a:solidFill>
                <a:latin typeface="Segoe UI"/>
              </a:rPr>
              <a:t>Traditional CI runs unit tests in isolation. It does not verify deployment environment parity:</a:t>
            </a:r>
          </a:p>
          <a:p>
            <a:pPr algn="l">
              <a:spcAft>
                <a:spcPts val="100"/>
              </a:spcAft>
            </a:pPr>
            <a:r>
              <a:rPr sz="1100" b="1">
                <a:solidFill>
                  <a:srgbClr val="0F172A"/>
                </a:solidFill>
                <a:latin typeface="Segoe UI"/>
              </a:rPr>
              <a:t>- Missing Services in Compose:</a:t>
            </a:r>
          </a:p>
          <a:p>
            <a:pPr algn="l">
              <a:spcAft>
                <a:spcPts val="500"/>
              </a:spcAft>
            </a:pPr>
            <a:r>
              <a:rPr sz="1000" b="0">
                <a:solidFill>
                  <a:srgbClr val="475569"/>
                </a:solidFill>
                <a:latin typeface="Segoe UI"/>
              </a:rPr>
              <a:t>  Source code connects to redis://redis:6379, but Redis is completely missing from docker-compose.yml. Tests pass; container crashes on boot.</a:t>
            </a:r>
          </a:p>
          <a:p>
            <a:pPr algn="l">
              <a:spcAft>
                <a:spcPts val="100"/>
              </a:spcAft>
            </a:pPr>
            <a:r>
              <a:rPr sz="1100" b="1">
                <a:solidFill>
                  <a:srgbClr val="0F172A"/>
                </a:solidFill>
                <a:latin typeface="Segoe UI"/>
              </a:rPr>
              <a:t>- Unpinned Dependency Drift:</a:t>
            </a:r>
          </a:p>
          <a:p>
            <a:pPr algn="l">
              <a:spcAft>
                <a:spcPts val="500"/>
              </a:spcAft>
            </a:pPr>
            <a:r>
              <a:rPr sz="1000" b="0">
                <a:solidFill>
                  <a:srgbClr val="475569"/>
                </a:solidFill>
                <a:latin typeface="Segoe UI"/>
              </a:rPr>
              <a:t>  requirements.txt or package.json uses unpinned versions. Tests pass on cached CI runners, but newer breaking releases fail in production.</a:t>
            </a:r>
          </a:p>
          <a:p>
            <a:pPr algn="l">
              <a:spcAft>
                <a:spcPts val="100"/>
              </a:spcAft>
            </a:pPr>
            <a:r>
              <a:rPr sz="1100" b="1">
                <a:solidFill>
                  <a:srgbClr val="0F172A"/>
                </a:solidFill>
                <a:latin typeface="Segoe UI"/>
              </a:rPr>
              <a:t>- Undeclared Environment Variables:</a:t>
            </a:r>
          </a:p>
          <a:p>
            <a:pPr algn="l">
              <a:spcAft>
                <a:spcPts val="500"/>
              </a:spcAft>
            </a:pPr>
            <a:r>
              <a:rPr sz="1000" b="0">
                <a:solidFill>
                  <a:srgbClr val="475569"/>
                </a:solidFill>
                <a:latin typeface="Segoe UI"/>
              </a:rPr>
              <a:t>  Code calls os.environ['DATABASE_URL'] without fallback. Variable is omitted from .env.example, causing runtime KeyError crashes.</a:t>
            </a:r>
          </a:p>
        </p:txBody>
      </p:sp>
      <p:sp>
        <p:nvSpPr>
          <p:cNvPr id="6" name="Rounded Rectangle 5"/>
          <p:cNvSpPr/>
          <p:nvPr/>
        </p:nvSpPr>
        <p:spPr>
          <a:xfrm>
            <a:off x="6275527" y="1645920"/>
            <a:ext cx="5184648" cy="361188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76695" y="1810512"/>
            <a:ext cx="4782312" cy="3282696"/>
          </a:xfrm>
          <a:prstGeom prst="rect">
            <a:avLst/>
          </a:prstGeom>
          <a:noFill/>
        </p:spPr>
        <p:txBody>
          <a:bodyPr wrap="square" lIns="0" tIns="0" rIns="0" bIns="0">
            <a:spAutoFit/>
          </a:bodyPr>
          <a:lstStyle/>
          <a:p>
            <a:pPr algn="l">
              <a:spcAft>
                <a:spcPts val="600"/>
              </a:spcAft>
            </a:pPr>
            <a:r>
              <a:rPr sz="1100" b="1">
                <a:solidFill>
                  <a:srgbClr val="2563EB"/>
                </a:solidFill>
                <a:latin typeface="Segoe UI"/>
              </a:rPr>
              <a:t>HOW DEPLOYSAFE ADDRESSES THIS</a:t>
            </a:r>
          </a:p>
          <a:p>
            <a:pPr algn="l">
              <a:spcAft>
                <a:spcPts val="1000"/>
              </a:spcAft>
            </a:pPr>
            <a:r>
              <a:rPr sz="1700" b="1">
                <a:solidFill>
                  <a:srgbClr val="0F172A"/>
                </a:solidFill>
                <a:latin typeface="Segoe UI"/>
              </a:rPr>
              <a:t>Pre-Flight Intelligence Layer Before Deployment</a:t>
            </a:r>
          </a:p>
          <a:p>
            <a:pPr algn="l">
              <a:spcAft>
                <a:spcPts val="1000"/>
              </a:spcAft>
            </a:pPr>
            <a:r>
              <a:rPr sz="1200" b="0">
                <a:solidFill>
                  <a:srgbClr val="475569"/>
                </a:solidFill>
                <a:latin typeface="Segoe UI"/>
              </a:rPr>
              <a:t>DeploySafe analyzes the entire repository context before code reaches the production cluster:</a:t>
            </a:r>
          </a:p>
          <a:p>
            <a:pPr algn="l">
              <a:spcAft>
                <a:spcPts val="100"/>
              </a:spcAft>
            </a:pPr>
            <a:r>
              <a:rPr sz="1100" b="1">
                <a:solidFill>
                  <a:srgbClr val="0F172A"/>
                </a:solidFill>
                <a:latin typeface="Segoe UI"/>
              </a:rPr>
              <a:t>- Cross-File Correlation:</a:t>
            </a:r>
          </a:p>
          <a:p>
            <a:pPr algn="l">
              <a:spcAft>
                <a:spcPts val="500"/>
              </a:spcAft>
            </a:pPr>
            <a:r>
              <a:rPr sz="1000" b="0">
                <a:solidFill>
                  <a:srgbClr val="475569"/>
                </a:solidFill>
                <a:latin typeface="Segoe UI"/>
              </a:rPr>
              <a:t>  Inspects whether external services used in source code are declared in Dockerfiles and docker-compose.yml.</a:t>
            </a:r>
          </a:p>
          <a:p>
            <a:pPr algn="l">
              <a:spcAft>
                <a:spcPts val="100"/>
              </a:spcAft>
            </a:pPr>
            <a:r>
              <a:rPr sz="1100" b="1">
                <a:solidFill>
                  <a:srgbClr val="0F172A"/>
                </a:solidFill>
                <a:latin typeface="Segoe UI"/>
              </a:rPr>
              <a:t>- Documentation Comparison:</a:t>
            </a:r>
          </a:p>
          <a:p>
            <a:pPr algn="l">
              <a:spcAft>
                <a:spcPts val="500"/>
              </a:spcAft>
            </a:pPr>
            <a:r>
              <a:rPr sz="1000" b="0">
                <a:solidFill>
                  <a:srgbClr val="475569"/>
                </a:solidFill>
                <a:latin typeface="Segoe UI"/>
              </a:rPr>
              <a:t>  Uses ChromaDB to query README.md instructions and check if required ports and secrets are configured.</a:t>
            </a:r>
          </a:p>
          <a:p>
            <a:pPr algn="l">
              <a:spcAft>
                <a:spcPts val="100"/>
              </a:spcAft>
            </a:pPr>
            <a:r>
              <a:rPr sz="1100" b="1">
                <a:solidFill>
                  <a:srgbClr val="0F172A"/>
                </a:solidFill>
                <a:latin typeface="Segoe UI"/>
              </a:rPr>
              <a:t>- Static AST Parsing:</a:t>
            </a:r>
          </a:p>
          <a:p>
            <a:pPr algn="l">
              <a:spcAft>
                <a:spcPts val="500"/>
              </a:spcAft>
            </a:pPr>
            <a:r>
              <a:rPr sz="1000" b="0">
                <a:solidFill>
                  <a:srgbClr val="475569"/>
                </a:solidFill>
                <a:latin typeface="Segoe UI"/>
              </a:rPr>
              <a:t>  Uses Python's ast module to inspect unhandled exceptions, database retry logic, and network call safety.</a:t>
            </a:r>
          </a:p>
        </p:txBody>
      </p:sp>
      <p:sp>
        <p:nvSpPr>
          <p:cNvPr id="8" name="Rounded Rectangle 7"/>
          <p:cNvSpPr/>
          <p:nvPr/>
        </p:nvSpPr>
        <p:spPr>
          <a:xfrm>
            <a:off x="731520" y="5440680"/>
            <a:ext cx="10728655" cy="777240"/>
          </a:xfrm>
          <a:prstGeom prst="roundRect">
            <a:avLst/>
          </a:prstGeom>
          <a:solidFill>
            <a:srgbClr val="EFF6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559552"/>
            <a:ext cx="10362895" cy="548640"/>
          </a:xfrm>
          <a:prstGeom prst="rect">
            <a:avLst/>
          </a:prstGeom>
          <a:noFill/>
        </p:spPr>
        <p:txBody>
          <a:bodyPr wrap="square" lIns="0" tIns="0" rIns="0" bIns="0">
            <a:spAutoFit/>
          </a:bodyPr>
          <a:lstStyle/>
          <a:p>
            <a:pPr algn="l">
              <a:spcAft>
                <a:spcPts val="200"/>
              </a:spcAft>
            </a:pPr>
            <a:r>
              <a:rPr sz="1000" b="1">
                <a:solidFill>
                  <a:srgbClr val="2563EB"/>
                </a:solidFill>
                <a:latin typeface="Segoe UI"/>
              </a:rPr>
              <a:t>RELEASE WORKFLOW PLACEMENT</a:t>
            </a:r>
          </a:p>
          <a:p>
            <a:pPr algn="l">
              <a:spcAft>
                <a:spcPts val="0"/>
              </a:spcAft>
            </a:pPr>
            <a:r>
              <a:rPr sz="1250" b="1">
                <a:solidFill>
                  <a:srgbClr val="0F172A"/>
                </a:solidFill>
                <a:latin typeface="Segoe UI"/>
              </a:rPr>
              <a:t>Code Commit  -&gt;  Run Unit Tests (CI)  -&gt;  Run DeploySafe (Pre-Flight Analysis)  -&gt;  Deterministic Go/No-Go Release Gate</a:t>
            </a:r>
          </a:p>
        </p:txBody>
      </p:sp>
      <p:sp>
        <p:nvSpPr>
          <p:cNvPr id="10" name="TextBox 9"/>
          <p:cNvSpPr txBox="1"/>
          <p:nvPr/>
        </p:nvSpPr>
        <p:spPr>
          <a:xfrm>
            <a:off x="731520" y="6355080"/>
            <a:ext cx="10728655" cy="320040"/>
          </a:xfrm>
          <a:prstGeom prst="rect">
            <a:avLst/>
          </a:prstGeom>
          <a:noFill/>
        </p:spPr>
        <p:txBody>
          <a:bodyPr wrap="square" lIns="0" tIns="0" rIns="0" bIns="0">
            <a:spAutoFit/>
          </a:bodyPr>
          <a:lstStyle/>
          <a:p>
            <a:r>
              <a:rPr sz="1000">
                <a:solidFill>
                  <a:srgbClr val="94A3B8"/>
                </a:solidFill>
                <a:latin typeface="Segoe UI"/>
              </a:rPr>
              <a:t>DeploySafe  |  CSE 4011: Intelligent Developer Tools &amp; AI DevOps Workflows</a:t>
            </a:r>
            <a:r>
              <a:t>                                                  </a:t>
            </a:r>
            <a:r>
              <a:rPr sz="1000" b="1">
                <a:solidFill>
                  <a:srgbClr val="475569"/>
                </a:solidFill>
                <a:latin typeface="Segoe UI"/>
              </a:rPr>
              <a:t>02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1005840"/>
          </a:xfrm>
          <a:prstGeom prst="rect">
            <a:avLst/>
          </a:prstGeom>
          <a:noFill/>
        </p:spPr>
        <p:txBody>
          <a:bodyPr wrap="square" lIns="0" tIns="0" rIns="0" bIns="0">
            <a:spAutoFit/>
          </a:bodyPr>
          <a:lstStyle/>
          <a:p>
            <a:pPr>
              <a:spcAft>
                <a:spcPts val="400"/>
              </a:spcAft>
            </a:pPr>
            <a:r>
              <a:rPr sz="2800" b="1">
                <a:solidFill>
                  <a:srgbClr val="0F172A"/>
                </a:solidFill>
                <a:latin typeface="Segoe UI"/>
              </a:rPr>
              <a:t>Course Alignment &amp; Evaluation Rubrics (A2 · 30%)</a:t>
            </a:r>
          </a:p>
          <a:p>
            <a:pPr>
              <a:spcAft>
                <a:spcPts val="0"/>
              </a:spcAft>
            </a:pPr>
            <a:r>
              <a:rPr sz="1350" b="0">
                <a:solidFill>
                  <a:srgbClr val="475569"/>
                </a:solidFill>
                <a:latin typeface="Segoe UI"/>
              </a:rPr>
              <a:t>Direct mapping of project deliverables to CSE 4011 Mid-Term evaluation components.</a:t>
            </a:r>
          </a:p>
        </p:txBody>
      </p:sp>
      <p:sp>
        <p:nvSpPr>
          <p:cNvPr id="4" name="Rounded Rectangle 3"/>
          <p:cNvSpPr/>
          <p:nvPr/>
        </p:nvSpPr>
        <p:spPr>
          <a:xfrm>
            <a:off x="731520" y="1645920"/>
            <a:ext cx="5184648" cy="187451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773936"/>
            <a:ext cx="4782312" cy="1618487"/>
          </a:xfrm>
          <a:prstGeom prst="rect">
            <a:avLst/>
          </a:prstGeom>
          <a:noFill/>
        </p:spPr>
        <p:txBody>
          <a:bodyPr wrap="square" lIns="0" tIns="0" rIns="0" bIns="0">
            <a:spAutoFit/>
          </a:bodyPr>
          <a:lstStyle/>
          <a:p>
            <a:pPr algn="l">
              <a:spcAft>
                <a:spcPts val="200"/>
              </a:spcAft>
            </a:pPr>
            <a:r>
              <a:rPr sz="1300" b="1">
                <a:solidFill>
                  <a:srgbClr val="0F172A"/>
                </a:solidFill>
                <a:latin typeface="Segoe UI"/>
              </a:rPr>
              <a:t>01  ·  RAG &amp; Code Retrieval (10%)</a:t>
            </a:r>
          </a:p>
          <a:p>
            <a:pPr algn="l">
              <a:spcAft>
                <a:spcPts val="600"/>
              </a:spcAft>
            </a:pPr>
            <a:r>
              <a:rPr sz="950" b="1">
                <a:solidFill>
                  <a:srgbClr val="2563EB"/>
                </a:solidFill>
                <a:latin typeface="Segoe UI"/>
              </a:rPr>
              <a:t>CO2, CO3  |  ChromaDB &amp; AST</a:t>
            </a:r>
          </a:p>
          <a:p>
            <a:pPr algn="l">
              <a:spcAft>
                <a:spcPts val="200"/>
              </a:spcAft>
            </a:pPr>
            <a:r>
              <a:rPr sz="950" b="0">
                <a:solidFill>
                  <a:srgbClr val="475569"/>
                </a:solidFill>
                <a:latin typeface="Segoe UI"/>
              </a:rPr>
              <a:t>- ChromaDB persistent vector store with cosine similarity search</a:t>
            </a:r>
          </a:p>
          <a:p>
            <a:pPr algn="l">
              <a:spcAft>
                <a:spcPts val="200"/>
              </a:spcAft>
            </a:pPr>
            <a:r>
              <a:rPr sz="950" b="0">
                <a:solidFill>
                  <a:srgbClr val="475569"/>
                </a:solidFill>
                <a:latin typeface="Segoe UI"/>
              </a:rPr>
              <a:t>- Markdown chunking that preserves section headers and line numbers</a:t>
            </a:r>
          </a:p>
          <a:p>
            <a:pPr algn="l">
              <a:spcAft>
                <a:spcPts val="200"/>
              </a:spcAft>
            </a:pPr>
            <a:r>
              <a:rPr sz="950" b="0">
                <a:solidFill>
                  <a:srgbClr val="475569"/>
                </a:solidFill>
                <a:latin typeface="Segoe UI"/>
              </a:rPr>
              <a:t>- Retrieves deployment prerequisites from README and documentation</a:t>
            </a:r>
          </a:p>
          <a:p>
            <a:pPr algn="l">
              <a:spcAft>
                <a:spcPts val="200"/>
              </a:spcAft>
            </a:pPr>
            <a:r>
              <a:rPr sz="950" b="0">
                <a:solidFill>
                  <a:srgbClr val="475569"/>
                </a:solidFill>
                <a:latin typeface="Segoe UI"/>
              </a:rPr>
              <a:t>- Cross-references documented services against compose manifests</a:t>
            </a:r>
          </a:p>
        </p:txBody>
      </p:sp>
      <p:sp>
        <p:nvSpPr>
          <p:cNvPr id="6" name="Rounded Rectangle 5"/>
          <p:cNvSpPr/>
          <p:nvPr/>
        </p:nvSpPr>
        <p:spPr>
          <a:xfrm>
            <a:off x="6275527" y="1645920"/>
            <a:ext cx="5184648" cy="187451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76695" y="1773936"/>
            <a:ext cx="4782312" cy="1618487"/>
          </a:xfrm>
          <a:prstGeom prst="rect">
            <a:avLst/>
          </a:prstGeom>
          <a:noFill/>
        </p:spPr>
        <p:txBody>
          <a:bodyPr wrap="square" lIns="0" tIns="0" rIns="0" bIns="0">
            <a:spAutoFit/>
          </a:bodyPr>
          <a:lstStyle/>
          <a:p>
            <a:pPr algn="l">
              <a:spcAft>
                <a:spcPts val="200"/>
              </a:spcAft>
            </a:pPr>
            <a:r>
              <a:rPr sz="1300" b="1">
                <a:solidFill>
                  <a:srgbClr val="0F172A"/>
                </a:solidFill>
                <a:latin typeface="Segoe UI"/>
              </a:rPr>
              <a:t>02  ·  CI/CD &amp; Release Automation (10%)</a:t>
            </a:r>
          </a:p>
          <a:p>
            <a:pPr algn="l">
              <a:spcAft>
                <a:spcPts val="600"/>
              </a:spcAft>
            </a:pPr>
            <a:r>
              <a:rPr sz="950" b="1">
                <a:solidFill>
                  <a:srgbClr val="2563EB"/>
                </a:solidFill>
                <a:latin typeface="Segoe UI"/>
              </a:rPr>
              <a:t>CO2, CO3  |  Pre-Flight Gates</a:t>
            </a:r>
          </a:p>
          <a:p>
            <a:pPr algn="l">
              <a:spcAft>
                <a:spcPts val="200"/>
              </a:spcAft>
            </a:pPr>
            <a:r>
              <a:rPr sz="950" b="0">
                <a:solidFill>
                  <a:srgbClr val="475569"/>
                </a:solidFill>
                <a:latin typeface="Segoe UI"/>
              </a:rPr>
              <a:t>- Automated pre-deployment verification gate with non-zero exit codes</a:t>
            </a:r>
          </a:p>
          <a:p>
            <a:pPr algn="l">
              <a:spcAft>
                <a:spcPts val="200"/>
              </a:spcAft>
            </a:pPr>
            <a:r>
              <a:rPr sz="950" b="0">
                <a:solidFill>
                  <a:srgbClr val="475569"/>
                </a:solidFill>
                <a:latin typeface="Segoe UI"/>
              </a:rPr>
              <a:t>- Blocks deployment release when Critical severity findings are detected</a:t>
            </a:r>
          </a:p>
          <a:p>
            <a:pPr algn="l">
              <a:spcAft>
                <a:spcPts val="200"/>
              </a:spcAft>
            </a:pPr>
            <a:r>
              <a:rPr sz="950" b="0">
                <a:solidFill>
                  <a:srgbClr val="475569"/>
                </a:solidFill>
                <a:latin typeface="Segoe UI"/>
              </a:rPr>
              <a:t>- Generates structured audit reports in JSON, Markdown, and HTML</a:t>
            </a:r>
          </a:p>
          <a:p>
            <a:pPr algn="l">
              <a:spcAft>
                <a:spcPts val="200"/>
              </a:spcAft>
            </a:pPr>
            <a:r>
              <a:rPr sz="950" b="0">
                <a:solidFill>
                  <a:srgbClr val="475569"/>
                </a:solidFill>
                <a:latin typeface="Segoe UI"/>
              </a:rPr>
              <a:t>- Outputs copyable CLI commands for immediate developer remediation</a:t>
            </a:r>
          </a:p>
        </p:txBody>
      </p:sp>
      <p:sp>
        <p:nvSpPr>
          <p:cNvPr id="8" name="Rounded Rectangle 7"/>
          <p:cNvSpPr/>
          <p:nvPr/>
        </p:nvSpPr>
        <p:spPr>
          <a:xfrm>
            <a:off x="731520" y="3657600"/>
            <a:ext cx="5184648" cy="187451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3785615"/>
            <a:ext cx="4782312" cy="1618487"/>
          </a:xfrm>
          <a:prstGeom prst="rect">
            <a:avLst/>
          </a:prstGeom>
          <a:noFill/>
        </p:spPr>
        <p:txBody>
          <a:bodyPr wrap="square" lIns="0" tIns="0" rIns="0" bIns="0">
            <a:spAutoFit/>
          </a:bodyPr>
          <a:lstStyle/>
          <a:p>
            <a:pPr algn="l">
              <a:spcAft>
                <a:spcPts val="200"/>
              </a:spcAft>
            </a:pPr>
            <a:r>
              <a:rPr sz="1300" b="1">
                <a:solidFill>
                  <a:srgbClr val="0F172A"/>
                </a:solidFill>
                <a:latin typeface="Segoe UI"/>
              </a:rPr>
              <a:t>03  ·  Test Suite &amp; AST Inspection (5%)</a:t>
            </a:r>
          </a:p>
          <a:p>
            <a:pPr algn="l">
              <a:spcAft>
                <a:spcPts val="600"/>
              </a:spcAft>
            </a:pPr>
            <a:r>
              <a:rPr sz="950" b="1">
                <a:solidFill>
                  <a:srgbClr val="2563EB"/>
                </a:solidFill>
                <a:latin typeface="Segoe UI"/>
              </a:rPr>
              <a:t>CO2  |  Python AST &amp; Pytest</a:t>
            </a:r>
          </a:p>
          <a:p>
            <a:pPr algn="l">
              <a:spcAft>
                <a:spcPts val="200"/>
              </a:spcAft>
            </a:pPr>
            <a:r>
              <a:rPr sz="950" b="0">
                <a:solidFill>
                  <a:srgbClr val="475569"/>
                </a:solidFill>
                <a:latin typeface="Segoe UI"/>
              </a:rPr>
              <a:t>- 62 automated unit and integration tests covering all pipeline stages</a:t>
            </a:r>
          </a:p>
          <a:p>
            <a:pPr algn="l">
              <a:spcAft>
                <a:spcPts val="200"/>
              </a:spcAft>
            </a:pPr>
            <a:r>
              <a:rPr sz="950" b="0">
                <a:solidFill>
                  <a:srgbClr val="475569"/>
                </a:solidFill>
                <a:latin typeface="Segoe UI"/>
              </a:rPr>
              <a:t>- Static AST parsing for Python files and package manifests for Node.js</a:t>
            </a:r>
          </a:p>
          <a:p>
            <a:pPr algn="l">
              <a:spcAft>
                <a:spcPts val="200"/>
              </a:spcAft>
            </a:pPr>
            <a:r>
              <a:rPr sz="950" b="0">
                <a:solidFill>
                  <a:srgbClr val="475569"/>
                </a:solidFill>
                <a:latin typeface="Segoe UI"/>
              </a:rPr>
              <a:t>- Audit checks for missing error handling and unhandled exceptions</a:t>
            </a:r>
          </a:p>
          <a:p>
            <a:pPr algn="l">
              <a:spcAft>
                <a:spcPts val="200"/>
              </a:spcAft>
            </a:pPr>
            <a:r>
              <a:rPr sz="950" b="0">
                <a:solidFill>
                  <a:srgbClr val="475569"/>
                </a:solidFill>
                <a:latin typeface="Segoe UI"/>
              </a:rPr>
              <a:t>- Deterministic mock tests allowing zero-cost CI execution</a:t>
            </a:r>
          </a:p>
        </p:txBody>
      </p:sp>
      <p:sp>
        <p:nvSpPr>
          <p:cNvPr id="10" name="Rounded Rectangle 9"/>
          <p:cNvSpPr/>
          <p:nvPr/>
        </p:nvSpPr>
        <p:spPr>
          <a:xfrm>
            <a:off x="6275527" y="3657600"/>
            <a:ext cx="5184648" cy="187451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6695" y="3785615"/>
            <a:ext cx="4782312" cy="1618487"/>
          </a:xfrm>
          <a:prstGeom prst="rect">
            <a:avLst/>
          </a:prstGeom>
          <a:noFill/>
        </p:spPr>
        <p:txBody>
          <a:bodyPr wrap="square" lIns="0" tIns="0" rIns="0" bIns="0">
            <a:spAutoFit/>
          </a:bodyPr>
          <a:lstStyle/>
          <a:p>
            <a:pPr algn="l">
              <a:spcAft>
                <a:spcPts val="200"/>
              </a:spcAft>
            </a:pPr>
            <a:r>
              <a:rPr sz="1300" b="1">
                <a:solidFill>
                  <a:srgbClr val="0F172A"/>
                </a:solidFill>
                <a:latin typeface="Segoe UI"/>
              </a:rPr>
              <a:t>04  ·  Working Prototype &amp; Docs (5%)</a:t>
            </a:r>
          </a:p>
          <a:p>
            <a:pPr algn="l">
              <a:spcAft>
                <a:spcPts val="600"/>
              </a:spcAft>
            </a:pPr>
            <a:r>
              <a:rPr sz="950" b="1">
                <a:solidFill>
                  <a:srgbClr val="2563EB"/>
                </a:solidFill>
                <a:latin typeface="Segoe UI"/>
              </a:rPr>
              <a:t>CO3  |  FastAPI &amp; React 19</a:t>
            </a:r>
          </a:p>
          <a:p>
            <a:pPr algn="l">
              <a:spcAft>
                <a:spcPts val="200"/>
              </a:spcAft>
            </a:pPr>
            <a:r>
              <a:rPr sz="950" b="0">
                <a:solidFill>
                  <a:srgbClr val="475569"/>
                </a:solidFill>
                <a:latin typeface="Segoe UI"/>
              </a:rPr>
              <a:t>- Functional backend using FastAPI with typed Pydantic models</a:t>
            </a:r>
          </a:p>
          <a:p>
            <a:pPr algn="l">
              <a:spcAft>
                <a:spcPts val="200"/>
              </a:spcAft>
            </a:pPr>
            <a:r>
              <a:rPr sz="950" b="0">
                <a:solidFill>
                  <a:srgbClr val="475569"/>
                </a:solidFill>
                <a:latin typeface="Segoe UI"/>
              </a:rPr>
              <a:t>- Interactive web console built with React 19, TypeScript, and Tailwind</a:t>
            </a:r>
          </a:p>
          <a:p>
            <a:pPr algn="l">
              <a:spcAft>
                <a:spcPts val="200"/>
              </a:spcAft>
            </a:pPr>
            <a:r>
              <a:rPr sz="950" b="0">
                <a:solidFill>
                  <a:srgbClr val="475569"/>
                </a:solidFill>
                <a:latin typeface="Segoe UI"/>
              </a:rPr>
              <a:t>- Multi-container deployment using Docker Compose and Nginx proxy</a:t>
            </a:r>
          </a:p>
          <a:p>
            <a:pPr algn="l">
              <a:spcAft>
                <a:spcPts val="200"/>
              </a:spcAft>
            </a:pPr>
            <a:r>
              <a:rPr sz="950" b="0">
                <a:solidFill>
                  <a:srgbClr val="475569"/>
                </a:solidFill>
                <a:latin typeface="Segoe UI"/>
              </a:rPr>
              <a:t>- Complete OpenAPI / Swagger documentation at /docs</a:t>
            </a:r>
          </a:p>
        </p:txBody>
      </p:sp>
      <p:sp>
        <p:nvSpPr>
          <p:cNvPr id="12" name="Rounded Rectangle 11"/>
          <p:cNvSpPr/>
          <p:nvPr/>
        </p:nvSpPr>
        <p:spPr>
          <a:xfrm>
            <a:off x="731520" y="5623560"/>
            <a:ext cx="10728655" cy="640080"/>
          </a:xfrm>
          <a:prstGeom prst="roundRect">
            <a:avLst/>
          </a:prstGeom>
          <a:solidFill>
            <a:srgbClr val="EFF6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687568"/>
            <a:ext cx="10362895" cy="502920"/>
          </a:xfrm>
          <a:prstGeom prst="rect">
            <a:avLst/>
          </a:prstGeom>
          <a:noFill/>
        </p:spPr>
        <p:txBody>
          <a:bodyPr wrap="square" lIns="0" tIns="0" rIns="0" bIns="0">
            <a:spAutoFit/>
          </a:bodyPr>
          <a:lstStyle/>
          <a:p>
            <a:pPr algn="l">
              <a:spcAft>
                <a:spcPts val="100"/>
              </a:spcAft>
            </a:pPr>
            <a:r>
              <a:rPr sz="1050" b="1">
                <a:solidFill>
                  <a:srgbClr val="2563EB"/>
                </a:solidFill>
                <a:latin typeface="Segoe UI"/>
              </a:rPr>
              <a:t>Evaluation Criteria Mapping:</a:t>
            </a:r>
          </a:p>
          <a:p>
            <a:pPr algn="l">
              <a:spcAft>
                <a:spcPts val="0"/>
              </a:spcAft>
            </a:pPr>
            <a:r>
              <a:rPr sz="1100" b="1">
                <a:solidFill>
                  <a:srgbClr val="0F172A"/>
                </a:solidFill>
                <a:latin typeface="Segoe UI"/>
              </a:rPr>
              <a:t>C6 (Progress vs Plan)  |  C7 (Technical Understanding)  |  C8 (Problem Solving)  |  C9 (Documentation)  |  C10 (Individual Contribution)</a:t>
            </a:r>
          </a:p>
        </p:txBody>
      </p:sp>
      <p:sp>
        <p:nvSpPr>
          <p:cNvPr id="14" name="TextBox 13"/>
          <p:cNvSpPr txBox="1"/>
          <p:nvPr/>
        </p:nvSpPr>
        <p:spPr>
          <a:xfrm>
            <a:off x="731520" y="6355080"/>
            <a:ext cx="10728655" cy="320040"/>
          </a:xfrm>
          <a:prstGeom prst="rect">
            <a:avLst/>
          </a:prstGeom>
          <a:noFill/>
        </p:spPr>
        <p:txBody>
          <a:bodyPr wrap="square" lIns="0" tIns="0" rIns="0" bIns="0">
            <a:spAutoFit/>
          </a:bodyPr>
          <a:lstStyle/>
          <a:p>
            <a:r>
              <a:rPr sz="1000">
                <a:solidFill>
                  <a:srgbClr val="94A3B8"/>
                </a:solidFill>
                <a:latin typeface="Segoe UI"/>
              </a:rPr>
              <a:t>DeploySafe  |  CSE 4011: Intelligent Developer Tools &amp; AI DevOps Workflows</a:t>
            </a:r>
            <a:r>
              <a:t>                                                  </a:t>
            </a:r>
            <a:r>
              <a:rPr sz="1000" b="1">
                <a:solidFill>
                  <a:srgbClr val="475569"/>
                </a:solidFill>
                <a:latin typeface="Segoe UI"/>
              </a:rPr>
              <a:t>03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1005840"/>
          </a:xfrm>
          <a:prstGeom prst="rect">
            <a:avLst/>
          </a:prstGeom>
          <a:noFill/>
        </p:spPr>
        <p:txBody>
          <a:bodyPr wrap="square" lIns="0" tIns="0" rIns="0" bIns="0">
            <a:spAutoFit/>
          </a:bodyPr>
          <a:lstStyle/>
          <a:p>
            <a:pPr>
              <a:spcAft>
                <a:spcPts val="400"/>
              </a:spcAft>
            </a:pPr>
            <a:r>
              <a:rPr sz="2800" b="1">
                <a:solidFill>
                  <a:srgbClr val="0F172A"/>
                </a:solidFill>
                <a:latin typeface="Segoe UI"/>
              </a:rPr>
              <a:t>System Architecture &amp; Agent Responsibilities</a:t>
            </a:r>
          </a:p>
          <a:p>
            <a:pPr>
              <a:spcAft>
                <a:spcPts val="0"/>
              </a:spcAft>
            </a:pPr>
            <a:r>
              <a:rPr sz="1350" b="0">
                <a:solidFill>
                  <a:srgbClr val="475569"/>
                </a:solidFill>
                <a:latin typeface="Segoe UI"/>
              </a:rPr>
              <a:t>A multi-agent pipeline that divides repository inspection across dedicated domains.</a:t>
            </a:r>
          </a:p>
        </p:txBody>
      </p:sp>
      <p:sp>
        <p:nvSpPr>
          <p:cNvPr id="4" name="Rounded Rectangle 3"/>
          <p:cNvSpPr/>
          <p:nvPr/>
        </p:nvSpPr>
        <p:spPr>
          <a:xfrm>
            <a:off x="731520" y="1645920"/>
            <a:ext cx="196596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755648"/>
            <a:ext cx="1746504" cy="1106424"/>
          </a:xfrm>
          <a:prstGeom prst="rect">
            <a:avLst/>
          </a:prstGeom>
          <a:noFill/>
        </p:spPr>
        <p:txBody>
          <a:bodyPr wrap="square" lIns="0" tIns="0" rIns="0" bIns="0">
            <a:spAutoFit/>
          </a:bodyPr>
          <a:lstStyle/>
          <a:p>
            <a:pPr algn="l">
              <a:spcAft>
                <a:spcPts val="300"/>
              </a:spcAft>
            </a:pPr>
            <a:r>
              <a:rPr sz="1150" b="1">
                <a:solidFill>
                  <a:srgbClr val="0F172A"/>
                </a:solidFill>
                <a:latin typeface="Segoe UI"/>
              </a:rPr>
              <a:t>01  ·  Ingestion &amp; AST</a:t>
            </a:r>
          </a:p>
          <a:p>
            <a:pPr algn="l">
              <a:spcAft>
                <a:spcPts val="0"/>
              </a:spcAft>
            </a:pPr>
            <a:r>
              <a:rPr sz="950" b="0">
                <a:solidFill>
                  <a:srgbClr val="475569"/>
                </a:solidFill>
                <a:latin typeface="Segoe UI"/>
              </a:rPr>
              <a:t>Parse file trees, ASTs, and dependencies</a:t>
            </a:r>
          </a:p>
        </p:txBody>
      </p:sp>
      <p:sp>
        <p:nvSpPr>
          <p:cNvPr id="6" name="TextBox 5"/>
          <p:cNvSpPr txBox="1"/>
          <p:nvPr/>
        </p:nvSpPr>
        <p:spPr>
          <a:xfrm>
            <a:off x="2697480" y="2103120"/>
            <a:ext cx="224028" cy="365760"/>
          </a:xfrm>
          <a:prstGeom prst="rect">
            <a:avLst/>
          </a:prstGeom>
          <a:noFill/>
        </p:spPr>
        <p:txBody>
          <a:bodyPr wrap="none" lIns="0" tIns="0" rIns="0" bIns="0">
            <a:spAutoFit/>
          </a:bodyPr>
          <a:lstStyle/>
          <a:p>
            <a:pPr algn="ctr"/>
            <a:r>
              <a:rPr sz="1200">
                <a:solidFill>
                  <a:srgbClr val="94A3B8"/>
                </a:solidFill>
              </a:rPr>
              <a:t>-&gt;</a:t>
            </a:r>
          </a:p>
        </p:txBody>
      </p:sp>
      <p:sp>
        <p:nvSpPr>
          <p:cNvPr id="7" name="Rounded Rectangle 6"/>
          <p:cNvSpPr/>
          <p:nvPr/>
        </p:nvSpPr>
        <p:spPr>
          <a:xfrm>
            <a:off x="2921508" y="1645920"/>
            <a:ext cx="196596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31236" y="1755648"/>
            <a:ext cx="1746504" cy="1106424"/>
          </a:xfrm>
          <a:prstGeom prst="rect">
            <a:avLst/>
          </a:prstGeom>
          <a:noFill/>
        </p:spPr>
        <p:txBody>
          <a:bodyPr wrap="square" lIns="0" tIns="0" rIns="0" bIns="0">
            <a:spAutoFit/>
          </a:bodyPr>
          <a:lstStyle/>
          <a:p>
            <a:pPr algn="l">
              <a:spcAft>
                <a:spcPts val="300"/>
              </a:spcAft>
            </a:pPr>
            <a:r>
              <a:rPr sz="1150" b="1">
                <a:solidFill>
                  <a:srgbClr val="0F172A"/>
                </a:solidFill>
                <a:latin typeface="Segoe UI"/>
              </a:rPr>
              <a:t>02  ·  ChromaDB RAG</a:t>
            </a:r>
          </a:p>
          <a:p>
            <a:pPr algn="l">
              <a:spcAft>
                <a:spcPts val="0"/>
              </a:spcAft>
            </a:pPr>
            <a:r>
              <a:rPr sz="950" b="0">
                <a:solidFill>
                  <a:srgbClr val="475569"/>
                </a:solidFill>
                <a:latin typeface="Segoe UI"/>
              </a:rPr>
              <a:t>Embed &amp; index doc intent into vector DB</a:t>
            </a:r>
          </a:p>
        </p:txBody>
      </p:sp>
      <p:sp>
        <p:nvSpPr>
          <p:cNvPr id="9" name="TextBox 8"/>
          <p:cNvSpPr txBox="1"/>
          <p:nvPr/>
        </p:nvSpPr>
        <p:spPr>
          <a:xfrm>
            <a:off x="4887468" y="2103120"/>
            <a:ext cx="224028" cy="365760"/>
          </a:xfrm>
          <a:prstGeom prst="rect">
            <a:avLst/>
          </a:prstGeom>
          <a:noFill/>
        </p:spPr>
        <p:txBody>
          <a:bodyPr wrap="none" lIns="0" tIns="0" rIns="0" bIns="0">
            <a:spAutoFit/>
          </a:bodyPr>
          <a:lstStyle/>
          <a:p>
            <a:pPr algn="ctr"/>
            <a:r>
              <a:rPr sz="1200">
                <a:solidFill>
                  <a:srgbClr val="94A3B8"/>
                </a:solidFill>
              </a:rPr>
              <a:t>-&gt;</a:t>
            </a:r>
          </a:p>
        </p:txBody>
      </p:sp>
      <p:sp>
        <p:nvSpPr>
          <p:cNvPr id="10" name="Rounded Rectangle 9"/>
          <p:cNvSpPr/>
          <p:nvPr/>
        </p:nvSpPr>
        <p:spPr>
          <a:xfrm>
            <a:off x="5111496" y="1645920"/>
            <a:ext cx="196596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21224" y="1755648"/>
            <a:ext cx="1746504" cy="1106424"/>
          </a:xfrm>
          <a:prstGeom prst="rect">
            <a:avLst/>
          </a:prstGeom>
          <a:noFill/>
        </p:spPr>
        <p:txBody>
          <a:bodyPr wrap="square" lIns="0" tIns="0" rIns="0" bIns="0">
            <a:spAutoFit/>
          </a:bodyPr>
          <a:lstStyle/>
          <a:p>
            <a:pPr algn="l">
              <a:spcAft>
                <a:spcPts val="300"/>
              </a:spcAft>
            </a:pPr>
            <a:r>
              <a:rPr sz="1150" b="1">
                <a:solidFill>
                  <a:srgbClr val="0F172A"/>
                </a:solidFill>
                <a:latin typeface="Segoe UI"/>
              </a:rPr>
              <a:t>03  ·  Specialist Agents</a:t>
            </a:r>
          </a:p>
          <a:p>
            <a:pPr algn="l">
              <a:spcAft>
                <a:spcPts val="0"/>
              </a:spcAft>
            </a:pPr>
            <a:r>
              <a:rPr sz="950" b="0">
                <a:solidFill>
                  <a:srgbClr val="475569"/>
                </a:solidFill>
                <a:latin typeface="Segoe UI"/>
              </a:rPr>
              <a:t>Agents inspect code, config, and dependencies</a:t>
            </a:r>
          </a:p>
        </p:txBody>
      </p:sp>
      <p:sp>
        <p:nvSpPr>
          <p:cNvPr id="12" name="TextBox 11"/>
          <p:cNvSpPr txBox="1"/>
          <p:nvPr/>
        </p:nvSpPr>
        <p:spPr>
          <a:xfrm>
            <a:off x="7077456" y="2103120"/>
            <a:ext cx="224028" cy="365760"/>
          </a:xfrm>
          <a:prstGeom prst="rect">
            <a:avLst/>
          </a:prstGeom>
          <a:noFill/>
        </p:spPr>
        <p:txBody>
          <a:bodyPr wrap="none" lIns="0" tIns="0" rIns="0" bIns="0">
            <a:spAutoFit/>
          </a:bodyPr>
          <a:lstStyle/>
          <a:p>
            <a:pPr algn="ctr"/>
            <a:r>
              <a:rPr sz="1200">
                <a:solidFill>
                  <a:srgbClr val="94A3B8"/>
                </a:solidFill>
              </a:rPr>
              <a:t>-&gt;</a:t>
            </a:r>
          </a:p>
        </p:txBody>
      </p:sp>
      <p:sp>
        <p:nvSpPr>
          <p:cNvPr id="13" name="Rounded Rectangle 12"/>
          <p:cNvSpPr/>
          <p:nvPr/>
        </p:nvSpPr>
        <p:spPr>
          <a:xfrm>
            <a:off x="7301484" y="1645920"/>
            <a:ext cx="1965960" cy="13258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11212" y="1755648"/>
            <a:ext cx="1746504" cy="1106424"/>
          </a:xfrm>
          <a:prstGeom prst="rect">
            <a:avLst/>
          </a:prstGeom>
          <a:noFill/>
        </p:spPr>
        <p:txBody>
          <a:bodyPr wrap="square" lIns="0" tIns="0" rIns="0" bIns="0">
            <a:spAutoFit/>
          </a:bodyPr>
          <a:lstStyle/>
          <a:p>
            <a:pPr algn="l">
              <a:spcAft>
                <a:spcPts val="300"/>
              </a:spcAft>
            </a:pPr>
            <a:r>
              <a:rPr sz="1150" b="1">
                <a:solidFill>
                  <a:srgbClr val="2563EB"/>
                </a:solidFill>
                <a:latin typeface="Segoe UI"/>
              </a:rPr>
              <a:t>04  ·  Critic Validation</a:t>
            </a:r>
          </a:p>
          <a:p>
            <a:pPr algn="l">
              <a:spcAft>
                <a:spcPts val="0"/>
              </a:spcAft>
            </a:pPr>
            <a:r>
              <a:rPr sz="950" b="0">
                <a:solidFill>
                  <a:srgbClr val="475569"/>
                </a:solidFill>
                <a:latin typeface="Segoe UI"/>
              </a:rPr>
              <a:t>Physical line verification on repository disk</a:t>
            </a:r>
          </a:p>
        </p:txBody>
      </p:sp>
      <p:sp>
        <p:nvSpPr>
          <p:cNvPr id="15" name="TextBox 14"/>
          <p:cNvSpPr txBox="1"/>
          <p:nvPr/>
        </p:nvSpPr>
        <p:spPr>
          <a:xfrm>
            <a:off x="9267444" y="2103120"/>
            <a:ext cx="224028" cy="365760"/>
          </a:xfrm>
          <a:prstGeom prst="rect">
            <a:avLst/>
          </a:prstGeom>
          <a:noFill/>
        </p:spPr>
        <p:txBody>
          <a:bodyPr wrap="none" lIns="0" tIns="0" rIns="0" bIns="0">
            <a:spAutoFit/>
          </a:bodyPr>
          <a:lstStyle/>
          <a:p>
            <a:pPr algn="ctr"/>
            <a:r>
              <a:rPr sz="1200">
                <a:solidFill>
                  <a:srgbClr val="94A3B8"/>
                </a:solidFill>
              </a:rPr>
              <a:t>-&gt;</a:t>
            </a:r>
          </a:p>
        </p:txBody>
      </p:sp>
      <p:sp>
        <p:nvSpPr>
          <p:cNvPr id="16" name="Rounded Rectangle 15"/>
          <p:cNvSpPr/>
          <p:nvPr/>
        </p:nvSpPr>
        <p:spPr>
          <a:xfrm>
            <a:off x="9491472" y="1645920"/>
            <a:ext cx="1965960" cy="13258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0" y="1755648"/>
            <a:ext cx="1746504" cy="1106424"/>
          </a:xfrm>
          <a:prstGeom prst="rect">
            <a:avLst/>
          </a:prstGeom>
          <a:noFill/>
        </p:spPr>
        <p:txBody>
          <a:bodyPr wrap="square" lIns="0" tIns="0" rIns="0" bIns="0">
            <a:spAutoFit/>
          </a:bodyPr>
          <a:lstStyle/>
          <a:p>
            <a:pPr algn="l">
              <a:spcAft>
                <a:spcPts val="300"/>
              </a:spcAft>
            </a:pPr>
            <a:r>
              <a:rPr sz="1150" b="1">
                <a:solidFill>
                  <a:srgbClr val="2563EB"/>
                </a:solidFill>
                <a:latin typeface="Segoe UI"/>
              </a:rPr>
              <a:t>05  ·  Risk Formula</a:t>
            </a:r>
          </a:p>
          <a:p>
            <a:pPr algn="l">
              <a:spcAft>
                <a:spcPts val="0"/>
              </a:spcAft>
            </a:pPr>
            <a:r>
              <a:rPr sz="950" b="0">
                <a:solidFill>
                  <a:srgbClr val="475569"/>
                </a:solidFill>
                <a:latin typeface="Segoe UI"/>
              </a:rPr>
              <a:t>Deterministic 0–100 math &amp; release gate</a:t>
            </a:r>
          </a:p>
        </p:txBody>
      </p:sp>
      <p:sp>
        <p:nvSpPr>
          <p:cNvPr id="18" name="Rounded Rectangle 17"/>
          <p:cNvSpPr/>
          <p:nvPr/>
        </p:nvSpPr>
        <p:spPr>
          <a:xfrm>
            <a:off x="731520" y="3154680"/>
            <a:ext cx="333756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3264408"/>
            <a:ext cx="3008376" cy="740664"/>
          </a:xfrm>
          <a:prstGeom prst="rect">
            <a:avLst/>
          </a:prstGeom>
          <a:noFill/>
        </p:spPr>
        <p:txBody>
          <a:bodyPr wrap="square" lIns="0" tIns="0" rIns="0" bIns="0">
            <a:spAutoFit/>
          </a:bodyPr>
          <a:lstStyle/>
          <a:p>
            <a:pPr algn="l">
              <a:spcAft>
                <a:spcPts val="200"/>
              </a:spcAft>
            </a:pPr>
            <a:r>
              <a:rPr sz="1200" b="1">
                <a:solidFill>
                  <a:srgbClr val="0F172A"/>
                </a:solidFill>
                <a:latin typeface="Segoe UI"/>
              </a:rPr>
              <a:t>Code Agent</a:t>
            </a:r>
          </a:p>
          <a:p>
            <a:pPr algn="l">
              <a:spcAft>
                <a:spcPts val="0"/>
              </a:spcAft>
            </a:pPr>
            <a:r>
              <a:rPr sz="950" b="0">
                <a:solidFill>
                  <a:srgbClr val="475569"/>
                </a:solidFill>
                <a:latin typeface="Segoe UI"/>
              </a:rPr>
              <a:t>Uses Python's ast module to detect unhandled exceptions, bare except blocks, and missing timeouts.</a:t>
            </a:r>
          </a:p>
        </p:txBody>
      </p:sp>
      <p:sp>
        <p:nvSpPr>
          <p:cNvPr id="20" name="Rounded Rectangle 19"/>
          <p:cNvSpPr/>
          <p:nvPr/>
        </p:nvSpPr>
        <p:spPr>
          <a:xfrm>
            <a:off x="4425696" y="3154680"/>
            <a:ext cx="333756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90288" y="3264408"/>
            <a:ext cx="3008376" cy="740664"/>
          </a:xfrm>
          <a:prstGeom prst="rect">
            <a:avLst/>
          </a:prstGeom>
          <a:noFill/>
        </p:spPr>
        <p:txBody>
          <a:bodyPr wrap="square" lIns="0" tIns="0" rIns="0" bIns="0">
            <a:spAutoFit/>
          </a:bodyPr>
          <a:lstStyle/>
          <a:p>
            <a:pPr algn="l">
              <a:spcAft>
                <a:spcPts val="200"/>
              </a:spcAft>
            </a:pPr>
            <a:r>
              <a:rPr sz="1200" b="1">
                <a:solidFill>
                  <a:srgbClr val="0F172A"/>
                </a:solidFill>
                <a:latin typeface="Segoe UI"/>
              </a:rPr>
              <a:t>Config Agent</a:t>
            </a:r>
          </a:p>
          <a:p>
            <a:pPr algn="l">
              <a:spcAft>
                <a:spcPts val="0"/>
              </a:spcAft>
            </a:pPr>
            <a:r>
              <a:rPr sz="950" b="0">
                <a:solidFill>
                  <a:srgbClr val="475569"/>
                </a:solidFill>
                <a:latin typeface="Segoe UI"/>
              </a:rPr>
              <a:t>Inspects Dockerfiles (base image, non-root user) and docker-compose.yml for missing services.</a:t>
            </a:r>
          </a:p>
        </p:txBody>
      </p:sp>
      <p:sp>
        <p:nvSpPr>
          <p:cNvPr id="22" name="Rounded Rectangle 21"/>
          <p:cNvSpPr/>
          <p:nvPr/>
        </p:nvSpPr>
        <p:spPr>
          <a:xfrm>
            <a:off x="8119872" y="3154680"/>
            <a:ext cx="333756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84464" y="3264408"/>
            <a:ext cx="3008376" cy="740664"/>
          </a:xfrm>
          <a:prstGeom prst="rect">
            <a:avLst/>
          </a:prstGeom>
          <a:noFill/>
        </p:spPr>
        <p:txBody>
          <a:bodyPr wrap="square" lIns="0" tIns="0" rIns="0" bIns="0">
            <a:spAutoFit/>
          </a:bodyPr>
          <a:lstStyle/>
          <a:p>
            <a:pPr algn="l">
              <a:spcAft>
                <a:spcPts val="200"/>
              </a:spcAft>
            </a:pPr>
            <a:r>
              <a:rPr sz="1200" b="1">
                <a:solidFill>
                  <a:srgbClr val="0F172A"/>
                </a:solidFill>
                <a:latin typeface="Segoe UI"/>
              </a:rPr>
              <a:t>Dependency Agent</a:t>
            </a:r>
          </a:p>
          <a:p>
            <a:pPr algn="l">
              <a:spcAft>
                <a:spcPts val="0"/>
              </a:spcAft>
            </a:pPr>
            <a:r>
              <a:rPr sz="950" b="0">
                <a:solidFill>
                  <a:srgbClr val="475569"/>
                </a:solidFill>
                <a:latin typeface="Segoe UI"/>
              </a:rPr>
              <a:t>Scans requirements.txt and package.json for unpinned versions and missing native build flags.</a:t>
            </a:r>
          </a:p>
        </p:txBody>
      </p:sp>
      <p:sp>
        <p:nvSpPr>
          <p:cNvPr id="24" name="Rounded Rectangle 23"/>
          <p:cNvSpPr/>
          <p:nvPr/>
        </p:nvSpPr>
        <p:spPr>
          <a:xfrm>
            <a:off x="731520" y="4251960"/>
            <a:ext cx="333756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4361688"/>
            <a:ext cx="3008376" cy="740664"/>
          </a:xfrm>
          <a:prstGeom prst="rect">
            <a:avLst/>
          </a:prstGeom>
          <a:noFill/>
        </p:spPr>
        <p:txBody>
          <a:bodyPr wrap="square" lIns="0" tIns="0" rIns="0" bIns="0">
            <a:spAutoFit/>
          </a:bodyPr>
          <a:lstStyle/>
          <a:p>
            <a:pPr algn="l">
              <a:spcAft>
                <a:spcPts val="200"/>
              </a:spcAft>
            </a:pPr>
            <a:r>
              <a:rPr sz="1200" b="1">
                <a:solidFill>
                  <a:srgbClr val="0F172A"/>
                </a:solidFill>
                <a:latin typeface="Segoe UI"/>
              </a:rPr>
              <a:t>Documentation RAG</a:t>
            </a:r>
          </a:p>
          <a:p>
            <a:pPr algn="l">
              <a:spcAft>
                <a:spcPts val="0"/>
              </a:spcAft>
            </a:pPr>
            <a:r>
              <a:rPr sz="950" b="0">
                <a:solidFill>
                  <a:srgbClr val="475569"/>
                </a:solidFill>
                <a:latin typeface="Segoe UI"/>
              </a:rPr>
              <a:t>Queries ChromaDB vector database for documented environment variables, databases, and ports.</a:t>
            </a:r>
          </a:p>
        </p:txBody>
      </p:sp>
      <p:sp>
        <p:nvSpPr>
          <p:cNvPr id="26" name="Rounded Rectangle 25"/>
          <p:cNvSpPr/>
          <p:nvPr/>
        </p:nvSpPr>
        <p:spPr>
          <a:xfrm>
            <a:off x="4425696" y="4251960"/>
            <a:ext cx="333756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90288" y="4361688"/>
            <a:ext cx="3008376" cy="740664"/>
          </a:xfrm>
          <a:prstGeom prst="rect">
            <a:avLst/>
          </a:prstGeom>
          <a:noFill/>
        </p:spPr>
        <p:txBody>
          <a:bodyPr wrap="square" lIns="0" tIns="0" rIns="0" bIns="0">
            <a:spAutoFit/>
          </a:bodyPr>
          <a:lstStyle/>
          <a:p>
            <a:pPr algn="l">
              <a:spcAft>
                <a:spcPts val="200"/>
              </a:spcAft>
            </a:pPr>
            <a:r>
              <a:rPr sz="1200" b="1">
                <a:solidFill>
                  <a:srgbClr val="0F172A"/>
                </a:solidFill>
                <a:latin typeface="Segoe UI"/>
              </a:rPr>
              <a:t>Critic Agent</a:t>
            </a:r>
          </a:p>
          <a:p>
            <a:pPr algn="l">
              <a:spcAft>
                <a:spcPts val="0"/>
              </a:spcAft>
            </a:pPr>
            <a:r>
              <a:rPr sz="950" b="0">
                <a:solidFill>
                  <a:srgbClr val="475569"/>
                </a:solidFill>
                <a:latin typeface="Segoe UI"/>
              </a:rPr>
              <a:t>Verifies that reported files and line numbers physically exist on disk before any score is calculated.</a:t>
            </a:r>
          </a:p>
        </p:txBody>
      </p:sp>
      <p:sp>
        <p:nvSpPr>
          <p:cNvPr id="28" name="Rounded Rectangle 27"/>
          <p:cNvSpPr/>
          <p:nvPr/>
        </p:nvSpPr>
        <p:spPr>
          <a:xfrm>
            <a:off x="8119872" y="4251960"/>
            <a:ext cx="333756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84464" y="4361688"/>
            <a:ext cx="3008376" cy="740664"/>
          </a:xfrm>
          <a:prstGeom prst="rect">
            <a:avLst/>
          </a:prstGeom>
          <a:noFill/>
        </p:spPr>
        <p:txBody>
          <a:bodyPr wrap="square" lIns="0" tIns="0" rIns="0" bIns="0">
            <a:spAutoFit/>
          </a:bodyPr>
          <a:lstStyle/>
          <a:p>
            <a:pPr algn="l">
              <a:spcAft>
                <a:spcPts val="200"/>
              </a:spcAft>
            </a:pPr>
            <a:r>
              <a:rPr sz="1200" b="1">
                <a:solidFill>
                  <a:srgbClr val="0F172A"/>
                </a:solidFill>
                <a:latin typeface="Segoe UI"/>
              </a:rPr>
              <a:t>Orchestrator</a:t>
            </a:r>
          </a:p>
          <a:p>
            <a:pPr algn="l">
              <a:spcAft>
                <a:spcPts val="0"/>
              </a:spcAft>
            </a:pPr>
            <a:r>
              <a:rPr sz="950" b="0">
                <a:solidFill>
                  <a:srgbClr val="475569"/>
                </a:solidFill>
                <a:latin typeface="Segoe UI"/>
              </a:rPr>
              <a:t>Inspects repository technology stack and dispatches domain agents concurrently in a thread pool.</a:t>
            </a:r>
          </a:p>
        </p:txBody>
      </p:sp>
      <p:sp>
        <p:nvSpPr>
          <p:cNvPr id="30" name="Rounded Rectangle 29"/>
          <p:cNvSpPr/>
          <p:nvPr/>
        </p:nvSpPr>
        <p:spPr>
          <a:xfrm>
            <a:off x="731520" y="5349240"/>
            <a:ext cx="10728655" cy="8686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440680"/>
            <a:ext cx="10362895" cy="685800"/>
          </a:xfrm>
          <a:prstGeom prst="rect">
            <a:avLst/>
          </a:prstGeom>
          <a:noFill/>
        </p:spPr>
        <p:txBody>
          <a:bodyPr wrap="square" lIns="0" tIns="0" rIns="0" bIns="0">
            <a:spAutoFit/>
          </a:bodyPr>
          <a:lstStyle/>
          <a:p>
            <a:pPr algn="l">
              <a:spcAft>
                <a:spcPts val="200"/>
              </a:spcAft>
            </a:pPr>
            <a:r>
              <a:rPr sz="1100" b="1">
                <a:solidFill>
                  <a:srgbClr val="2563EB"/>
                </a:solidFill>
                <a:latin typeface="Segoe UI"/>
              </a:rPr>
              <a:t>Why Multiple Agents Over a Single Prompt?</a:t>
            </a:r>
          </a:p>
          <a:p>
            <a:pPr algn="l">
              <a:spcAft>
                <a:spcPts val="0"/>
              </a:spcAft>
            </a:pPr>
            <a:r>
              <a:rPr sz="1050" b="0">
                <a:solidFill>
                  <a:srgbClr val="0F172A"/>
                </a:solidFill>
                <a:latin typeface="Segoe UI"/>
              </a:rPr>
              <a:t>A single prompt loaded with Docker syntax, AST trees, and package manifests suffers from attention loss. Dividing analysis across specialist agents keeps prompts focused, runs concurrently in ~1.8 seconds, and isolates findings for validation.</a:t>
            </a:r>
          </a:p>
        </p:txBody>
      </p:sp>
      <p:sp>
        <p:nvSpPr>
          <p:cNvPr id="32" name="TextBox 31"/>
          <p:cNvSpPr txBox="1"/>
          <p:nvPr/>
        </p:nvSpPr>
        <p:spPr>
          <a:xfrm>
            <a:off x="731520" y="6355080"/>
            <a:ext cx="10728655" cy="320040"/>
          </a:xfrm>
          <a:prstGeom prst="rect">
            <a:avLst/>
          </a:prstGeom>
          <a:noFill/>
        </p:spPr>
        <p:txBody>
          <a:bodyPr wrap="square" lIns="0" tIns="0" rIns="0" bIns="0">
            <a:spAutoFit/>
          </a:bodyPr>
          <a:lstStyle/>
          <a:p>
            <a:r>
              <a:rPr sz="1000">
                <a:solidFill>
                  <a:srgbClr val="94A3B8"/>
                </a:solidFill>
                <a:latin typeface="Segoe UI"/>
              </a:rPr>
              <a:t>DeploySafe  |  CSE 4011: Intelligent Developer Tools &amp; AI DevOps Workflows</a:t>
            </a:r>
            <a:r>
              <a:t>                                                  </a:t>
            </a:r>
            <a:r>
              <a:rPr sz="1000" b="1">
                <a:solidFill>
                  <a:srgbClr val="475569"/>
                </a:solidFill>
                <a:latin typeface="Segoe UI"/>
              </a:rPr>
              <a:t>04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1005840"/>
          </a:xfrm>
          <a:prstGeom prst="rect">
            <a:avLst/>
          </a:prstGeom>
          <a:noFill/>
        </p:spPr>
        <p:txBody>
          <a:bodyPr wrap="square" lIns="0" tIns="0" rIns="0" bIns="0">
            <a:spAutoFit/>
          </a:bodyPr>
          <a:lstStyle/>
          <a:p>
            <a:pPr>
              <a:spcAft>
                <a:spcPts val="400"/>
              </a:spcAft>
            </a:pPr>
            <a:r>
              <a:rPr sz="2800" b="1">
                <a:solidFill>
                  <a:srgbClr val="0F172A"/>
                </a:solidFill>
                <a:latin typeface="Segoe UI"/>
              </a:rPr>
              <a:t>RAG in Practice: Detecting Configuration Drift</a:t>
            </a:r>
          </a:p>
          <a:p>
            <a:pPr>
              <a:spcAft>
                <a:spcPts val="0"/>
              </a:spcAft>
            </a:pPr>
            <a:r>
              <a:rPr sz="1350" b="0">
                <a:solidFill>
                  <a:srgbClr val="475569"/>
                </a:solidFill>
                <a:latin typeface="Segoe UI"/>
              </a:rPr>
              <a:t>ChromaDB semantic retrieval correlates written documentation with deployment manifests.</a:t>
            </a:r>
          </a:p>
        </p:txBody>
      </p:sp>
      <p:sp>
        <p:nvSpPr>
          <p:cNvPr id="4" name="Rounded Rectangle 3"/>
          <p:cNvSpPr/>
          <p:nvPr/>
        </p:nvSpPr>
        <p:spPr>
          <a:xfrm>
            <a:off x="731520" y="1645920"/>
            <a:ext cx="411480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3657600" cy="4114800"/>
          </a:xfrm>
          <a:prstGeom prst="rect">
            <a:avLst/>
          </a:prstGeom>
          <a:noFill/>
        </p:spPr>
        <p:txBody>
          <a:bodyPr wrap="square" lIns="0" tIns="0" rIns="0" bIns="0">
            <a:spAutoFit/>
          </a:bodyPr>
          <a:lstStyle/>
          <a:p>
            <a:pPr algn="l">
              <a:spcAft>
                <a:spcPts val="1200"/>
              </a:spcAft>
            </a:pPr>
            <a:r>
              <a:rPr sz="1100" b="1">
                <a:solidFill>
                  <a:srgbClr val="2563EB"/>
                </a:solidFill>
                <a:latin typeface="Segoe UI"/>
              </a:rPr>
              <a:t>RAG PIPELINE IMPLEMENTATION</a:t>
            </a:r>
          </a:p>
          <a:p>
            <a:pPr algn="l">
              <a:spcAft>
                <a:spcPts val="200"/>
              </a:spcAft>
            </a:pPr>
            <a:r>
              <a:rPr sz="1250" b="1">
                <a:solidFill>
                  <a:srgbClr val="0F172A"/>
                </a:solidFill>
                <a:latin typeface="Segoe UI"/>
              </a:rPr>
              <a:t>1. Documentation Parsing</a:t>
            </a:r>
          </a:p>
          <a:p>
            <a:pPr algn="l">
              <a:spcAft>
                <a:spcPts val="800"/>
              </a:spcAft>
            </a:pPr>
            <a:r>
              <a:rPr sz="1050" b="0">
                <a:solidFill>
                  <a:srgbClr val="475569"/>
                </a:solidFill>
                <a:latin typeface="Segoe UI"/>
              </a:rPr>
              <a:t>Parses README.md, setup guides, and env examples.</a:t>
            </a:r>
          </a:p>
          <a:p>
            <a:pPr algn="l">
              <a:spcAft>
                <a:spcPts val="200"/>
              </a:spcAft>
            </a:pPr>
            <a:r>
              <a:rPr sz="1250" b="1">
                <a:solidFill>
                  <a:srgbClr val="0F172A"/>
                </a:solidFill>
                <a:latin typeface="Segoe UI"/>
              </a:rPr>
              <a:t>2. Header-Aware Chunking</a:t>
            </a:r>
          </a:p>
          <a:p>
            <a:pPr algn="l">
              <a:spcAft>
                <a:spcPts val="800"/>
              </a:spcAft>
            </a:pPr>
            <a:r>
              <a:rPr sz="1050" b="0">
                <a:solidFill>
                  <a:srgbClr val="475569"/>
                </a:solidFill>
                <a:latin typeface="Segoe UI"/>
              </a:rPr>
              <a:t>Splits markdown into sections while preserving line numbers.</a:t>
            </a:r>
          </a:p>
          <a:p>
            <a:pPr algn="l">
              <a:spcAft>
                <a:spcPts val="200"/>
              </a:spcAft>
            </a:pPr>
            <a:r>
              <a:rPr sz="1250" b="1">
                <a:solidFill>
                  <a:srgbClr val="0F172A"/>
                </a:solidFill>
                <a:latin typeface="Segoe UI"/>
              </a:rPr>
              <a:t>3. Dense Vector Embeddings</a:t>
            </a:r>
          </a:p>
          <a:p>
            <a:pPr algn="l">
              <a:spcAft>
                <a:spcPts val="800"/>
              </a:spcAft>
            </a:pPr>
            <a:r>
              <a:rPr sz="1050" b="0">
                <a:solidFill>
                  <a:srgbClr val="475569"/>
                </a:solidFill>
                <a:latin typeface="Segoe UI"/>
              </a:rPr>
              <a:t>Generates semantic vector embeddings for each chunk.</a:t>
            </a:r>
          </a:p>
          <a:p>
            <a:pPr algn="l">
              <a:spcAft>
                <a:spcPts val="200"/>
              </a:spcAft>
            </a:pPr>
            <a:r>
              <a:rPr sz="1250" b="1">
                <a:solidFill>
                  <a:srgbClr val="0F172A"/>
                </a:solidFill>
                <a:latin typeface="Segoe UI"/>
              </a:rPr>
              <a:t>4. ChromaDB Storage</a:t>
            </a:r>
          </a:p>
          <a:p>
            <a:pPr algn="l">
              <a:spcAft>
                <a:spcPts val="800"/>
              </a:spcAft>
            </a:pPr>
            <a:r>
              <a:rPr sz="1050" b="0">
                <a:solidFill>
                  <a:srgbClr val="475569"/>
                </a:solidFill>
                <a:latin typeface="Segoe UI"/>
              </a:rPr>
              <a:t>Stores vectors locally with file path and line metadata.</a:t>
            </a:r>
          </a:p>
          <a:p>
            <a:pPr algn="l">
              <a:spcAft>
                <a:spcPts val="200"/>
              </a:spcAft>
            </a:pPr>
            <a:r>
              <a:rPr sz="1250" b="1">
                <a:solidFill>
                  <a:srgbClr val="0F172A"/>
                </a:solidFill>
                <a:latin typeface="Segoe UI"/>
              </a:rPr>
              <a:t>5. Agent Querying</a:t>
            </a:r>
          </a:p>
          <a:p>
            <a:pPr algn="l">
              <a:spcAft>
                <a:spcPts val="800"/>
              </a:spcAft>
            </a:pPr>
            <a:r>
              <a:rPr sz="1050" b="0">
                <a:solidFill>
                  <a:srgbClr val="475569"/>
                </a:solidFill>
                <a:latin typeface="Segoe UI"/>
              </a:rPr>
              <a:t>Agents query context using cosine similarity search.</a:t>
            </a:r>
          </a:p>
        </p:txBody>
      </p:sp>
      <p:sp>
        <p:nvSpPr>
          <p:cNvPr id="6" name="Rounded Rectangle 5"/>
          <p:cNvSpPr/>
          <p:nvPr/>
        </p:nvSpPr>
        <p:spPr>
          <a:xfrm>
            <a:off x="5120640" y="1645920"/>
            <a:ext cx="6339535"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49240" y="1810512"/>
            <a:ext cx="5882335" cy="4114800"/>
          </a:xfrm>
          <a:prstGeom prst="rect">
            <a:avLst/>
          </a:prstGeom>
          <a:noFill/>
        </p:spPr>
        <p:txBody>
          <a:bodyPr wrap="square" lIns="0" tIns="0" rIns="0" bIns="0">
            <a:spAutoFit/>
          </a:bodyPr>
          <a:lstStyle/>
          <a:p>
            <a:pPr algn="l">
              <a:spcAft>
                <a:spcPts val="400"/>
              </a:spcAft>
            </a:pPr>
            <a:r>
              <a:rPr sz="1100" b="1">
                <a:solidFill>
                  <a:srgbClr val="2563EB"/>
                </a:solidFill>
                <a:latin typeface="Segoe UI"/>
              </a:rPr>
              <a:t>REAL CASE STUDY: DEMO MICROSERVICE</a:t>
            </a:r>
          </a:p>
          <a:p>
            <a:pPr algn="l">
              <a:spcAft>
                <a:spcPts val="1000"/>
              </a:spcAft>
            </a:pPr>
            <a:r>
              <a:rPr sz="1700" b="1">
                <a:solidFill>
                  <a:srgbClr val="0F172A"/>
                </a:solidFill>
                <a:latin typeface="Segoe UI"/>
              </a:rPr>
              <a:t>Catching a Missing Service Before Production Boot</a:t>
            </a:r>
          </a:p>
          <a:p>
            <a:pPr algn="l">
              <a:spcAft>
                <a:spcPts val="300"/>
              </a:spcAft>
            </a:pPr>
            <a:r>
              <a:rPr sz="1100" b="1">
                <a:solidFill>
                  <a:srgbClr val="475569"/>
                </a:solidFill>
                <a:latin typeface="Segoe UI"/>
              </a:rPr>
              <a:t>1. Retrieved from README.md (lines 18-22 via ChromaDB):</a:t>
            </a:r>
          </a:p>
          <a:p>
            <a:pPr algn="l">
              <a:spcAft>
                <a:spcPts val="1000"/>
              </a:spcAft>
            </a:pPr>
            <a:r>
              <a:rPr sz="1050" b="0">
                <a:solidFill>
                  <a:srgbClr val="0F172A"/>
                </a:solidFill>
                <a:latin typeface="Consolas"/>
              </a:rPr>
              <a:t>"Requires Redis for session caching: REDIS_URL=redis://redis:6379/0"</a:t>
            </a:r>
          </a:p>
          <a:p>
            <a:pPr algn="l">
              <a:spcAft>
                <a:spcPts val="300"/>
              </a:spcAft>
            </a:pPr>
            <a:r>
              <a:rPr sz="1100" b="1">
                <a:solidFill>
                  <a:srgbClr val="475569"/>
                </a:solidFill>
                <a:latin typeface="Segoe UI"/>
              </a:rPr>
              <a:t>2. Inspected Deployment Manifest (docker-compose.yml, lines 1-12):</a:t>
            </a:r>
          </a:p>
          <a:p>
            <a:pPr algn="l">
              <a:spcAft>
                <a:spcPts val="1000"/>
              </a:spcAft>
            </a:pPr>
            <a:r>
              <a:rPr sz="1050" b="0">
                <a:solidFill>
                  <a:srgbClr val="0F172A"/>
                </a:solidFill>
                <a:latin typeface="Consolas"/>
              </a:rPr>
              <a:t>services:
  web:
    build: .
    ports: ['8000:8000']
    # Redis service completely omitted</a:t>
            </a:r>
          </a:p>
          <a:p>
            <a:pPr algn="l">
              <a:spcAft>
                <a:spcPts val="300"/>
              </a:spcAft>
            </a:pPr>
            <a:r>
              <a:rPr sz="1100" b="1">
                <a:solidFill>
                  <a:srgbClr val="DC2626"/>
                </a:solidFill>
                <a:latin typeface="Segoe UI"/>
              </a:rPr>
              <a:t>3. Critic Verification &amp; Risk Output:</a:t>
            </a:r>
          </a:p>
          <a:p>
            <a:pPr algn="l">
              <a:spcAft>
                <a:spcPts val="0"/>
              </a:spcAft>
            </a:pPr>
            <a:r>
              <a:rPr sz="1100" b="0">
                <a:solidFill>
                  <a:srgbClr val="0F172A"/>
                </a:solidFill>
                <a:latin typeface="Segoe UI"/>
              </a:rPr>
              <a:t>Validated docker-compose.yml on disk. Emitted High Severity finding: Web service will fail health checks on container startup due to unreachable Redis endpoint.</a:t>
            </a:r>
          </a:p>
        </p:txBody>
      </p:sp>
      <p:sp>
        <p:nvSpPr>
          <p:cNvPr id="8" name="TextBox 7"/>
          <p:cNvSpPr txBox="1"/>
          <p:nvPr/>
        </p:nvSpPr>
        <p:spPr>
          <a:xfrm>
            <a:off x="731520" y="6355080"/>
            <a:ext cx="10728655" cy="320040"/>
          </a:xfrm>
          <a:prstGeom prst="rect">
            <a:avLst/>
          </a:prstGeom>
          <a:noFill/>
        </p:spPr>
        <p:txBody>
          <a:bodyPr wrap="square" lIns="0" tIns="0" rIns="0" bIns="0">
            <a:spAutoFit/>
          </a:bodyPr>
          <a:lstStyle/>
          <a:p>
            <a:r>
              <a:rPr sz="1000">
                <a:solidFill>
                  <a:srgbClr val="94A3B8"/>
                </a:solidFill>
                <a:latin typeface="Segoe UI"/>
              </a:rPr>
              <a:t>DeploySafe  |  CSE 4011: Intelligent Developer Tools &amp; AI DevOps Workflows</a:t>
            </a:r>
            <a:r>
              <a:t>                                                  </a:t>
            </a:r>
            <a:r>
              <a:rPr sz="1000" b="1">
                <a:solidFill>
                  <a:srgbClr val="475569"/>
                </a:solidFill>
                <a:latin typeface="Segoe UI"/>
              </a:rPr>
              <a:t>05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1005840"/>
          </a:xfrm>
          <a:prstGeom prst="rect">
            <a:avLst/>
          </a:prstGeom>
          <a:noFill/>
        </p:spPr>
        <p:txBody>
          <a:bodyPr wrap="square" lIns="0" tIns="0" rIns="0" bIns="0">
            <a:spAutoFit/>
          </a:bodyPr>
          <a:lstStyle/>
          <a:p>
            <a:pPr>
              <a:spcAft>
                <a:spcPts val="400"/>
              </a:spcAft>
            </a:pPr>
            <a:r>
              <a:rPr sz="2800" b="1">
                <a:solidFill>
                  <a:srgbClr val="0F172A"/>
                </a:solidFill>
                <a:latin typeface="Segoe UI"/>
              </a:rPr>
              <a:t>Deterministic Risk Scoring vs. LLM Hallucinations</a:t>
            </a:r>
          </a:p>
          <a:p>
            <a:pPr>
              <a:spcAft>
                <a:spcPts val="0"/>
              </a:spcAft>
            </a:pPr>
            <a:r>
              <a:rPr sz="1350" b="0">
                <a:solidFill>
                  <a:srgbClr val="475569"/>
                </a:solidFill>
                <a:latin typeface="Segoe UI"/>
              </a:rPr>
              <a:t>LLMs propose findings; a deterministic Python formula calculates the 0–100 score.</a:t>
            </a:r>
          </a:p>
        </p:txBody>
      </p:sp>
      <p:sp>
        <p:nvSpPr>
          <p:cNvPr id="4" name="Rounded Rectangle 3"/>
          <p:cNvSpPr/>
          <p:nvPr/>
        </p:nvSpPr>
        <p:spPr>
          <a:xfrm>
            <a:off x="731520" y="1645920"/>
            <a:ext cx="333756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2880360" cy="3291840"/>
          </a:xfrm>
          <a:prstGeom prst="rect">
            <a:avLst/>
          </a:prstGeom>
          <a:noFill/>
        </p:spPr>
        <p:txBody>
          <a:bodyPr wrap="square" lIns="0" tIns="0" rIns="0" bIns="0">
            <a:spAutoFit/>
          </a:bodyPr>
          <a:lstStyle/>
          <a:p>
            <a:pPr algn="l">
              <a:spcAft>
                <a:spcPts val="400"/>
              </a:spcAft>
            </a:pPr>
            <a:r>
              <a:rPr sz="1000" b="1">
                <a:solidFill>
                  <a:srgbClr val="2563EB"/>
                </a:solidFill>
                <a:latin typeface="Segoe UI"/>
              </a:rPr>
              <a:t>STAGE 1</a:t>
            </a:r>
          </a:p>
          <a:p>
            <a:pPr algn="l">
              <a:spcAft>
                <a:spcPts val="200"/>
              </a:spcAft>
            </a:pPr>
            <a:r>
              <a:rPr sz="1800" b="1">
                <a:solidFill>
                  <a:srgbClr val="0F172A"/>
                </a:solidFill>
                <a:latin typeface="Segoe UI"/>
              </a:rPr>
              <a:t>Candidate Finding</a:t>
            </a:r>
          </a:p>
          <a:p>
            <a:pPr algn="l">
              <a:spcAft>
                <a:spcPts val="800"/>
              </a:spcAft>
            </a:pPr>
            <a:r>
              <a:rPr sz="1100" b="1">
                <a:solidFill>
                  <a:srgbClr val="475569"/>
                </a:solidFill>
                <a:latin typeface="Segoe UI"/>
              </a:rPr>
              <a:t>LLM Proposal</a:t>
            </a:r>
          </a:p>
          <a:p>
            <a:pPr algn="l">
              <a:spcAft>
                <a:spcPts val="1200"/>
              </a:spcAft>
            </a:pPr>
            <a:r>
              <a:rPr sz="1050" b="0">
                <a:solidFill>
                  <a:srgbClr val="475569"/>
                </a:solidFill>
                <a:latin typeface="Segoe UI"/>
              </a:rPr>
              <a:t>Specialist agent identifies a potential problem.</a:t>
            </a:r>
          </a:p>
          <a:p>
            <a:pPr algn="l">
              <a:spcAft>
                <a:spcPts val="400"/>
              </a:spcAft>
            </a:pPr>
            <a:r>
              <a:rPr sz="1050" b="0">
                <a:solidFill>
                  <a:srgbClr val="0F172A"/>
                </a:solidFill>
                <a:latin typeface="Segoe UI"/>
              </a:rPr>
              <a:t>- Category: Configuration Drift</a:t>
            </a:r>
          </a:p>
          <a:p>
            <a:pPr algn="l">
              <a:spcAft>
                <a:spcPts val="400"/>
              </a:spcAft>
            </a:pPr>
            <a:r>
              <a:rPr sz="1050" b="0">
                <a:solidFill>
                  <a:srgbClr val="0F172A"/>
                </a:solidFill>
                <a:latin typeface="Segoe UI"/>
              </a:rPr>
              <a:t>- Finding: Missing Redis Service</a:t>
            </a:r>
          </a:p>
          <a:p>
            <a:pPr algn="l">
              <a:spcAft>
                <a:spcPts val="400"/>
              </a:spcAft>
            </a:pPr>
            <a:r>
              <a:rPr sz="1050" b="0">
                <a:solidFill>
                  <a:srgbClr val="0F172A"/>
                </a:solidFill>
                <a:latin typeface="Segoe UI"/>
              </a:rPr>
              <a:t>- Agent: Config Agent</a:t>
            </a:r>
          </a:p>
          <a:p>
            <a:pPr algn="l">
              <a:spcAft>
                <a:spcPts val="400"/>
              </a:spcAft>
            </a:pPr>
            <a:r>
              <a:rPr sz="1050" b="0">
                <a:solidFill>
                  <a:srgbClr val="0F172A"/>
                </a:solidFill>
                <a:latin typeface="Segoe UI"/>
              </a:rPr>
              <a:t>- Confidence: 0.90 (High certainty)</a:t>
            </a:r>
          </a:p>
        </p:txBody>
      </p:sp>
      <p:sp>
        <p:nvSpPr>
          <p:cNvPr id="6" name="Rounded Rectangle 5"/>
          <p:cNvSpPr/>
          <p:nvPr/>
        </p:nvSpPr>
        <p:spPr>
          <a:xfrm>
            <a:off x="4425696" y="1645920"/>
            <a:ext cx="333756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54296" y="1828800"/>
            <a:ext cx="2880360" cy="3291840"/>
          </a:xfrm>
          <a:prstGeom prst="rect">
            <a:avLst/>
          </a:prstGeom>
          <a:noFill/>
        </p:spPr>
        <p:txBody>
          <a:bodyPr wrap="square" lIns="0" tIns="0" rIns="0" bIns="0">
            <a:spAutoFit/>
          </a:bodyPr>
          <a:lstStyle/>
          <a:p>
            <a:pPr algn="l">
              <a:spcAft>
                <a:spcPts val="400"/>
              </a:spcAft>
            </a:pPr>
            <a:r>
              <a:rPr sz="1000" b="1">
                <a:solidFill>
                  <a:srgbClr val="2563EB"/>
                </a:solidFill>
                <a:latin typeface="Segoe UI"/>
              </a:rPr>
              <a:t>STAGE 2</a:t>
            </a:r>
          </a:p>
          <a:p>
            <a:pPr algn="l">
              <a:spcAft>
                <a:spcPts val="200"/>
              </a:spcAft>
            </a:pPr>
            <a:r>
              <a:rPr sz="1800" b="1">
                <a:solidFill>
                  <a:srgbClr val="0F172A"/>
                </a:solidFill>
                <a:latin typeface="Segoe UI"/>
              </a:rPr>
              <a:t>Physical Verification</a:t>
            </a:r>
          </a:p>
          <a:p>
            <a:pPr algn="l">
              <a:spcAft>
                <a:spcPts val="800"/>
              </a:spcAft>
            </a:pPr>
            <a:r>
              <a:rPr sz="1100" b="1">
                <a:solidFill>
                  <a:srgbClr val="475569"/>
                </a:solidFill>
                <a:latin typeface="Segoe UI"/>
              </a:rPr>
              <a:t>Critic Verification</a:t>
            </a:r>
          </a:p>
          <a:p>
            <a:pPr algn="l">
              <a:spcAft>
                <a:spcPts val="1200"/>
              </a:spcAft>
            </a:pPr>
            <a:r>
              <a:rPr sz="1050" b="0">
                <a:solidFill>
                  <a:srgbClr val="475569"/>
                </a:solidFill>
                <a:latin typeface="Segoe UI"/>
              </a:rPr>
              <a:t>Critic validates the file on actual disk.</a:t>
            </a:r>
          </a:p>
          <a:p>
            <a:pPr algn="l">
              <a:spcAft>
                <a:spcPts val="400"/>
              </a:spcAft>
            </a:pPr>
            <a:r>
              <a:rPr sz="1050" b="0">
                <a:solidFill>
                  <a:srgbClr val="0F172A"/>
                </a:solidFill>
                <a:latin typeface="Segoe UI"/>
              </a:rPr>
              <a:t>- Target File: docker-compose.yml</a:t>
            </a:r>
          </a:p>
          <a:p>
            <a:pPr algn="l">
              <a:spcAft>
                <a:spcPts val="400"/>
              </a:spcAft>
            </a:pPr>
            <a:r>
              <a:rPr sz="1050" b="0">
                <a:solidFill>
                  <a:srgbClr val="0F172A"/>
                </a:solidFill>
                <a:latin typeface="Segoe UI"/>
              </a:rPr>
              <a:t>- Line Reference: Lines 1–12 checked</a:t>
            </a:r>
          </a:p>
          <a:p>
            <a:pPr algn="l">
              <a:spcAft>
                <a:spcPts val="400"/>
              </a:spcAft>
            </a:pPr>
            <a:r>
              <a:rPr sz="1050" b="0">
                <a:solidFill>
                  <a:srgbClr val="0F172A"/>
                </a:solidFill>
                <a:latin typeface="Segoe UI"/>
              </a:rPr>
              <a:t>- Disk Check: File exists, lines matched</a:t>
            </a:r>
          </a:p>
          <a:p>
            <a:pPr algn="l">
              <a:spcAft>
                <a:spcPts val="400"/>
              </a:spcAft>
            </a:pPr>
            <a:r>
              <a:rPr sz="1050" b="0">
                <a:solidFill>
                  <a:srgbClr val="0F172A"/>
                </a:solidFill>
                <a:latin typeface="Segoe UI"/>
              </a:rPr>
              <a:t>- Status: VALIDATED (Approved)</a:t>
            </a:r>
          </a:p>
        </p:txBody>
      </p:sp>
      <p:sp>
        <p:nvSpPr>
          <p:cNvPr id="8" name="Rounded Rectangle 7"/>
          <p:cNvSpPr/>
          <p:nvPr/>
        </p:nvSpPr>
        <p:spPr>
          <a:xfrm>
            <a:off x="8119872" y="1645920"/>
            <a:ext cx="333756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48472" y="1828800"/>
            <a:ext cx="2880360" cy="3291840"/>
          </a:xfrm>
          <a:prstGeom prst="rect">
            <a:avLst/>
          </a:prstGeom>
          <a:noFill/>
        </p:spPr>
        <p:txBody>
          <a:bodyPr wrap="square" lIns="0" tIns="0" rIns="0" bIns="0">
            <a:spAutoFit/>
          </a:bodyPr>
          <a:lstStyle/>
          <a:p>
            <a:pPr algn="l">
              <a:spcAft>
                <a:spcPts val="400"/>
              </a:spcAft>
            </a:pPr>
            <a:r>
              <a:rPr sz="1000" b="1">
                <a:solidFill>
                  <a:srgbClr val="2563EB"/>
                </a:solidFill>
                <a:latin typeface="Segoe UI"/>
              </a:rPr>
              <a:t>STAGE 3</a:t>
            </a:r>
          </a:p>
          <a:p>
            <a:pPr algn="l">
              <a:spcAft>
                <a:spcPts val="200"/>
              </a:spcAft>
            </a:pPr>
            <a:r>
              <a:rPr sz="1800" b="1">
                <a:solidFill>
                  <a:srgbClr val="0F172A"/>
                </a:solidFill>
                <a:latin typeface="Segoe UI"/>
              </a:rPr>
              <a:t>Risk Calculation</a:t>
            </a:r>
          </a:p>
          <a:p>
            <a:pPr algn="l">
              <a:spcAft>
                <a:spcPts val="800"/>
              </a:spcAft>
            </a:pPr>
            <a:r>
              <a:rPr sz="1100" b="1">
                <a:solidFill>
                  <a:srgbClr val="475569"/>
                </a:solidFill>
                <a:latin typeface="Segoe UI"/>
              </a:rPr>
              <a:t>Deterministic Formula</a:t>
            </a:r>
          </a:p>
          <a:p>
            <a:pPr algn="l">
              <a:spcAft>
                <a:spcPts val="1200"/>
              </a:spcAft>
            </a:pPr>
            <a:r>
              <a:rPr sz="1050" b="0">
                <a:solidFill>
                  <a:srgbClr val="475569"/>
                </a:solidFill>
                <a:latin typeface="Segoe UI"/>
              </a:rPr>
              <a:t>Python arithmetic calculates score with zero AI.</a:t>
            </a:r>
          </a:p>
          <a:p>
            <a:pPr algn="l">
              <a:spcAft>
                <a:spcPts val="400"/>
              </a:spcAft>
            </a:pPr>
            <a:r>
              <a:rPr sz="1050" b="0">
                <a:solidFill>
                  <a:srgbClr val="0F172A"/>
                </a:solidFill>
                <a:latin typeface="Segoe UI"/>
              </a:rPr>
              <a:t>- Severity Base: HIGH: 25.0 points</a:t>
            </a:r>
          </a:p>
          <a:p>
            <a:pPr algn="l">
              <a:spcAft>
                <a:spcPts val="400"/>
              </a:spcAft>
            </a:pPr>
            <a:r>
              <a:rPr sz="1050" b="0">
                <a:solidFill>
                  <a:srgbClr val="0F172A"/>
                </a:solidFill>
                <a:latin typeface="Segoe UI"/>
              </a:rPr>
              <a:t>- Confidence: 0.90 weight applied</a:t>
            </a:r>
          </a:p>
          <a:p>
            <a:pPr algn="l">
              <a:spcAft>
                <a:spcPts val="400"/>
              </a:spcAft>
            </a:pPr>
            <a:r>
              <a:rPr sz="1050" b="0">
                <a:solidFill>
                  <a:srgbClr val="0F172A"/>
                </a:solidFill>
                <a:latin typeface="Segoe UI"/>
              </a:rPr>
              <a:t>- Impact Factor: 1.0 (Runtime critical)</a:t>
            </a:r>
          </a:p>
          <a:p>
            <a:pPr algn="l">
              <a:spcAft>
                <a:spcPts val="400"/>
              </a:spcAft>
            </a:pPr>
            <a:r>
              <a:rPr sz="1050" b="0">
                <a:solidFill>
                  <a:srgbClr val="0F172A"/>
                </a:solidFill>
                <a:latin typeface="Segoe UI"/>
              </a:rPr>
              <a:t>- Contribution: +22.5 Risk Points</a:t>
            </a:r>
          </a:p>
        </p:txBody>
      </p:sp>
      <p:sp>
        <p:nvSpPr>
          <p:cNvPr id="10" name="Rounded Rectangle 9"/>
          <p:cNvSpPr/>
          <p:nvPr/>
        </p:nvSpPr>
        <p:spPr>
          <a:xfrm>
            <a:off x="731520" y="5486400"/>
            <a:ext cx="10728655" cy="777240"/>
          </a:xfrm>
          <a:prstGeom prst="roundRect">
            <a:avLst/>
          </a:prstGeom>
          <a:solidFill>
            <a:srgbClr val="EFF6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596128"/>
            <a:ext cx="10362895" cy="548640"/>
          </a:xfrm>
          <a:prstGeom prst="rect">
            <a:avLst/>
          </a:prstGeom>
          <a:noFill/>
        </p:spPr>
        <p:txBody>
          <a:bodyPr wrap="square" lIns="0" tIns="0" rIns="0" bIns="0">
            <a:spAutoFit/>
          </a:bodyPr>
          <a:lstStyle/>
          <a:p>
            <a:pPr algn="l">
              <a:spcAft>
                <a:spcPts val="200"/>
              </a:spcAft>
            </a:pPr>
            <a:r>
              <a:rPr sz="1100" b="1">
                <a:solidFill>
                  <a:srgbClr val="2563EB"/>
                </a:solidFill>
                <a:latin typeface="Segoe UI"/>
              </a:rPr>
              <a:t>Mathematical Risk Formula &amp; Gate Threshold:</a:t>
            </a:r>
          </a:p>
          <a:p>
            <a:pPr algn="l">
              <a:spcAft>
                <a:spcPts val="0"/>
              </a:spcAft>
            </a:pPr>
            <a:r>
              <a:rPr sz="1100" b="0">
                <a:solidFill>
                  <a:srgbClr val="0F172A"/>
                </a:solidFill>
                <a:latin typeface="Segoe UI"/>
              </a:rPr>
              <a:t>Score = min(100, Sum(BaseWeight * Confidence)). Weights: Critical = 40, High = 25, Medium = 12, Low = 5. Threshold: Score &gt;= 70 -&gt; NO-GO (Exit Code 1); Score &lt; 70 -&gt; GO. An LLM never generates numbers directly.</a:t>
            </a:r>
          </a:p>
        </p:txBody>
      </p:sp>
      <p:sp>
        <p:nvSpPr>
          <p:cNvPr id="12" name="TextBox 11"/>
          <p:cNvSpPr txBox="1"/>
          <p:nvPr/>
        </p:nvSpPr>
        <p:spPr>
          <a:xfrm>
            <a:off x="731520" y="6355080"/>
            <a:ext cx="10728655" cy="320040"/>
          </a:xfrm>
          <a:prstGeom prst="rect">
            <a:avLst/>
          </a:prstGeom>
          <a:noFill/>
        </p:spPr>
        <p:txBody>
          <a:bodyPr wrap="square" lIns="0" tIns="0" rIns="0" bIns="0">
            <a:spAutoFit/>
          </a:bodyPr>
          <a:lstStyle/>
          <a:p>
            <a:r>
              <a:rPr sz="1000">
                <a:solidFill>
                  <a:srgbClr val="94A3B8"/>
                </a:solidFill>
                <a:latin typeface="Segoe UI"/>
              </a:rPr>
              <a:t>DeploySafe  |  CSE 4011: Intelligent Developer Tools &amp; AI DevOps Workflows</a:t>
            </a:r>
            <a:r>
              <a:t>                                                  </a:t>
            </a:r>
            <a:r>
              <a:rPr sz="1000" b="1">
                <a:solidFill>
                  <a:srgbClr val="475569"/>
                </a:solidFill>
                <a:latin typeface="Segoe UI"/>
              </a:rPr>
              <a:t>06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1005840"/>
          </a:xfrm>
          <a:prstGeom prst="rect">
            <a:avLst/>
          </a:prstGeom>
          <a:noFill/>
        </p:spPr>
        <p:txBody>
          <a:bodyPr wrap="square" lIns="0" tIns="0" rIns="0" bIns="0">
            <a:spAutoFit/>
          </a:bodyPr>
          <a:lstStyle/>
          <a:p>
            <a:pPr>
              <a:spcAft>
                <a:spcPts val="400"/>
              </a:spcAft>
            </a:pPr>
            <a:r>
              <a:rPr sz="2800" b="1">
                <a:solidFill>
                  <a:srgbClr val="0F172A"/>
                </a:solidFill>
                <a:latin typeface="Segoe UI"/>
              </a:rPr>
              <a:t>The Working Product: Web Dashboard</a:t>
            </a:r>
          </a:p>
          <a:p>
            <a:pPr>
              <a:spcAft>
                <a:spcPts val="0"/>
              </a:spcAft>
            </a:pPr>
            <a:r>
              <a:rPr sz="1350" b="0">
                <a:solidFill>
                  <a:srgbClr val="475569"/>
                </a:solidFill>
                <a:latin typeface="Segoe UI"/>
              </a:rPr>
              <a:t>React 19 interface displaying risk scores, line citations, and execution telemetry.</a:t>
            </a:r>
          </a:p>
        </p:txBody>
      </p:sp>
      <p:sp>
        <p:nvSpPr>
          <p:cNvPr id="4" name="Rounded Rectangle 3"/>
          <p:cNvSpPr/>
          <p:nvPr/>
        </p:nvSpPr>
        <p:spPr>
          <a:xfrm>
            <a:off x="731520" y="1645920"/>
            <a:ext cx="333756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reenshot_dashboard.png"/>
          <p:cNvPicPr>
            <a:picLocks noChangeAspect="1"/>
          </p:cNvPicPr>
          <p:nvPr/>
        </p:nvPicPr>
        <p:blipFill>
          <a:blip r:embed="rId2"/>
          <a:stretch>
            <a:fillRect/>
          </a:stretch>
        </p:blipFill>
        <p:spPr>
          <a:xfrm>
            <a:off x="841248" y="1755648"/>
            <a:ext cx="3118104" cy="2514600"/>
          </a:xfrm>
          <a:prstGeom prst="rect">
            <a:avLst/>
          </a:prstGeom>
        </p:spPr>
      </p:pic>
      <p:sp>
        <p:nvSpPr>
          <p:cNvPr id="6" name="TextBox 5"/>
          <p:cNvSpPr txBox="1"/>
          <p:nvPr/>
        </p:nvSpPr>
        <p:spPr>
          <a:xfrm>
            <a:off x="914400" y="4389120"/>
            <a:ext cx="2971800" cy="1554480"/>
          </a:xfrm>
          <a:prstGeom prst="rect">
            <a:avLst/>
          </a:prstGeom>
          <a:noFill/>
        </p:spPr>
        <p:txBody>
          <a:bodyPr wrap="square" lIns="0" tIns="0" rIns="0" bIns="0">
            <a:spAutoFit/>
          </a:bodyPr>
          <a:lstStyle/>
          <a:p>
            <a:pPr algn="l">
              <a:spcAft>
                <a:spcPts val="400"/>
              </a:spcAft>
            </a:pPr>
            <a:r>
              <a:rPr sz="1400" b="1">
                <a:solidFill>
                  <a:srgbClr val="0F172A"/>
                </a:solidFill>
                <a:latin typeface="Segoe UI"/>
              </a:rPr>
              <a:t>Risk Overview Dashboard</a:t>
            </a:r>
          </a:p>
          <a:p>
            <a:pPr algn="l">
              <a:spcAft>
                <a:spcPts val="0"/>
              </a:spcAft>
            </a:pPr>
            <a:r>
              <a:rPr sz="1050" b="0">
                <a:solidFill>
                  <a:srgbClr val="475569"/>
                </a:solidFill>
                <a:latin typeface="Segoe UI"/>
              </a:rPr>
              <a:t>Displays the 0–100 risk score hero, severity count cards, and Critic validation status.</a:t>
            </a:r>
          </a:p>
        </p:txBody>
      </p:sp>
      <p:sp>
        <p:nvSpPr>
          <p:cNvPr id="7" name="Rounded Rectangle 6"/>
          <p:cNvSpPr/>
          <p:nvPr/>
        </p:nvSpPr>
        <p:spPr>
          <a:xfrm>
            <a:off x="4425696" y="1645920"/>
            <a:ext cx="333756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creenshot_findings.png"/>
          <p:cNvPicPr>
            <a:picLocks noChangeAspect="1"/>
          </p:cNvPicPr>
          <p:nvPr/>
        </p:nvPicPr>
        <p:blipFill>
          <a:blip r:embed="rId3"/>
          <a:stretch>
            <a:fillRect/>
          </a:stretch>
        </p:blipFill>
        <p:spPr>
          <a:xfrm>
            <a:off x="4535424" y="1755648"/>
            <a:ext cx="3118104" cy="2514600"/>
          </a:xfrm>
          <a:prstGeom prst="rect">
            <a:avLst/>
          </a:prstGeom>
        </p:spPr>
      </p:pic>
      <p:sp>
        <p:nvSpPr>
          <p:cNvPr id="9" name="TextBox 8"/>
          <p:cNvSpPr txBox="1"/>
          <p:nvPr/>
        </p:nvSpPr>
        <p:spPr>
          <a:xfrm>
            <a:off x="4608576" y="4389120"/>
            <a:ext cx="2971800" cy="1554480"/>
          </a:xfrm>
          <a:prstGeom prst="rect">
            <a:avLst/>
          </a:prstGeom>
          <a:noFill/>
        </p:spPr>
        <p:txBody>
          <a:bodyPr wrap="square" lIns="0" tIns="0" rIns="0" bIns="0">
            <a:spAutoFit/>
          </a:bodyPr>
          <a:lstStyle/>
          <a:p>
            <a:pPr algn="l">
              <a:spcAft>
                <a:spcPts val="400"/>
              </a:spcAft>
            </a:pPr>
            <a:r>
              <a:rPr sz="1400" b="1">
                <a:solidFill>
                  <a:srgbClr val="0F172A"/>
                </a:solidFill>
                <a:latin typeface="Segoe UI"/>
              </a:rPr>
              <a:t>Findings Directory</a:t>
            </a:r>
          </a:p>
          <a:p>
            <a:pPr algn="l">
              <a:spcAft>
                <a:spcPts val="0"/>
              </a:spcAft>
            </a:pPr>
            <a:r>
              <a:rPr sz="1050" b="0">
                <a:solidFill>
                  <a:srgbClr val="475569"/>
                </a:solidFill>
                <a:latin typeface="Segoe UI"/>
              </a:rPr>
              <a:t>Shows findings with exact file paths, line references, and copyable CLI remediation commands.</a:t>
            </a:r>
          </a:p>
        </p:txBody>
      </p:sp>
      <p:sp>
        <p:nvSpPr>
          <p:cNvPr id="10" name="Rounded Rectangle 9"/>
          <p:cNvSpPr/>
          <p:nvPr/>
        </p:nvSpPr>
        <p:spPr>
          <a:xfrm>
            <a:off x="8119872" y="1645920"/>
            <a:ext cx="333756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creenshot_analyze.png"/>
          <p:cNvPicPr>
            <a:picLocks noChangeAspect="1"/>
          </p:cNvPicPr>
          <p:nvPr/>
        </p:nvPicPr>
        <p:blipFill>
          <a:blip r:embed="rId4"/>
          <a:stretch>
            <a:fillRect/>
          </a:stretch>
        </p:blipFill>
        <p:spPr>
          <a:xfrm>
            <a:off x="8229600" y="1755648"/>
            <a:ext cx="3118104" cy="2514600"/>
          </a:xfrm>
          <a:prstGeom prst="rect">
            <a:avLst/>
          </a:prstGeom>
        </p:spPr>
      </p:pic>
      <p:sp>
        <p:nvSpPr>
          <p:cNvPr id="12" name="TextBox 11"/>
          <p:cNvSpPr txBox="1"/>
          <p:nvPr/>
        </p:nvSpPr>
        <p:spPr>
          <a:xfrm>
            <a:off x="8302752" y="4389120"/>
            <a:ext cx="2971800" cy="1554480"/>
          </a:xfrm>
          <a:prstGeom prst="rect">
            <a:avLst/>
          </a:prstGeom>
          <a:noFill/>
        </p:spPr>
        <p:txBody>
          <a:bodyPr wrap="square" lIns="0" tIns="0" rIns="0" bIns="0">
            <a:spAutoFit/>
          </a:bodyPr>
          <a:lstStyle/>
          <a:p>
            <a:pPr algn="l">
              <a:spcAft>
                <a:spcPts val="400"/>
              </a:spcAft>
            </a:pPr>
            <a:r>
              <a:rPr sz="1400" b="1">
                <a:solidFill>
                  <a:srgbClr val="0F172A"/>
                </a:solidFill>
                <a:latin typeface="Segoe UI"/>
              </a:rPr>
              <a:t>Execution Telemetry</a:t>
            </a:r>
          </a:p>
          <a:p>
            <a:pPr algn="l">
              <a:spcAft>
                <a:spcPts val="0"/>
              </a:spcAft>
            </a:pPr>
            <a:r>
              <a:rPr sz="1050" b="0">
                <a:solidFill>
                  <a:srgbClr val="475569"/>
                </a:solidFill>
                <a:latin typeface="Segoe UI"/>
              </a:rPr>
              <a:t>Displays per-agent execution times (~1.8s per agent), pipeline logs, and real-time status polling.</a:t>
            </a:r>
          </a:p>
        </p:txBody>
      </p:sp>
      <p:sp>
        <p:nvSpPr>
          <p:cNvPr id="13" name="TextBox 12"/>
          <p:cNvSpPr txBox="1"/>
          <p:nvPr/>
        </p:nvSpPr>
        <p:spPr>
          <a:xfrm>
            <a:off x="731520" y="6355080"/>
            <a:ext cx="10728655" cy="320040"/>
          </a:xfrm>
          <a:prstGeom prst="rect">
            <a:avLst/>
          </a:prstGeom>
          <a:noFill/>
        </p:spPr>
        <p:txBody>
          <a:bodyPr wrap="square" lIns="0" tIns="0" rIns="0" bIns="0">
            <a:spAutoFit/>
          </a:bodyPr>
          <a:lstStyle/>
          <a:p>
            <a:r>
              <a:rPr sz="1000">
                <a:solidFill>
                  <a:srgbClr val="94A3B8"/>
                </a:solidFill>
                <a:latin typeface="Segoe UI"/>
              </a:rPr>
              <a:t>DeploySafe  |  CSE 4011: Intelligent Developer Tools &amp; AI DevOps Workflows</a:t>
            </a:r>
            <a:r>
              <a:t>                                                  </a:t>
            </a:r>
            <a:r>
              <a:rPr sz="1000" b="1">
                <a:solidFill>
                  <a:srgbClr val="475569"/>
                </a:solidFill>
                <a:latin typeface="Segoe UI"/>
              </a:rPr>
              <a:t>07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1005840"/>
          </a:xfrm>
          <a:prstGeom prst="rect">
            <a:avLst/>
          </a:prstGeom>
          <a:noFill/>
        </p:spPr>
        <p:txBody>
          <a:bodyPr wrap="square" lIns="0" tIns="0" rIns="0" bIns="0">
            <a:spAutoFit/>
          </a:bodyPr>
          <a:lstStyle/>
          <a:p>
            <a:pPr>
              <a:spcAft>
                <a:spcPts val="400"/>
              </a:spcAft>
            </a:pPr>
            <a:r>
              <a:rPr sz="2800" b="1">
                <a:solidFill>
                  <a:srgbClr val="0F172A"/>
                </a:solidFill>
                <a:latin typeface="Segoe UI"/>
              </a:rPr>
              <a:t>Implementation Status &amp; Test Verification</a:t>
            </a:r>
          </a:p>
          <a:p>
            <a:pPr>
              <a:spcAft>
                <a:spcPts val="0"/>
              </a:spcAft>
            </a:pPr>
            <a:r>
              <a:rPr sz="1350" b="0">
                <a:solidFill>
                  <a:srgbClr val="475569"/>
                </a:solidFill>
                <a:latin typeface="Segoe UI"/>
              </a:rPr>
              <a:t>Completed components, work in progress, and automated test suite coverage.</a:t>
            </a:r>
          </a:p>
        </p:txBody>
      </p:sp>
      <p:sp>
        <p:nvSpPr>
          <p:cNvPr id="4" name="Rounded Rectangle 3"/>
          <p:cNvSpPr/>
          <p:nvPr/>
        </p:nvSpPr>
        <p:spPr>
          <a:xfrm>
            <a:off x="731520" y="1645920"/>
            <a:ext cx="5184648"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783080"/>
            <a:ext cx="4782312" cy="3383280"/>
          </a:xfrm>
          <a:prstGeom prst="rect">
            <a:avLst/>
          </a:prstGeom>
          <a:noFill/>
        </p:spPr>
        <p:txBody>
          <a:bodyPr wrap="square" lIns="0" tIns="0" rIns="0" bIns="0">
            <a:spAutoFit/>
          </a:bodyPr>
          <a:lstStyle/>
          <a:p>
            <a:pPr algn="l">
              <a:spcAft>
                <a:spcPts val="800"/>
              </a:spcAft>
            </a:pPr>
            <a:r>
              <a:rPr sz="1100" b="1">
                <a:solidFill>
                  <a:srgbClr val="2563EB"/>
                </a:solidFill>
                <a:latin typeface="Segoe UI"/>
              </a:rPr>
              <a:t>IMPLEMENTATION PROGRESS (MIDTERM)</a:t>
            </a:r>
          </a:p>
          <a:p>
            <a:pPr algn="l">
              <a:spcAft>
                <a:spcPts val="200"/>
              </a:spcAft>
            </a:pPr>
            <a:r>
              <a:rPr sz="1150" b="1">
                <a:solidFill>
                  <a:srgbClr val="0F172A"/>
                </a:solidFill>
                <a:latin typeface="Segoe UI"/>
              </a:rPr>
              <a:t>Implemented &amp; Operational</a:t>
            </a:r>
          </a:p>
          <a:p>
            <a:pPr algn="l">
              <a:spcAft>
                <a:spcPts val="200"/>
              </a:spcAft>
            </a:pPr>
            <a:r>
              <a:rPr sz="950" b="0">
                <a:solidFill>
                  <a:srgbClr val="475569"/>
                </a:solidFill>
                <a:latin typeface="Segoe UI"/>
              </a:rPr>
              <a:t>- Repository ingestion and Python AST code parser</a:t>
            </a:r>
          </a:p>
          <a:p>
            <a:pPr algn="l">
              <a:spcAft>
                <a:spcPts val="200"/>
              </a:spcAft>
            </a:pPr>
            <a:r>
              <a:rPr sz="950" b="0">
                <a:solidFill>
                  <a:srgbClr val="475569"/>
                </a:solidFill>
                <a:latin typeface="Segoe UI"/>
              </a:rPr>
              <a:t>- ChromaDB persistent vector store and markdown chunker</a:t>
            </a:r>
          </a:p>
          <a:p>
            <a:pPr algn="l">
              <a:spcAft>
                <a:spcPts val="200"/>
              </a:spcAft>
            </a:pPr>
            <a:r>
              <a:rPr sz="950" b="0">
                <a:solidFill>
                  <a:srgbClr val="475569"/>
                </a:solidFill>
                <a:latin typeface="Segoe UI"/>
              </a:rPr>
              <a:t>- 4 specialist agents (Code, Config, Dependency, Doc RAG)</a:t>
            </a:r>
          </a:p>
          <a:p>
            <a:pPr algn="l">
              <a:spcAft>
                <a:spcPts val="200"/>
              </a:spcAft>
            </a:pPr>
            <a:r>
              <a:rPr sz="950" b="0">
                <a:solidFill>
                  <a:srgbClr val="475569"/>
                </a:solidFill>
                <a:latin typeface="Segoe UI"/>
              </a:rPr>
              <a:t>- Adversarial Critic physical disk line verification</a:t>
            </a:r>
          </a:p>
          <a:p>
            <a:pPr algn="l">
              <a:spcAft>
                <a:spcPts val="200"/>
              </a:spcAft>
            </a:pPr>
            <a:r>
              <a:rPr sz="950" b="0">
                <a:solidFill>
                  <a:srgbClr val="475569"/>
                </a:solidFill>
                <a:latin typeface="Segoe UI"/>
              </a:rPr>
              <a:t>- Deterministic risk scoring formula and Go/No-Go gate</a:t>
            </a:r>
          </a:p>
          <a:p>
            <a:pPr algn="l">
              <a:spcAft>
                <a:spcPts val="200"/>
              </a:spcAft>
            </a:pPr>
            <a:r>
              <a:rPr sz="950" b="0">
                <a:solidFill>
                  <a:srgbClr val="475569"/>
                </a:solidFill>
                <a:latin typeface="Segoe UI"/>
              </a:rPr>
              <a:t>- FastAPI REST backend and React 19 web console</a:t>
            </a:r>
          </a:p>
          <a:p>
            <a:pPr algn="l">
              <a:spcAft>
                <a:spcPts val="200"/>
              </a:spcAft>
            </a:pPr>
            <a:r>
              <a:rPr sz="400" b="0">
                <a:solidFill>
                  <a:srgbClr val="0F172A"/>
                </a:solidFill>
                <a:latin typeface="Segoe UI"/>
              </a:rPr>
              <a:t/>
            </a:r>
          </a:p>
          <a:p>
            <a:pPr algn="l">
              <a:spcAft>
                <a:spcPts val="200"/>
              </a:spcAft>
            </a:pPr>
            <a:r>
              <a:rPr sz="1150" b="1">
                <a:solidFill>
                  <a:srgbClr val="0F172A"/>
                </a:solidFill>
                <a:latin typeface="Segoe UI"/>
              </a:rPr>
              <a:t>Currently In Progress / Next Phase</a:t>
            </a:r>
          </a:p>
          <a:p>
            <a:pPr algn="l">
              <a:spcAft>
                <a:spcPts val="200"/>
              </a:spcAft>
            </a:pPr>
            <a:r>
              <a:rPr sz="950" b="0">
                <a:solidFill>
                  <a:srgbClr val="475569"/>
                </a:solidFill>
                <a:latin typeface="Segoe UI"/>
              </a:rPr>
              <a:t>- GitHub Actions PR bot workflow integration</a:t>
            </a:r>
          </a:p>
          <a:p>
            <a:pPr algn="l">
              <a:spcAft>
                <a:spcPts val="200"/>
              </a:spcAft>
            </a:pPr>
            <a:r>
              <a:rPr sz="950" b="0">
                <a:solidFill>
                  <a:srgbClr val="475569"/>
                </a:solidFill>
                <a:latin typeface="Segoe UI"/>
              </a:rPr>
              <a:t>- Automated patch PR generator for simple config fixes</a:t>
            </a:r>
          </a:p>
          <a:p>
            <a:pPr algn="l">
              <a:spcAft>
                <a:spcPts val="200"/>
              </a:spcAft>
            </a:pPr>
            <a:r>
              <a:rPr sz="400" b="0">
                <a:solidFill>
                  <a:srgbClr val="0F172A"/>
                </a:solidFill>
                <a:latin typeface="Segoe UI"/>
              </a:rPr>
              <a:t/>
            </a:r>
          </a:p>
        </p:txBody>
      </p:sp>
      <p:sp>
        <p:nvSpPr>
          <p:cNvPr id="6" name="Rounded Rectangle 5"/>
          <p:cNvSpPr/>
          <p:nvPr/>
        </p:nvSpPr>
        <p:spPr>
          <a:xfrm>
            <a:off x="6275527" y="1645920"/>
            <a:ext cx="5184648"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76695" y="1783080"/>
            <a:ext cx="4782312" cy="3383280"/>
          </a:xfrm>
          <a:prstGeom prst="rect">
            <a:avLst/>
          </a:prstGeom>
          <a:noFill/>
        </p:spPr>
        <p:txBody>
          <a:bodyPr wrap="square" lIns="0" tIns="0" rIns="0" bIns="0">
            <a:spAutoFit/>
          </a:bodyPr>
          <a:lstStyle/>
          <a:p>
            <a:pPr algn="l">
              <a:spcAft>
                <a:spcPts val="800"/>
              </a:spcAft>
            </a:pPr>
            <a:r>
              <a:rPr sz="1100" b="1">
                <a:solidFill>
                  <a:srgbClr val="2563EB"/>
                </a:solidFill>
                <a:latin typeface="Segoe UI"/>
              </a:rPr>
              <a:t>62 AUTOMATED PYTEST SUITE BREAKDOWN</a:t>
            </a:r>
          </a:p>
          <a:p>
            <a:pPr algn="l">
              <a:spcAft>
                <a:spcPts val="100"/>
              </a:spcAft>
            </a:pPr>
            <a:r>
              <a:rPr sz="1100" b="1">
                <a:solidFill>
                  <a:srgbClr val="0F172A"/>
                </a:solidFill>
                <a:latin typeface="Segoe UI"/>
              </a:rPr>
              <a:t>- 18 Ingestion &amp; Vector RAG Tests</a:t>
            </a:r>
          </a:p>
          <a:p>
            <a:pPr algn="l">
              <a:spcAft>
                <a:spcPts val="500"/>
              </a:spcAft>
            </a:pPr>
            <a:r>
              <a:rPr sz="950" b="0">
                <a:solidFill>
                  <a:srgbClr val="475569"/>
                </a:solidFill>
                <a:latin typeface="Segoe UI"/>
              </a:rPr>
              <a:t>  AST parsing, markdown chunking, metadata retention, and ChromaDB cosine similarity retrieval.</a:t>
            </a:r>
          </a:p>
          <a:p>
            <a:pPr algn="l">
              <a:spcAft>
                <a:spcPts val="100"/>
              </a:spcAft>
            </a:pPr>
            <a:r>
              <a:rPr sz="1100" b="1">
                <a:solidFill>
                  <a:srgbClr val="0F172A"/>
                </a:solidFill>
                <a:latin typeface="Segoe UI"/>
              </a:rPr>
              <a:t>- 16 Multi-Agent Orchestration Tests</a:t>
            </a:r>
          </a:p>
          <a:p>
            <a:pPr algn="l">
              <a:spcAft>
                <a:spcPts val="500"/>
              </a:spcAft>
            </a:pPr>
            <a:r>
              <a:rPr sz="950" b="0">
                <a:solidFill>
                  <a:srgbClr val="475569"/>
                </a:solidFill>
                <a:latin typeface="Segoe UI"/>
              </a:rPr>
              <a:t>  Concurrent task dispatch, isolated domain prompts, and Groq/Mock LLM fallback resilience.</a:t>
            </a:r>
          </a:p>
          <a:p>
            <a:pPr algn="l">
              <a:spcAft>
                <a:spcPts val="100"/>
              </a:spcAft>
            </a:pPr>
            <a:r>
              <a:rPr sz="1100" b="1">
                <a:solidFill>
                  <a:srgbClr val="0F172A"/>
                </a:solidFill>
                <a:latin typeface="Segoe UI"/>
              </a:rPr>
              <a:t>- 14 Adversarial Critic Verification Tests</a:t>
            </a:r>
          </a:p>
          <a:p>
            <a:pPr algn="l">
              <a:spcAft>
                <a:spcPts val="500"/>
              </a:spcAft>
            </a:pPr>
            <a:r>
              <a:rPr sz="950" b="0">
                <a:solidFill>
                  <a:srgbClr val="475569"/>
                </a:solidFill>
                <a:latin typeface="Segoe UI"/>
              </a:rPr>
              <a:t>  Physical file existence verification, line reference bounds, and false-positive suppression heuristics.</a:t>
            </a:r>
          </a:p>
          <a:p>
            <a:pPr algn="l">
              <a:spcAft>
                <a:spcPts val="100"/>
              </a:spcAft>
            </a:pPr>
            <a:r>
              <a:rPr sz="1100" b="1">
                <a:solidFill>
                  <a:srgbClr val="0F172A"/>
                </a:solidFill>
                <a:latin typeface="Segoe UI"/>
              </a:rPr>
              <a:t>- 14 Deterministic Risk &amp; API Gateway Tests</a:t>
            </a:r>
          </a:p>
          <a:p>
            <a:pPr algn="l">
              <a:spcAft>
                <a:spcPts val="500"/>
              </a:spcAft>
            </a:pPr>
            <a:r>
              <a:rPr sz="950" b="0">
                <a:solidFill>
                  <a:srgbClr val="475569"/>
                </a:solidFill>
                <a:latin typeface="Segoe UI"/>
              </a:rPr>
              <a:t>  Mathematical formula consistency, Go/No-Go release threshold, and Pydantic schema validation.</a:t>
            </a:r>
          </a:p>
        </p:txBody>
      </p:sp>
      <p:sp>
        <p:nvSpPr>
          <p:cNvPr id="8" name="Rounded Rectangle 7"/>
          <p:cNvSpPr/>
          <p:nvPr/>
        </p:nvSpPr>
        <p:spPr>
          <a:xfrm>
            <a:off x="731520" y="5486400"/>
            <a:ext cx="10728655" cy="777240"/>
          </a:xfrm>
          <a:prstGeom prst="roundRect">
            <a:avLst/>
          </a:prstGeom>
          <a:solidFill>
            <a:srgbClr val="F0FDF4"/>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596128"/>
            <a:ext cx="10362895" cy="548640"/>
          </a:xfrm>
          <a:prstGeom prst="rect">
            <a:avLst/>
          </a:prstGeom>
          <a:noFill/>
        </p:spPr>
        <p:txBody>
          <a:bodyPr wrap="square" lIns="0" tIns="0" rIns="0" bIns="0">
            <a:spAutoFit/>
          </a:bodyPr>
          <a:lstStyle/>
          <a:p>
            <a:pPr algn="l">
              <a:spcAft>
                <a:spcPts val="200"/>
              </a:spcAft>
            </a:pPr>
            <a:r>
              <a:rPr sz="1050" b="1">
                <a:solidFill>
                  <a:srgbClr val="16A34A"/>
                </a:solidFill>
                <a:latin typeface="Segoe UI"/>
              </a:rPr>
              <a:t>Test Execution &amp; Quality Note (5% Rubric):</a:t>
            </a:r>
          </a:p>
          <a:p>
            <a:pPr algn="l">
              <a:spcAft>
                <a:spcPts val="0"/>
              </a:spcAft>
            </a:pPr>
            <a:r>
              <a:rPr sz="1100" b="0">
                <a:solidFill>
                  <a:srgbClr val="0F172A"/>
                </a:solidFill>
                <a:latin typeface="Segoe UI"/>
              </a:rPr>
              <a:t>All 62 unit and integration tests run locally and in CI with zero external API dependencies using a deterministic mock provider, ensuring fast, reproducible execution.</a:t>
            </a:r>
          </a:p>
        </p:txBody>
      </p:sp>
      <p:sp>
        <p:nvSpPr>
          <p:cNvPr id="10" name="TextBox 9"/>
          <p:cNvSpPr txBox="1"/>
          <p:nvPr/>
        </p:nvSpPr>
        <p:spPr>
          <a:xfrm>
            <a:off x="731520" y="6355080"/>
            <a:ext cx="10728655" cy="320040"/>
          </a:xfrm>
          <a:prstGeom prst="rect">
            <a:avLst/>
          </a:prstGeom>
          <a:noFill/>
        </p:spPr>
        <p:txBody>
          <a:bodyPr wrap="square" lIns="0" tIns="0" rIns="0" bIns="0">
            <a:spAutoFit/>
          </a:bodyPr>
          <a:lstStyle/>
          <a:p>
            <a:r>
              <a:rPr sz="1000">
                <a:solidFill>
                  <a:srgbClr val="94A3B8"/>
                </a:solidFill>
                <a:latin typeface="Segoe UI"/>
              </a:rPr>
              <a:t>DeploySafe  |  CSE 4011: Intelligent Developer Tools &amp; AI DevOps Workflows</a:t>
            </a:r>
            <a:r>
              <a:t>                                                  </a:t>
            </a:r>
            <a:r>
              <a:rPr sz="1000" b="1">
                <a:solidFill>
                  <a:srgbClr val="475569"/>
                </a:solidFill>
                <a:latin typeface="Segoe UI"/>
              </a:rPr>
              <a:t>08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1005840"/>
          </a:xfrm>
          <a:prstGeom prst="rect">
            <a:avLst/>
          </a:prstGeom>
          <a:noFill/>
        </p:spPr>
        <p:txBody>
          <a:bodyPr wrap="square" lIns="0" tIns="0" rIns="0" bIns="0">
            <a:spAutoFit/>
          </a:bodyPr>
          <a:lstStyle/>
          <a:p>
            <a:pPr>
              <a:spcAft>
                <a:spcPts val="400"/>
              </a:spcAft>
            </a:pPr>
            <a:r>
              <a:rPr sz="2800" b="1">
                <a:solidFill>
                  <a:srgbClr val="0F172A"/>
                </a:solidFill>
                <a:latin typeface="Segoe UI"/>
              </a:rPr>
              <a:t>Docker Architecture &amp; Tested Repositories</a:t>
            </a:r>
          </a:p>
          <a:p>
            <a:pPr>
              <a:spcAft>
                <a:spcPts val="0"/>
              </a:spcAft>
            </a:pPr>
            <a:r>
              <a:rPr sz="1350" b="0">
                <a:solidFill>
                  <a:srgbClr val="475569"/>
                </a:solidFill>
                <a:latin typeface="Segoe UI"/>
              </a:rPr>
              <a:t>Multi-container setup via Docker Compose and evaluation across real codebases.</a:t>
            </a:r>
          </a:p>
        </p:txBody>
      </p:sp>
      <p:sp>
        <p:nvSpPr>
          <p:cNvPr id="4" name="Rounded Rectangle 3"/>
          <p:cNvSpPr/>
          <p:nvPr/>
        </p:nvSpPr>
        <p:spPr>
          <a:xfrm>
            <a:off x="731520" y="1645920"/>
            <a:ext cx="5184648" cy="3611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810512"/>
            <a:ext cx="4782312" cy="3282696"/>
          </a:xfrm>
          <a:prstGeom prst="rect">
            <a:avLst/>
          </a:prstGeom>
          <a:noFill/>
        </p:spPr>
        <p:txBody>
          <a:bodyPr wrap="square" lIns="0" tIns="0" rIns="0" bIns="0">
            <a:spAutoFit/>
          </a:bodyPr>
          <a:lstStyle/>
          <a:p>
            <a:pPr algn="l">
              <a:spcAft>
                <a:spcPts val="600"/>
              </a:spcAft>
            </a:pPr>
            <a:r>
              <a:rPr sz="1100" b="1">
                <a:solidFill>
                  <a:srgbClr val="2563EB"/>
                </a:solidFill>
                <a:latin typeface="Segoe UI"/>
              </a:rPr>
              <a:t>DOCKER COMPOSE SETUP</a:t>
            </a:r>
          </a:p>
          <a:p>
            <a:pPr algn="l">
              <a:spcAft>
                <a:spcPts val="100"/>
              </a:spcAft>
            </a:pPr>
            <a:r>
              <a:rPr sz="1100" b="1">
                <a:solidFill>
                  <a:srgbClr val="0F172A"/>
                </a:solidFill>
                <a:latin typeface="Segoe UI"/>
              </a:rPr>
              <a:t>- FastAPI Backend Container:</a:t>
            </a:r>
          </a:p>
          <a:p>
            <a:pPr algn="l">
              <a:spcAft>
                <a:spcPts val="500"/>
              </a:spcAft>
            </a:pPr>
            <a:r>
              <a:rPr sz="950" b="0">
                <a:solidFill>
                  <a:srgbClr val="475569"/>
                </a:solidFill>
                <a:latin typeface="Segoe UI"/>
              </a:rPr>
              <a:t>  Runs python:3.11-slim under dedicated non-root user 'appuser' (UID 1000) for security. Mounts persistent volume for ChromaDB SQLite.</a:t>
            </a:r>
          </a:p>
          <a:p>
            <a:pPr algn="l">
              <a:spcAft>
                <a:spcPts val="100"/>
              </a:spcAft>
            </a:pPr>
            <a:r>
              <a:rPr sz="1100" b="1">
                <a:solidFill>
                  <a:srgbClr val="0F172A"/>
                </a:solidFill>
                <a:latin typeface="Segoe UI"/>
              </a:rPr>
              <a:t>- Nginx Reverse Proxy:</a:t>
            </a:r>
          </a:p>
          <a:p>
            <a:pPr algn="l">
              <a:spcAft>
                <a:spcPts val="500"/>
              </a:spcAft>
            </a:pPr>
            <a:r>
              <a:rPr sz="950" b="0">
                <a:solidFill>
                  <a:srgbClr val="475569"/>
                </a:solidFill>
                <a:latin typeface="Segoe UI"/>
              </a:rPr>
              <a:t>  Lightweight 21MB Alpine Nginx image. Serves compiled React 19 static assets and reverse-proxies /api/ requests, eliminating CORS friction.</a:t>
            </a:r>
          </a:p>
          <a:p>
            <a:pPr algn="l">
              <a:spcAft>
                <a:spcPts val="100"/>
              </a:spcAft>
            </a:pPr>
            <a:r>
              <a:rPr sz="1100" b="1">
                <a:solidFill>
                  <a:srgbClr val="0F172A"/>
                </a:solidFill>
                <a:latin typeface="Segoe UI"/>
              </a:rPr>
              <a:t>- Isolated Bridge Network:</a:t>
            </a:r>
          </a:p>
          <a:p>
            <a:pPr algn="l">
              <a:spcAft>
                <a:spcPts val="500"/>
              </a:spcAft>
            </a:pPr>
            <a:r>
              <a:rPr sz="950" b="0">
                <a:solidFill>
                  <a:srgbClr val="475569"/>
                </a:solidFill>
                <a:latin typeface="Segoe UI"/>
              </a:rPr>
              <a:t>  Both containers communicate over internal 'deploysafe-net' bridge network with Docker health checks on /api/v1/health.</a:t>
            </a:r>
          </a:p>
          <a:p>
            <a:pPr algn="l">
              <a:spcAft>
                <a:spcPts val="100"/>
              </a:spcAft>
            </a:pPr>
            <a:r>
              <a:rPr sz="1100" b="1">
                <a:solidFill>
                  <a:srgbClr val="0F172A"/>
                </a:solidFill>
                <a:latin typeface="Segoe UI"/>
              </a:rPr>
              <a:t>- Single-Command Startup:</a:t>
            </a:r>
          </a:p>
          <a:p>
            <a:pPr algn="l">
              <a:spcAft>
                <a:spcPts val="500"/>
              </a:spcAft>
            </a:pPr>
            <a:r>
              <a:rPr sz="950" b="0">
                <a:solidFill>
                  <a:srgbClr val="475569"/>
                </a:solidFill>
                <a:latin typeface="Segoe UI"/>
              </a:rPr>
              <a:t>  Runs with 'docker compose up --build -d', providing instant, reproducible deployment across Linux, macOS, and Windows.</a:t>
            </a:r>
          </a:p>
        </p:txBody>
      </p:sp>
      <p:sp>
        <p:nvSpPr>
          <p:cNvPr id="6" name="Rounded Rectangle 5"/>
          <p:cNvSpPr/>
          <p:nvPr/>
        </p:nvSpPr>
        <p:spPr>
          <a:xfrm>
            <a:off x="6275527" y="1645920"/>
            <a:ext cx="5184648" cy="3611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76695" y="1810512"/>
            <a:ext cx="4782312" cy="3282696"/>
          </a:xfrm>
          <a:prstGeom prst="rect">
            <a:avLst/>
          </a:prstGeom>
          <a:noFill/>
        </p:spPr>
        <p:txBody>
          <a:bodyPr wrap="square" lIns="0" tIns="0" rIns="0" bIns="0">
            <a:spAutoFit/>
          </a:bodyPr>
          <a:lstStyle/>
          <a:p>
            <a:pPr algn="l">
              <a:spcAft>
                <a:spcPts val="600"/>
              </a:spcAft>
            </a:pPr>
            <a:r>
              <a:rPr sz="1100" b="1">
                <a:solidFill>
                  <a:srgbClr val="2563EB"/>
                </a:solidFill>
                <a:latin typeface="Segoe UI"/>
              </a:rPr>
              <a:t>EVALUATION REPOSITORIES TESTED</a:t>
            </a:r>
          </a:p>
          <a:p>
            <a:pPr algn="l">
              <a:spcAft>
                <a:spcPts val="100"/>
              </a:spcAft>
            </a:pPr>
            <a:r>
              <a:rPr sz="1100" b="1">
                <a:solidFill>
                  <a:srgbClr val="0F172A"/>
                </a:solidFill>
                <a:latin typeface="Segoe UI"/>
              </a:rPr>
              <a:t>- web-scrape (Node.js):</a:t>
            </a:r>
          </a:p>
          <a:p>
            <a:pPr algn="l">
              <a:spcAft>
                <a:spcPts val="500"/>
              </a:spcAft>
            </a:pPr>
            <a:r>
              <a:rPr sz="950" b="0">
                <a:solidFill>
                  <a:srgbClr val="475569"/>
                </a:solidFill>
                <a:latin typeface="Segoe UI"/>
              </a:rPr>
              <a:t>  Detected unpinned package dependencies and missing production build script in package.json.</a:t>
            </a:r>
          </a:p>
          <a:p>
            <a:pPr algn="l">
              <a:spcAft>
                <a:spcPts val="100"/>
              </a:spcAft>
            </a:pPr>
            <a:r>
              <a:rPr sz="1100" b="1">
                <a:solidFill>
                  <a:srgbClr val="0F172A"/>
                </a:solidFill>
                <a:latin typeface="Segoe UI"/>
              </a:rPr>
              <a:t>- bottle-app (Python WSGI):</a:t>
            </a:r>
          </a:p>
          <a:p>
            <a:pPr algn="l">
              <a:spcAft>
                <a:spcPts val="500"/>
              </a:spcAft>
            </a:pPr>
            <a:r>
              <a:rPr sz="950" b="0">
                <a:solidFill>
                  <a:srgbClr val="475569"/>
                </a:solidFill>
                <a:latin typeface="Segoe UI"/>
              </a:rPr>
              <a:t>  Detected missing production WSGI server (gunicorn) in Dockerfile and missing healthcheck endpoint.</a:t>
            </a:r>
          </a:p>
          <a:p>
            <a:pPr algn="l">
              <a:spcAft>
                <a:spcPts val="100"/>
              </a:spcAft>
            </a:pPr>
            <a:r>
              <a:rPr sz="1100" b="1">
                <a:solidFill>
                  <a:srgbClr val="0F172A"/>
                </a:solidFill>
                <a:latin typeface="Segoe UI"/>
              </a:rPr>
              <a:t>- demo-microservice (Python):</a:t>
            </a:r>
          </a:p>
          <a:p>
            <a:pPr algn="l">
              <a:spcAft>
                <a:spcPts val="500"/>
              </a:spcAft>
            </a:pPr>
            <a:r>
              <a:rPr sz="950" b="0">
                <a:solidFill>
                  <a:srgbClr val="475569"/>
                </a:solidFill>
                <a:latin typeface="Segoe UI"/>
              </a:rPr>
              <a:t>  Detected missing Redis container service in docker-compose.yml and undeclared DATABASE_URL secret.</a:t>
            </a:r>
          </a:p>
          <a:p>
            <a:pPr algn="l">
              <a:spcAft>
                <a:spcPts val="100"/>
              </a:spcAft>
            </a:pPr>
            <a:r>
              <a:rPr sz="1100" b="1">
                <a:solidFill>
                  <a:srgbClr val="0F172A"/>
                </a:solidFill>
                <a:latin typeface="Segoe UI"/>
              </a:rPr>
              <a:t>- Execution Speed Benchmark:</a:t>
            </a:r>
          </a:p>
          <a:p>
            <a:pPr algn="l">
              <a:spcAft>
                <a:spcPts val="500"/>
              </a:spcAft>
            </a:pPr>
            <a:r>
              <a:rPr sz="950" b="0">
                <a:solidFill>
                  <a:srgbClr val="475569"/>
                </a:solidFill>
                <a:latin typeface="Segoe UI"/>
              </a:rPr>
              <a:t>  End-to-end multi-agent audit, Critic verification, and Groq LLM synthesis complete in ~5.0 seconds.</a:t>
            </a:r>
          </a:p>
        </p:txBody>
      </p:sp>
      <p:sp>
        <p:nvSpPr>
          <p:cNvPr id="8" name="Rounded Rectangle 7"/>
          <p:cNvSpPr/>
          <p:nvPr/>
        </p:nvSpPr>
        <p:spPr>
          <a:xfrm>
            <a:off x="731520" y="5440680"/>
            <a:ext cx="10728655" cy="777240"/>
          </a:xfrm>
          <a:prstGeom prst="roundRect">
            <a:avLst/>
          </a:prstGeom>
          <a:solidFill>
            <a:srgbClr val="EFF6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559552"/>
            <a:ext cx="10362895" cy="548640"/>
          </a:xfrm>
          <a:prstGeom prst="rect">
            <a:avLst/>
          </a:prstGeom>
          <a:noFill/>
        </p:spPr>
        <p:txBody>
          <a:bodyPr wrap="square" lIns="0" tIns="0" rIns="0" bIns="0">
            <a:spAutoFit/>
          </a:bodyPr>
          <a:lstStyle/>
          <a:p>
            <a:pPr algn="l">
              <a:spcAft>
                <a:spcPts val="200"/>
              </a:spcAft>
            </a:pPr>
            <a:r>
              <a:rPr sz="1050" b="1">
                <a:solidFill>
                  <a:srgbClr val="2563EB"/>
                </a:solidFill>
                <a:latin typeface="Segoe UI"/>
              </a:rPr>
              <a:t>Deployment Verification Status:</a:t>
            </a:r>
          </a:p>
          <a:p>
            <a:pPr algn="l">
              <a:spcAft>
                <a:spcPts val="0"/>
              </a:spcAft>
            </a:pPr>
            <a:r>
              <a:rPr sz="1100" b="0">
                <a:solidFill>
                  <a:srgbClr val="0F172A"/>
                </a:solidFill>
                <a:latin typeface="Segoe UI"/>
              </a:rPr>
              <a:t>DeploySafe runs self-contained in Docker Compose with zero host dependencies other than Docker itself. Ready for cloud cluster deployment (ECS, Cloud Run, Kubernetes).</a:t>
            </a:r>
          </a:p>
        </p:txBody>
      </p:sp>
      <p:sp>
        <p:nvSpPr>
          <p:cNvPr id="10" name="TextBox 9"/>
          <p:cNvSpPr txBox="1"/>
          <p:nvPr/>
        </p:nvSpPr>
        <p:spPr>
          <a:xfrm>
            <a:off x="731520" y="6355080"/>
            <a:ext cx="10728655" cy="320040"/>
          </a:xfrm>
          <a:prstGeom prst="rect">
            <a:avLst/>
          </a:prstGeom>
          <a:noFill/>
        </p:spPr>
        <p:txBody>
          <a:bodyPr wrap="square" lIns="0" tIns="0" rIns="0" bIns="0">
            <a:spAutoFit/>
          </a:bodyPr>
          <a:lstStyle/>
          <a:p>
            <a:r>
              <a:rPr sz="1000">
                <a:solidFill>
                  <a:srgbClr val="94A3B8"/>
                </a:solidFill>
                <a:latin typeface="Segoe UI"/>
              </a:rPr>
              <a:t>DeploySafe  |  CSE 4011: Intelligent Developer Tools &amp; AI DevOps Workflows</a:t>
            </a:r>
            <a:r>
              <a:t>                                                  </a:t>
            </a:r>
            <a:r>
              <a:rPr sz="1000" b="1">
                <a:solidFill>
                  <a:srgbClr val="475569"/>
                </a:solidFill>
                <a:latin typeface="Segoe UI"/>
              </a:rPr>
              <a:t>09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1005840"/>
          </a:xfrm>
          <a:prstGeom prst="rect">
            <a:avLst/>
          </a:prstGeom>
          <a:noFill/>
        </p:spPr>
        <p:txBody>
          <a:bodyPr wrap="square" lIns="0" tIns="0" rIns="0" bIns="0">
            <a:spAutoFit/>
          </a:bodyPr>
          <a:lstStyle/>
          <a:p>
            <a:pPr>
              <a:spcAft>
                <a:spcPts val="400"/>
              </a:spcAft>
            </a:pPr>
            <a:r>
              <a:rPr sz="2800" b="1">
                <a:solidFill>
                  <a:srgbClr val="0F172A"/>
                </a:solidFill>
                <a:latin typeface="Segoe UI"/>
              </a:rPr>
              <a:t>Project Roadmap &amp; Individual Responsibilities</a:t>
            </a:r>
          </a:p>
          <a:p>
            <a:pPr>
              <a:spcAft>
                <a:spcPts val="0"/>
              </a:spcAft>
            </a:pPr>
            <a:r>
              <a:rPr sz="1350" b="0">
                <a:solidFill>
                  <a:srgbClr val="475569"/>
                </a:solidFill>
                <a:latin typeface="Segoe UI"/>
              </a:rPr>
              <a:t>Next milestones for final evaluation and individual responsibility breakdown.</a:t>
            </a:r>
          </a:p>
        </p:txBody>
      </p:sp>
      <p:sp>
        <p:nvSpPr>
          <p:cNvPr id="4" name="Rounded Rectangle 3"/>
          <p:cNvSpPr/>
          <p:nvPr/>
        </p:nvSpPr>
        <p:spPr>
          <a:xfrm>
            <a:off x="731520" y="1645920"/>
            <a:ext cx="5184648" cy="3611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810512"/>
            <a:ext cx="4782312" cy="3282696"/>
          </a:xfrm>
          <a:prstGeom prst="rect">
            <a:avLst/>
          </a:prstGeom>
          <a:noFill/>
        </p:spPr>
        <p:txBody>
          <a:bodyPr wrap="square" lIns="0" tIns="0" rIns="0" bIns="0">
            <a:spAutoFit/>
          </a:bodyPr>
          <a:lstStyle/>
          <a:p>
            <a:pPr algn="l">
              <a:spcAft>
                <a:spcPts val="600"/>
              </a:spcAft>
            </a:pPr>
            <a:r>
              <a:rPr sz="1100" b="1">
                <a:solidFill>
                  <a:srgbClr val="2563EB"/>
                </a:solidFill>
                <a:latin typeface="Segoe UI"/>
              </a:rPr>
              <a:t>ROADMAP FOR FINAL EVALUATION (A3)</a:t>
            </a:r>
          </a:p>
          <a:p>
            <a:pPr algn="l">
              <a:spcAft>
                <a:spcPts val="100"/>
              </a:spcAft>
            </a:pPr>
            <a:r>
              <a:rPr sz="1100" b="1">
                <a:solidFill>
                  <a:srgbClr val="0F172A"/>
                </a:solidFill>
                <a:latin typeface="Segoe UI"/>
              </a:rPr>
              <a:t>- GitHub Action Bot Integration:</a:t>
            </a:r>
          </a:p>
          <a:p>
            <a:pPr algn="l">
              <a:spcAft>
                <a:spcPts val="500"/>
              </a:spcAft>
            </a:pPr>
            <a:r>
              <a:rPr sz="950" b="0">
                <a:solidFill>
                  <a:srgbClr val="475569"/>
                </a:solidFill>
                <a:latin typeface="Segoe UI"/>
              </a:rPr>
              <a:t>  Trigger analysis automatically on pull request events and post sticky comments with the risk breakdown.</a:t>
            </a:r>
          </a:p>
          <a:p>
            <a:pPr algn="l">
              <a:spcAft>
                <a:spcPts val="100"/>
              </a:spcAft>
            </a:pPr>
            <a:r>
              <a:rPr sz="1100" b="1">
                <a:solidFill>
                  <a:srgbClr val="0F172A"/>
                </a:solidFill>
                <a:latin typeface="Segoe UI"/>
              </a:rPr>
              <a:t>- Diff-Targeted Scans:</a:t>
            </a:r>
          </a:p>
          <a:p>
            <a:pPr algn="l">
              <a:spcAft>
                <a:spcPts val="500"/>
              </a:spcAft>
            </a:pPr>
            <a:r>
              <a:rPr sz="950" b="0">
                <a:solidFill>
                  <a:srgbClr val="475569"/>
                </a:solidFill>
                <a:latin typeface="Segoe UI"/>
              </a:rPr>
              <a:t>  Analyze only files modified in the pull request to reduce analysis execution time to under 2.0 seconds.</a:t>
            </a:r>
          </a:p>
          <a:p>
            <a:pPr algn="l">
              <a:spcAft>
                <a:spcPts val="100"/>
              </a:spcAft>
            </a:pPr>
            <a:r>
              <a:rPr sz="1100" b="1">
                <a:solidFill>
                  <a:srgbClr val="0F172A"/>
                </a:solidFill>
                <a:latin typeface="Segoe UI"/>
              </a:rPr>
              <a:t>- Automated Patch PR Generator:</a:t>
            </a:r>
          </a:p>
          <a:p>
            <a:pPr algn="l">
              <a:spcAft>
                <a:spcPts val="500"/>
              </a:spcAft>
            </a:pPr>
            <a:r>
              <a:rPr sz="950" b="0">
                <a:solidFill>
                  <a:srgbClr val="475569"/>
                </a:solidFill>
                <a:latin typeface="Segoe UI"/>
              </a:rPr>
              <a:t>  Generate ready-to-merge fix PRs for common issues (e.g., adding missing services to docker-compose.yml or pinning tags).</a:t>
            </a:r>
          </a:p>
          <a:p>
            <a:pPr algn="l">
              <a:spcAft>
                <a:spcPts val="100"/>
              </a:spcAft>
            </a:pPr>
            <a:r>
              <a:rPr sz="1100" b="1">
                <a:solidFill>
                  <a:srgbClr val="0F172A"/>
                </a:solidFill>
                <a:latin typeface="Segoe UI"/>
              </a:rPr>
              <a:t>- Custom Policy Rules:</a:t>
            </a:r>
          </a:p>
          <a:p>
            <a:pPr algn="l">
              <a:spcAft>
                <a:spcPts val="500"/>
              </a:spcAft>
            </a:pPr>
            <a:r>
              <a:rPr sz="950" b="0">
                <a:solidFill>
                  <a:srgbClr val="475569"/>
                </a:solidFill>
                <a:latin typeface="Segoe UI"/>
              </a:rPr>
              <a:t>  Allow teams to define organization-specific rules using declarative YAML policies.</a:t>
            </a:r>
          </a:p>
        </p:txBody>
      </p:sp>
      <p:sp>
        <p:nvSpPr>
          <p:cNvPr id="6" name="Rounded Rectangle 5"/>
          <p:cNvSpPr/>
          <p:nvPr/>
        </p:nvSpPr>
        <p:spPr>
          <a:xfrm>
            <a:off x="6275527" y="1645920"/>
            <a:ext cx="5184648" cy="3611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76695" y="1810512"/>
            <a:ext cx="4782312" cy="3282696"/>
          </a:xfrm>
          <a:prstGeom prst="rect">
            <a:avLst/>
          </a:prstGeom>
          <a:noFill/>
        </p:spPr>
        <p:txBody>
          <a:bodyPr wrap="square" lIns="0" tIns="0" rIns="0" bIns="0">
            <a:spAutoFit/>
          </a:bodyPr>
          <a:lstStyle/>
          <a:p>
            <a:pPr algn="l">
              <a:spcAft>
                <a:spcPts val="400"/>
              </a:spcAft>
            </a:pPr>
            <a:r>
              <a:rPr sz="1100" b="1">
                <a:solidFill>
                  <a:srgbClr val="2563EB"/>
                </a:solidFill>
                <a:latin typeface="Segoe UI"/>
              </a:rPr>
              <a:t>INDIVIDUAL RESPONSIBILITIES (CRITERION C10)</a:t>
            </a:r>
          </a:p>
          <a:p>
            <a:pPr algn="l">
              <a:spcAft>
                <a:spcPts val="800"/>
              </a:spcAft>
            </a:pPr>
            <a:r>
              <a:rPr sz="1200" b="1">
                <a:solidFill>
                  <a:srgbClr val="0F172A"/>
                </a:solidFill>
                <a:latin typeface="Segoe UI"/>
              </a:rPr>
              <a:t>Yash Rao — Lead Architect &amp; Developer</a:t>
            </a:r>
          </a:p>
          <a:p>
            <a:pPr algn="l">
              <a:spcAft>
                <a:spcPts val="100"/>
              </a:spcAft>
            </a:pPr>
            <a:r>
              <a:rPr sz="1000" b="1">
                <a:solidFill>
                  <a:srgbClr val="0F172A"/>
                </a:solidFill>
                <a:latin typeface="Segoe UI"/>
              </a:rPr>
              <a:t>- Backend &amp; API Architecture:</a:t>
            </a:r>
          </a:p>
          <a:p>
            <a:pPr algn="l">
              <a:spcAft>
                <a:spcPts val="300"/>
              </a:spcAft>
            </a:pPr>
            <a:r>
              <a:rPr sz="900" b="0">
                <a:solidFill>
                  <a:srgbClr val="475569"/>
                </a:solidFill>
                <a:latin typeface="Segoe UI"/>
              </a:rPr>
              <a:t>  Designed FastAPI endpoints (/analyze, /repositories, /health) and Pydantic data schemas.</a:t>
            </a:r>
          </a:p>
          <a:p>
            <a:pPr algn="l">
              <a:spcAft>
                <a:spcPts val="100"/>
              </a:spcAft>
            </a:pPr>
            <a:r>
              <a:rPr sz="1000" b="1">
                <a:solidFill>
                  <a:srgbClr val="0F172A"/>
                </a:solidFill>
                <a:latin typeface="Segoe UI"/>
              </a:rPr>
              <a:t>- RAG &amp; Ingestion Engine:</a:t>
            </a:r>
          </a:p>
          <a:p>
            <a:pPr algn="l">
              <a:spcAft>
                <a:spcPts val="300"/>
              </a:spcAft>
            </a:pPr>
            <a:r>
              <a:rPr sz="900" b="0">
                <a:solidFill>
                  <a:srgbClr val="475569"/>
                </a:solidFill>
                <a:latin typeface="Segoe UI"/>
              </a:rPr>
              <a:t>  Implemented ChromaDB vector indexing and header-aware markdown AST chunking.</a:t>
            </a:r>
          </a:p>
          <a:p>
            <a:pPr algn="l">
              <a:spcAft>
                <a:spcPts val="100"/>
              </a:spcAft>
            </a:pPr>
            <a:r>
              <a:rPr sz="1000" b="1">
                <a:solidFill>
                  <a:srgbClr val="0F172A"/>
                </a:solidFill>
                <a:latin typeface="Segoe UI"/>
              </a:rPr>
              <a:t>- Multi-Agent Logic &amp; Prompts:</a:t>
            </a:r>
          </a:p>
          <a:p>
            <a:pPr algn="l">
              <a:spcAft>
                <a:spcPts val="300"/>
              </a:spcAft>
            </a:pPr>
            <a:r>
              <a:rPr sz="900" b="0">
                <a:solidFill>
                  <a:srgbClr val="475569"/>
                </a:solidFill>
                <a:latin typeface="Segoe UI"/>
              </a:rPr>
              <a:t>  Engineered specialist agent prompts, Critic validation checks, and Groq LLM integration.</a:t>
            </a:r>
          </a:p>
          <a:p>
            <a:pPr algn="l">
              <a:spcAft>
                <a:spcPts val="100"/>
              </a:spcAft>
            </a:pPr>
            <a:r>
              <a:rPr sz="1000" b="1">
                <a:solidFill>
                  <a:srgbClr val="0F172A"/>
                </a:solidFill>
                <a:latin typeface="Segoe UI"/>
              </a:rPr>
              <a:t>- Deterministic Risk Scoring:</a:t>
            </a:r>
          </a:p>
          <a:p>
            <a:pPr algn="l">
              <a:spcAft>
                <a:spcPts val="300"/>
              </a:spcAft>
            </a:pPr>
            <a:r>
              <a:rPr sz="900" b="0">
                <a:solidFill>
                  <a:srgbClr val="475569"/>
                </a:solidFill>
                <a:latin typeface="Segoe UI"/>
              </a:rPr>
              <a:t>  Formulated the 0–100 mathematical risk calculation and Go/No-Go release threshold.</a:t>
            </a:r>
          </a:p>
          <a:p>
            <a:pPr algn="l">
              <a:spcAft>
                <a:spcPts val="100"/>
              </a:spcAft>
            </a:pPr>
            <a:r>
              <a:rPr sz="1000" b="1">
                <a:solidFill>
                  <a:srgbClr val="0F172A"/>
                </a:solidFill>
                <a:latin typeface="Segoe UI"/>
              </a:rPr>
              <a:t>- Docker &amp; Test Engineering:</a:t>
            </a:r>
          </a:p>
          <a:p>
            <a:pPr algn="l">
              <a:spcAft>
                <a:spcPts val="300"/>
              </a:spcAft>
            </a:pPr>
            <a:r>
              <a:rPr sz="900" b="0">
                <a:solidFill>
                  <a:srgbClr val="475569"/>
                </a:solidFill>
                <a:latin typeface="Segoe UI"/>
              </a:rPr>
              <a:t>  Created Docker Compose setup, Nginx reverse proxy, and 62 automated unit/integration tests.</a:t>
            </a:r>
          </a:p>
          <a:p>
            <a:pPr algn="l">
              <a:spcAft>
                <a:spcPts val="100"/>
              </a:spcAft>
            </a:pPr>
            <a:r>
              <a:rPr sz="1000" b="1">
                <a:solidFill>
                  <a:srgbClr val="0F172A"/>
                </a:solidFill>
                <a:latin typeface="Segoe UI"/>
              </a:rPr>
              <a:t>- Web Dashboard UI:</a:t>
            </a:r>
          </a:p>
          <a:p>
            <a:pPr algn="l">
              <a:spcAft>
                <a:spcPts val="300"/>
              </a:spcAft>
            </a:pPr>
            <a:r>
              <a:rPr sz="900" b="0">
                <a:solidFill>
                  <a:srgbClr val="475569"/>
                </a:solidFill>
                <a:latin typeface="Segoe UI"/>
              </a:rPr>
              <a:t>  Built React 19 web console with real-time status polling and telemetry display.</a:t>
            </a:r>
          </a:p>
        </p:txBody>
      </p:sp>
      <p:sp>
        <p:nvSpPr>
          <p:cNvPr id="8" name="Rounded Rectangle 7"/>
          <p:cNvSpPr/>
          <p:nvPr/>
        </p:nvSpPr>
        <p:spPr>
          <a:xfrm>
            <a:off x="731520" y="5440680"/>
            <a:ext cx="10728655" cy="777240"/>
          </a:xfrm>
          <a:prstGeom prst="roundRect">
            <a:avLst/>
          </a:prstGeom>
          <a:solidFill>
            <a:srgbClr val="F0FDF4"/>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559552"/>
            <a:ext cx="10362895" cy="548640"/>
          </a:xfrm>
          <a:prstGeom prst="rect">
            <a:avLst/>
          </a:prstGeom>
          <a:noFill/>
        </p:spPr>
        <p:txBody>
          <a:bodyPr wrap="square" lIns="0" tIns="0" rIns="0" bIns="0">
            <a:spAutoFit/>
          </a:bodyPr>
          <a:lstStyle/>
          <a:p>
            <a:pPr algn="l">
              <a:spcAft>
                <a:spcPts val="200"/>
              </a:spcAft>
            </a:pPr>
            <a:r>
              <a:rPr sz="1050" b="1">
                <a:solidFill>
                  <a:srgbClr val="16A34A"/>
                </a:solidFill>
                <a:latin typeface="Segoe UI"/>
              </a:rPr>
              <a:t>Mid-Term Evaluation Readiness (A2 · 30%):</a:t>
            </a:r>
          </a:p>
          <a:p>
            <a:pPr algn="l">
              <a:spcAft>
                <a:spcPts val="0"/>
              </a:spcAft>
            </a:pPr>
            <a:r>
              <a:rPr sz="1100" b="0">
                <a:solidFill>
                  <a:srgbClr val="0F172A"/>
                </a:solidFill>
                <a:latin typeface="Segoe UI"/>
              </a:rPr>
              <a:t>Working prototype is functional, containerized, verified by 62 automated tests, and ready for live demonstration with Dr. Kiran Khatter &amp; Mr. Naveen Singh.</a:t>
            </a:r>
          </a:p>
        </p:txBody>
      </p:sp>
      <p:sp>
        <p:nvSpPr>
          <p:cNvPr id="10" name="TextBox 9"/>
          <p:cNvSpPr txBox="1"/>
          <p:nvPr/>
        </p:nvSpPr>
        <p:spPr>
          <a:xfrm>
            <a:off x="731520" y="6355080"/>
            <a:ext cx="10728655" cy="320040"/>
          </a:xfrm>
          <a:prstGeom prst="rect">
            <a:avLst/>
          </a:prstGeom>
          <a:noFill/>
        </p:spPr>
        <p:txBody>
          <a:bodyPr wrap="square" lIns="0" tIns="0" rIns="0" bIns="0">
            <a:spAutoFit/>
          </a:bodyPr>
          <a:lstStyle/>
          <a:p>
            <a:r>
              <a:rPr sz="1000">
                <a:solidFill>
                  <a:srgbClr val="94A3B8"/>
                </a:solidFill>
                <a:latin typeface="Segoe UI"/>
              </a:rPr>
              <a:t>DeploySafe  |  CSE 4011: Intelligent Developer Tools &amp; AI DevOps Workflows</a:t>
            </a:r>
            <a:r>
              <a:t>                                                  </a:t>
            </a:r>
            <a:r>
              <a:rPr sz="1000" b="1">
                <a:solidFill>
                  <a:srgbClr val="475569"/>
                </a:solidFill>
                <a:latin typeface="Segoe UI"/>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