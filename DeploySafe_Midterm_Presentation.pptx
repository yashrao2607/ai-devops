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30-60 SEC TALKING SCRIPT ===</a:t>
            </a:r>
          </a:p>
          <a:p>
            <a:r>
              <a:t>Good morning professor and fellow classmates. Today we are presenting DeploySafe, an autonomous multi-agent platform designed to evaluate software deployment readiness before code reaches production. Modern pipelines focus on automated execution, but DeploySafe introduces a dedicated reasoning layer that cross-correlates code, dependencies, containers, tests, and documentation.</a:t>
            </a:r>
          </a:p>
          <a:p/>
          <a:p>
            <a:r>
              <a:t>=== LIKELY PROFESSOR QUESTION ===</a:t>
            </a:r>
          </a:p>
          <a:p>
            <a:r>
              <a:t>Q: Why is this project suited for an Agentic AI course rather than a standard software engineering project?</a:t>
            </a:r>
          </a:p>
          <a:p/>
          <a:p>
            <a:r>
              <a:t>=== CONCISE ANSWER ===</a:t>
            </a:r>
          </a:p>
          <a:p>
            <a:r>
              <a:t>A: Because determining deployment readiness requires distributed reasoning across heterogeneous domains—code, containers, security, and documentation. No single static tool or prompt can synthesize these interactions. DeploySafe coordinates 8 autonomous CrewAI agents that invoke specialized tools, correlate facts with vector RAG, and undergo adversarial Critic validation.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30-60 SEC TALKING SCRIPT ===</a:t>
            </a:r>
          </a:p>
          <a:p>
            <a:r>
              <a:t>Every engineer has experienced a deployment failure where all unit tests passed green in GitHub Actions, but the service immediately crashed in staging or production. Traditional CI/CD verifies that individual components compile and unit tests pass, but it does not evaluate deployment context—such as unpinned base images, hardcoded endpoints, or documented environment prerequisites.</a:t>
            </a:r>
          </a:p>
          <a:p/>
          <a:p>
            <a:r>
              <a:t>=== LIKELY PROFESSOR QUESTION ===</a:t>
            </a:r>
          </a:p>
          <a:p>
            <a:r>
              <a:t>Q: Isn't this already solved by comprehensive integration tests and staging environments?</a:t>
            </a:r>
          </a:p>
          <a:p/>
          <a:p>
            <a:r>
              <a:t>=== CONCISE ANSWER ===</a:t>
            </a:r>
          </a:p>
          <a:p>
            <a:r>
              <a:t>A: Integration tests only validate paths developers anticipated and scripted. They do not catch operational configuration drift, unpinned supply-chain dependencies, documentation/manifest mismatches, or hardcoded local endpoints before containerization.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30-60 SEC TALKING SCRIPT ===</a:t>
            </a:r>
          </a:p>
          <a:p>
            <a:r>
              <a:t>It is vital to understand that DeploySafe is not competing with GitHub Actions or Jenkins. CI/CD is an execution engine that executes commands. DeploySafe is an analytical intelligence layer that reasons over the code, configuration, dependencies, and documentation. CI/CD asks 'did this command exit 0?'; DeploySafe asks 'is this change safe to release?'</a:t>
            </a:r>
          </a:p>
          <a:p/>
          <a:p>
            <a:r>
              <a:t>=== LIKELY PROFESSOR QUESTION ===</a:t>
            </a:r>
          </a:p>
          <a:p>
            <a:r>
              <a:t>Q: Could this be implemented as a SonarQube plugin or linter rule?</a:t>
            </a:r>
          </a:p>
          <a:p/>
          <a:p>
            <a:r>
              <a:t>=== CONCISE ANSWER ===</a:t>
            </a:r>
          </a:p>
          <a:p>
            <a:r>
              <a:t>A: No. Linters analyze single files using static AST patterns. They cannot correlate natural language documentation in README.md against docker-compose environment blocks, nor can they deduce missing regression coverage across interdependent service modules.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30-60 SEC TALKING SCRIPT ===</a:t>
            </a:r>
          </a:p>
          <a:p>
            <a:r>
              <a:t>Here is the high-level system concept. DeploySafe ingests the complete set of repository signals—source code, manifests, Docker files, test suites, and documentation. These signals feed into the DeploySafe engine where specialized agents analyze their respective domains. Finally, the system produces actionable, evidence-backed outputs: a deterministic score, verified findings, and multi-format reports.</a:t>
            </a:r>
          </a:p>
          <a:p/>
          <a:p>
            <a:r>
              <a:t>=== LIKELY PROFESSOR QUESTION ===</a:t>
            </a:r>
          </a:p>
          <a:p>
            <a:r>
              <a:t>Q: Why is documentation included as a core repository signal?</a:t>
            </a:r>
          </a:p>
          <a:p/>
          <a:p>
            <a:r>
              <a:t>=== CONCISE ANSWER ===</a:t>
            </a:r>
          </a:p>
          <a:p>
            <a:r>
              <a:t>A: Because documentation represents human architectural intent. When a developer writes in README.md that REDIS_URL is required in production, that is a contractual deployment requirement. If docker-compose.yml fails to configure REDIS_URL, that is a high-risk configuration mismatch that traditional linters completely miss.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30-60 SEC TALKING SCRIPT ===</a:t>
            </a:r>
          </a:p>
          <a:p>
            <a:r>
              <a:t>This slide illustrates the 7-step pipeline implemented in DeploySafe. Notice the distinct boundary between Steps 4 and 7. The LLM agents operate in Step 4 to identify candidate hazards. But before those hazards affect the score, Step 5 validates physical file existence, Step 6 deduplicates multi-agent findings, and Step 7 applies a mathematical scoring formula.</a:t>
            </a:r>
          </a:p>
          <a:p/>
          <a:p>
            <a:r>
              <a:t>=== LIKELY PROFESSOR QUESTION ===</a:t>
            </a:r>
          </a:p>
          <a:p>
            <a:r>
              <a:t>Q: What happens if an LLM agent generates a finding for a file that was deleted or doesn't exist?</a:t>
            </a:r>
          </a:p>
          <a:p/>
          <a:p>
            <a:r>
              <a:t>=== CONCISE ANSWER ===</a:t>
            </a:r>
          </a:p>
          <a:p>
            <a:r>
              <a:t>A: Step 5, the Critic Agent, catches it. The Critic executes a physical filesystem stat check using the exact repository snapshot. If the file is not on disk, the finding is assigned status REJECTED, tagged as a hallucination, and contributes 0 points to the risk score.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30-60 SEC TALKING SCRIPT ===</a:t>
            </a:r>
          </a:p>
          <a:p>
            <a:r>
              <a:t>Here is the complete Phase 4 architectural topology. The React frontend interacts with a versioned FastAPI gateway. The gateway invokes the CrewAI Flow Orchestrator, which dispatches specialized agents, vector RAG retrieval, and sandboxed deterministic tools. Crucially, all agent discoveries converge on the Critic Agent for grounding checks, pass through deduplication, and are scored by the mathematical Risk Engine.</a:t>
            </a:r>
          </a:p>
          <a:p/>
          <a:p>
            <a:r>
              <a:t>=== LIKELY PROFESSOR QUESTION ===</a:t>
            </a:r>
          </a:p>
          <a:p>
            <a:r>
              <a:t>Q: How is CrewAI integrated here?</a:t>
            </a:r>
          </a:p>
          <a:p/>
          <a:p>
            <a:r>
              <a:t>=== CONCISE ANSWER ===</a:t>
            </a:r>
          </a:p>
          <a:p>
            <a:r>
              <a:t>A: We implement DeploySafeAnalysisFlow using CrewAI's state flow abstraction. The flow handles repository context preparation, dynamic planning based on detected files, parallel agent dispatch via thread pools, and structured Pydantic state persistence.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30-60 SEC TALKING SCRIPT ===</a:t>
            </a:r>
          </a:p>
          <a:p>
            <a:r>
              <a:t>Why use 8 specialized agents instead of asking one large language model to do everything? In production repositories, monolithic prompts suffer from severe attention decay. By dedicating specialized agents with isolated system prompts and restricted tool access, each agent focuses deeply on its domain: Code, Dependencies, Configuration, Tests, RAG, and Security. Finally, the Critic agent acts as an independent adversarial auditor.</a:t>
            </a:r>
          </a:p>
          <a:p/>
          <a:p>
            <a:r>
              <a:t>=== LIKELY PROFESSOR QUESTION ===</a:t>
            </a:r>
          </a:p>
          <a:p>
            <a:r>
              <a:t>Q: Do these agents run sequentially or in parallel?</a:t>
            </a:r>
          </a:p>
          <a:p/>
          <a:p>
            <a:r>
              <a:t>=== CONCISE ANSWER ===</a:t>
            </a:r>
          </a:p>
          <a:p>
            <a:r>
              <a:t>A: The Orchestrator flow executes the independent domain agents concurrently using a ThreadPoolExecutor in Python. The Critic Agent and Report Agent run sequentially after all domain candidate findings have been collected.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30-60 SEC TALKING SCRIPT ===</a:t>
            </a:r>
          </a:p>
          <a:p>
            <a:r>
              <a:t>Slide 8 shows our actual RAG implementation built in Phase 2 and leveraged in Phase 3 by the Documentation RAG agent. On the right is a real query executed on our demo repository. The RAG agent searched for deployment prerequisites, retrieved lines 5-9 of README.md stating that REDIS_URL is mandatory, and cross-examined docker-compose.yml to discover that REDIS_URL was missing. That is cross-domain intelligence.</a:t>
            </a:r>
          </a:p>
          <a:p/>
          <a:p>
            <a:r>
              <a:t>=== LIKELY PROFESSOR QUESTION ===</a:t>
            </a:r>
          </a:p>
          <a:p>
            <a:r>
              <a:t>Q: Why use local embeddings instead of relying entirely on external API embeddings?</a:t>
            </a:r>
          </a:p>
          <a:p/>
          <a:p>
            <a:r>
              <a:t>=== CONCISE ANSWER ===</a:t>
            </a:r>
          </a:p>
          <a:p>
            <a:r>
              <a:t>A: We implemented an LLM and embedding factory abstraction. While DeploySafe supports Gemini embeddings, our local embedding provider operates fully offline and deterministically. This guarantees that test suites run in 6 seconds with zero API rate limits, zero costs, and 100% test reproducibility.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30-60 SEC TALKING SCRIPT ===</a:t>
            </a:r>
          </a:p>
          <a:p>
            <a:r>
              <a:t>A critical vulnerability in LLM-based developer tools is the lack of verifiable evidence. In DeploySafe, agents cannot make vague statements like 'we think security is bad.' Every finding must fulfill a strict Pydantic Evidence schema: the exact repository, exact file path, exact 1-indexed start and end lines, and a verifiable code snippet. Furthermore, our security scanner automatically redacts secrets so raw tokens never leak.</a:t>
            </a:r>
          </a:p>
          <a:p/>
          <a:p>
            <a:r>
              <a:t>=== LIKELY PROFESSOR QUESTION ===</a:t>
            </a:r>
          </a:p>
          <a:p>
            <a:r>
              <a:t>Q: What happens if a tool produces invalid output or errors?</a:t>
            </a:r>
          </a:p>
          <a:p/>
          <a:p>
            <a:r>
              <a:t>=== CONCISE ANSWER ===</a:t>
            </a:r>
          </a:p>
          <a:p>
            <a:r>
              <a:t>A: All tools run inside defensive exception wrappers. If a tool fails or attempts path traversal outside the repository sandbox, the tool returns a structured error object. The agent logs the failure in its telemetry and continues without crashing the pipeline.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30-60 SEC TALKING SCRIPT ===</a:t>
            </a:r>
          </a:p>
          <a:p>
            <a:r>
              <a:t>Slide 10 details our Phase 4 deterministic Risk Engine. If you ask an LLM 'what is the risk on a scale of 1 to 100?', it might answer 75 on Monday and 60 on Tuesday. In DeploySafe, the LLM only identifies candidate findings. The RiskEngine runs pure arithmetic with project-defined severity weights: Critical=35, High=25, Medium=15, Low=7. The same findings will always yield the exact same score.</a:t>
            </a:r>
          </a:p>
          <a:p/>
          <a:p>
            <a:r>
              <a:t>=== LIKELY PROFESSOR QUESTION ===</a:t>
            </a:r>
          </a:p>
          <a:p>
            <a:r>
              <a:t>Q: Why is the score capped at 100?</a:t>
            </a:r>
          </a:p>
          <a:p/>
          <a:p>
            <a:r>
              <a:t>=== CONCISE ANSWER ===</a:t>
            </a:r>
          </a:p>
          <a:p>
            <a:r>
              <a:t>A: Risk represents an operational threshold. If a repository contains two critical hardcoded database passwords and four severe configuration mismatches, the raw total is 170 points. Capping at 100 maps the metric cleanly to a standardized 0–100 scale where anything 75 or higher is classified as CRITICAL and blocks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30-60 SEC TALKING SCRIPT ===</a:t>
            </a:r>
          </a:p>
          <a:p>
            <a:r>
              <a:t>Here are authentic, unedited screenshots of the working DeploySafe web interface captured directly from our running Vite application. On the top left is the Overview Dashboard displaying our 100/100 CRITICAL risk hero. Top right is the Findings Directory showing live score contributions like +35 pts. Bottom left shows run history and execution telemetry. Bottom right shows our multi-format report exports.</a:t>
            </a:r>
          </a:p>
          <a:p/>
          <a:p>
            <a:r>
              <a:t>=== LIKELY PROFESSOR QUESTION ===</a:t>
            </a:r>
          </a:p>
          <a:p>
            <a:r>
              <a:t>Q: Did you use a component library like Tailwind or Material UI?</a:t>
            </a:r>
          </a:p>
          <a:p/>
          <a:p>
            <a:r>
              <a:t>=== CONCISE ANSWER ===</a:t>
            </a:r>
          </a:p>
          <a:p>
            <a:r>
              <a:t>A: We used Vanilla CSS and TailwindCSS for fine-grained typography and layout control, deliberately avoiding bulky pre-made component libraries to maintain high information density, fast rendering, and an authentic developer-security product aesthetic.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30-60 SEC TALKING SCRIPT ===</a:t>
            </a:r>
          </a:p>
          <a:p>
            <a:r>
              <a:t>During our live demo, we will walk the professor through these exact seven steps. We start by targeting our demo repository, trigger the analysis, observe the live agent activity timeline, watch RAG cross-correlate README requirements against compose manifests, verify how the Critic and Deduplication engines filter candidate findings, inspect the score explanation modal, and finally demonstrate status triage.</a:t>
            </a:r>
          </a:p>
          <a:p/>
          <a:p>
            <a:r>
              <a:t>=== LIKELY PROFESSOR QUESTION ===</a:t>
            </a:r>
          </a:p>
          <a:p>
            <a:r>
              <a:t>Q: How long does the live analysis take?</a:t>
            </a:r>
          </a:p>
          <a:p/>
          <a:p>
            <a:r>
              <a:t>=== CONCISE ANSWER ===</a:t>
            </a:r>
          </a:p>
          <a:p>
            <a:r>
              <a:t>A: When running in local diagnostic mode or with LLM caching, the full 8-agent analysis, Critic audit, vector RAG retrieval, deduplication, and risk calculation completes in approximately 1.5 to 2.5 seconds.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30-60 SEC TALKING SCRIPT ===</a:t>
            </a:r>
          </a:p>
          <a:p>
            <a:r>
              <a:t>This slide summarizes our rigorous engineering progress across all four completed phases. In Phase 1, we established the core FastAPI, React, and LLM abstraction. In Phase 2, we built the repository ingestion and Chroma vector store. In Phase 3, we implemented the 8 specialized CrewAI agents and tools. In Phase 4, we built the deterministic Risk Engine, deduplication service, and product UI. All 62 backend pytest tests pass 100%.</a:t>
            </a:r>
          </a:p>
          <a:p/>
          <a:p>
            <a:r>
              <a:t>=== LIKELY PROFESSOR QUESTION ===</a:t>
            </a:r>
          </a:p>
          <a:p>
            <a:r>
              <a:t>Q: How do you test the multi-agent system reliably without incurring large API fees?</a:t>
            </a:r>
          </a:p>
          <a:p/>
          <a:p>
            <a:r>
              <a:t>=== CONCISE ANSWER ===</a:t>
            </a:r>
          </a:p>
          <a:p>
            <a:r>
              <a:t>A: We implemented a test architecture that combines unit mocks with our offline diagnostic provider and local embedding generator. All 62 tests run deterministically in under 7 seconds without network dependency, allowing rapid CI validation.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30-60 SEC TALKING SCRIPT ===</a:t>
            </a:r>
          </a:p>
          <a:p>
            <a:r>
              <a:t>We are strictly transparent about project boundaries. What we showed today is Phases 1 through 4. For the final phase of the course, Phase 5 will introduce automated GitHub Actions integration, PR comment bots, and empirical evaluation against a benchmark dataset. Phase 6 will introduce enterprise observability, token telemetry, and multi-tenant security.</a:t>
            </a:r>
          </a:p>
          <a:p/>
          <a:p>
            <a:r>
              <a:t>=== LIKELY PROFESSOR QUESTION ===</a:t>
            </a:r>
          </a:p>
          <a:p>
            <a:r>
              <a:t>Q: When will the GitHub PR bot be functional?</a:t>
            </a:r>
          </a:p>
          <a:p/>
          <a:p>
            <a:r>
              <a:t>=== CONCISE ANSWER ===</a:t>
            </a:r>
          </a:p>
          <a:p>
            <a:r>
              <a:t>A: Phase 5 begins immediately after midterm evaluation. The core backend APIs and report generation services built in Phase 4 already output the exact JSON contract needed by GitHub Actions.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30-60 SEC TALKING SCRIPT ===</a:t>
            </a:r>
          </a:p>
          <a:p>
            <a:r>
              <a:t>In conclusion, DeploySafe bridges the critical gap between traditional CI compilation and deployment confidence. By combining specialized CrewAI agents, Chroma vector RAG, anti-hallucination Critic validation, and a deterministic mathematical Risk Engine, DeploySafe gives teams true deployment intelligence. Thank you, and we welcome your questions.</a:t>
            </a:r>
          </a:p>
          <a:p/>
          <a:p>
            <a:r>
              <a:t>=== LIKELY PROFESSOR QUESTION ===</a:t>
            </a:r>
          </a:p>
          <a:p>
            <a:r>
              <a:t>Q: What is the single biggest technical takeaway from building DeploySafe?</a:t>
            </a:r>
          </a:p>
          <a:p/>
          <a:p>
            <a:r>
              <a:t>=== CONCISE ANSWER ===</a:t>
            </a:r>
          </a:p>
          <a:p>
            <a:r>
              <a:t>A: The biggest takeaway is that Agentic AI in production requires deterministic scaffolding. LLMs excel at semantic correlation and finding discovery across diverse files, but they must be grounded by strict tool contracts, validated by an adversarial Critic, and scored by a deterministic mathematical engine rather than relying on LLM intuition.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188720"/>
            <a:ext cx="3108960" cy="347472"/>
          </a:xfrm>
          <a:prstGeom prst="roundRect">
            <a:avLst/>
          </a:prstGeom>
          <a:solidFill>
            <a:srgbClr val="064E3B"/>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10B981"/>
                </a:solidFill>
                <a:latin typeface="Segoe UI"/>
              </a:rPr>
              <a:t>AGENTIC AI — CSE3101 MIDTERM</a:t>
            </a:r>
          </a:p>
        </p:txBody>
      </p:sp>
      <p:sp>
        <p:nvSpPr>
          <p:cNvPr id="4" name="TextBox 3"/>
          <p:cNvSpPr txBox="1"/>
          <p:nvPr/>
        </p:nvSpPr>
        <p:spPr>
          <a:xfrm>
            <a:off x="731520" y="1691640"/>
            <a:ext cx="9144000" cy="1005840"/>
          </a:xfrm>
          <a:prstGeom prst="rect">
            <a:avLst/>
          </a:prstGeom>
          <a:noFill/>
        </p:spPr>
        <p:txBody>
          <a:bodyPr wrap="none">
            <a:spAutoFit/>
          </a:bodyPr>
          <a:lstStyle/>
          <a:p>
            <a:r>
              <a:rPr sz="4600" b="1" i="0">
                <a:solidFill>
                  <a:srgbClr val="F8FAFC"/>
                </a:solidFill>
                <a:latin typeface="Segoe UI"/>
              </a:rPr>
              <a:t>DeploySafe</a:t>
            </a:r>
          </a:p>
        </p:txBody>
      </p:sp>
      <p:sp>
        <p:nvSpPr>
          <p:cNvPr id="5" name="TextBox 4"/>
          <p:cNvSpPr txBox="1"/>
          <p:nvPr/>
        </p:nvSpPr>
        <p:spPr>
          <a:xfrm>
            <a:off x="731520" y="2743200"/>
            <a:ext cx="9144000" cy="548640"/>
          </a:xfrm>
          <a:prstGeom prst="rect">
            <a:avLst/>
          </a:prstGeom>
          <a:noFill/>
        </p:spPr>
        <p:txBody>
          <a:bodyPr wrap="none">
            <a:spAutoFit/>
          </a:bodyPr>
          <a:lstStyle/>
          <a:p>
            <a:r>
              <a:rPr sz="1800" b="1" i="0">
                <a:solidFill>
                  <a:srgbClr val="06B6D4"/>
                </a:solidFill>
                <a:latin typeface="Segoe UI"/>
              </a:rPr>
              <a:t>Autonomous Multi-Agent Deployment-Readiness &amp; Risk Intelligence Platform</a:t>
            </a:r>
          </a:p>
        </p:txBody>
      </p:sp>
      <p:sp>
        <p:nvSpPr>
          <p:cNvPr id="6" name="TextBox 5"/>
          <p:cNvSpPr txBox="1"/>
          <p:nvPr/>
        </p:nvSpPr>
        <p:spPr>
          <a:xfrm>
            <a:off x="731520" y="3383280"/>
            <a:ext cx="9144000" cy="548640"/>
          </a:xfrm>
          <a:prstGeom prst="rect">
            <a:avLst/>
          </a:prstGeom>
          <a:noFill/>
        </p:spPr>
        <p:txBody>
          <a:bodyPr wrap="none">
            <a:spAutoFit/>
          </a:bodyPr>
          <a:lstStyle/>
          <a:p>
            <a:r>
              <a:rPr sz="1300" b="0" i="1">
                <a:solidFill>
                  <a:srgbClr val="E2E8F0"/>
                </a:solidFill>
                <a:latin typeface="Segoe UI"/>
              </a:rPr>
              <a:t>“Identify potential deployment risks before release through specialized agents, grounded evidence, and deterministic risk scoring.”</a:t>
            </a:r>
          </a:p>
        </p:txBody>
      </p:sp>
      <p:sp>
        <p:nvSpPr>
          <p:cNvPr id="7" name="Rounded Rectangle 6"/>
          <p:cNvSpPr/>
          <p:nvPr/>
        </p:nvSpPr>
        <p:spPr>
          <a:xfrm>
            <a:off x="731520" y="4297680"/>
            <a:ext cx="10728655" cy="164592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4434840"/>
            <a:ext cx="10149840" cy="1371600"/>
          </a:xfrm>
          <a:prstGeom prst="rect">
            <a:avLst/>
          </a:prstGeom>
          <a:noFill/>
        </p:spPr>
        <p:txBody>
          <a:bodyPr wrap="square">
            <a:spAutoFit/>
          </a:bodyPr>
          <a:lstStyle/>
          <a:p>
            <a:r>
              <a:rPr sz="1300" b="1" i="0">
                <a:solidFill>
                  <a:srgbClr val="F8FAFC"/>
                </a:solidFill>
                <a:latin typeface="Segoe UI"/>
              </a:rPr>
              <a:t>Course: Agentic AI — CSE3101  |  Project: DeploySafe  |  Status: Phases 1 to 4 Complete</a:t>
            </a:r>
          </a:p>
          <a:p>
            <a:r>
              <a:rPr sz="1100" b="0" i="0">
                <a:solidFill>
                  <a:srgbClr val="10B981"/>
                </a:solidFill>
                <a:latin typeface="Segoe UI"/>
              </a:rPr>
              <a:t>Architecture: CrewAI Collaborative Flow  •  RAG: Chroma Vector DB + Local Embeddings  •  Scoring: Pure Mathematical Deterministic Engine</a:t>
            </a:r>
          </a:p>
          <a:p>
            <a:r>
              <a:rPr sz="1100" b="0" i="0">
                <a:solidFill>
                  <a:srgbClr val="B4C3D7"/>
                </a:solidFill>
                <a:latin typeface="Segoe UI"/>
              </a:rPr>
              <a:t>Presenter / Team: Lead Product Engineer &amp; System Architect  |  Review Date: October 2026</a:t>
            </a:r>
          </a:p>
        </p:txBody>
      </p:sp>
      <p:sp>
        <p:nvSpPr>
          <p:cNvPr id="9" name="TextBox 8"/>
          <p:cNvSpPr txBox="1"/>
          <p:nvPr/>
        </p:nvSpPr>
        <p:spPr>
          <a:xfrm>
            <a:off x="731520" y="6446520"/>
            <a:ext cx="10728655" cy="274320"/>
          </a:xfrm>
          <a:prstGeom prst="rect">
            <a:avLst/>
          </a:prstGeom>
          <a:noFill/>
        </p:spPr>
        <p:txBody>
          <a:bodyPr wrap="none" lIns="0" tIns="0" rIns="0" bIns="0">
            <a:spAutoFit/>
          </a:bodyPr>
          <a:lstStyle/>
          <a:p>
            <a:r>
              <a:rPr sz="900" b="0" i="0">
                <a:solidFill>
                  <a:srgbClr val="94A3B8"/>
                </a:solidFill>
                <a:latin typeface="Segoe UI"/>
              </a:rPr>
              <a:t>DeploySafe — AI-Powered Deployment Readiness Platform  |  Agentic AI (CSE3101) Midterm  |  Slide 1 of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7315200" cy="320040"/>
          </a:xfrm>
          <a:prstGeom prst="rect">
            <a:avLst/>
          </a:prstGeom>
          <a:noFill/>
        </p:spPr>
        <p:txBody>
          <a:bodyPr wrap="square" lIns="0" tIns="0" rIns="0" bIns="0">
            <a:spAutoFit/>
          </a:bodyPr>
          <a:lstStyle/>
          <a:p>
            <a:r>
              <a:rPr sz="1000" b="1" i="0">
                <a:solidFill>
                  <a:srgbClr val="10B981"/>
                </a:solidFill>
                <a:latin typeface="Segoe UI"/>
              </a:rPr>
              <a:t>CONTEXT &amp; MOTIVATION</a:t>
            </a:r>
          </a:p>
        </p:txBody>
      </p:sp>
      <p:sp>
        <p:nvSpPr>
          <p:cNvPr id="4" name="TextBox 3"/>
          <p:cNvSpPr txBox="1"/>
          <p:nvPr/>
        </p:nvSpPr>
        <p:spPr>
          <a:xfrm>
            <a:off x="731520" y="658368"/>
            <a:ext cx="10058400" cy="548640"/>
          </a:xfrm>
          <a:prstGeom prst="rect">
            <a:avLst/>
          </a:prstGeom>
          <a:noFill/>
        </p:spPr>
        <p:txBody>
          <a:bodyPr wrap="square" lIns="0" tIns="0" rIns="0" bIns="0">
            <a:spAutoFit/>
          </a:bodyPr>
          <a:lstStyle/>
          <a:p>
            <a:r>
              <a:rPr sz="2400" b="1" i="0">
                <a:solidFill>
                  <a:srgbClr val="F8FAFC"/>
                </a:solidFill>
                <a:latin typeface="Segoe UI"/>
              </a:rPr>
              <a:t>The Deployment Problem</a:t>
            </a:r>
          </a:p>
        </p:txBody>
      </p:sp>
      <p:sp>
        <p:nvSpPr>
          <p:cNvPr id="5" name="TextBox 4"/>
          <p:cNvSpPr txBox="1"/>
          <p:nvPr/>
        </p:nvSpPr>
        <p:spPr>
          <a:xfrm>
            <a:off x="731520" y="1207008"/>
            <a:ext cx="10058400" cy="365760"/>
          </a:xfrm>
          <a:prstGeom prst="rect">
            <a:avLst/>
          </a:prstGeom>
          <a:noFill/>
        </p:spPr>
        <p:txBody>
          <a:bodyPr wrap="square" lIns="0" tIns="0" rIns="0" bIns="0">
            <a:spAutoFit/>
          </a:bodyPr>
          <a:lstStyle/>
          <a:p>
            <a:r>
              <a:rPr sz="1200" b="0" i="0">
                <a:solidFill>
                  <a:srgbClr val="B4C3D7"/>
                </a:solidFill>
                <a:latin typeface="Segoe UI"/>
              </a:rPr>
              <a:t>Passing automated CI tests does not mean a repository is safe for production deployment.</a:t>
            </a:r>
          </a:p>
        </p:txBody>
      </p:sp>
      <p:sp>
        <p:nvSpPr>
          <p:cNvPr id="6" name="Rounded Rectangle 5"/>
          <p:cNvSpPr/>
          <p:nvPr/>
        </p:nvSpPr>
        <p:spPr>
          <a:xfrm>
            <a:off x="731520" y="1645920"/>
            <a:ext cx="10728655" cy="137160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10362895" cy="1097280"/>
          </a:xfrm>
          <a:prstGeom prst="rect">
            <a:avLst/>
          </a:prstGeom>
          <a:noFill/>
        </p:spPr>
        <p:txBody>
          <a:bodyPr wrap="none">
            <a:spAutoFit/>
          </a:bodyPr>
          <a:lstStyle/>
          <a:p>
            <a:r>
              <a:rPr sz="1100" b="1" i="0">
                <a:solidFill>
                  <a:srgbClr val="06B6D4"/>
                </a:solidFill>
                <a:latin typeface="Consolas"/>
              </a:rPr>
              <a:t>TRADITIONAL DEPLOYMENT PIPELINE:</a:t>
            </a:r>
          </a:p>
          <a:p>
            <a:r>
              <a:rPr sz="1300" b="1" i="0">
                <a:solidFill>
                  <a:srgbClr val="F8FAFC"/>
                </a:solidFill>
                <a:latin typeface="Consolas"/>
              </a:rPr>
              <a:t>Code Change  ──▶  Unit Tests  ──▶  CI Build  ──▶  Container Push  ──▶  Production Outage</a:t>
            </a:r>
          </a:p>
          <a:p>
            <a:r>
              <a:rPr sz="1100" b="0" i="0">
                <a:solidFill>
                  <a:srgbClr val="F87171"/>
                </a:solidFill>
                <a:latin typeface="Segoe UI"/>
              </a:rPr>
              <a:t>The Pipeline Passed! Yet the service crashed immediately due to an unpinned dependency and a missing REDIS_URL in docker-compose.</a:t>
            </a:r>
          </a:p>
        </p:txBody>
      </p:sp>
      <p:sp>
        <p:nvSpPr>
          <p:cNvPr id="8" name="Rounded Rectangle 7"/>
          <p:cNvSpPr/>
          <p:nvPr/>
        </p:nvSpPr>
        <p:spPr>
          <a:xfrm>
            <a:off x="731520" y="3246120"/>
            <a:ext cx="3429000" cy="283464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3429000"/>
            <a:ext cx="2971800" cy="2468880"/>
          </a:xfrm>
          <a:prstGeom prst="rect">
            <a:avLst/>
          </a:prstGeom>
          <a:noFill/>
        </p:spPr>
        <p:txBody>
          <a:bodyPr wrap="square">
            <a:spAutoFit/>
          </a:bodyPr>
          <a:lstStyle/>
          <a:p>
            <a:r>
              <a:rPr sz="1400" b="1" i="0">
                <a:solidFill>
                  <a:srgbClr val="FB923C"/>
                </a:solidFill>
                <a:latin typeface="Segoe UI"/>
              </a:rPr>
              <a:t>Disjointed Silos</a:t>
            </a:r>
          </a:p>
          <a:p>
            <a:r>
              <a:rPr sz="1100" b="0" i="0">
                <a:solidFill>
                  <a:srgbClr val="E2E8F0"/>
                </a:solidFill>
                <a:latin typeface="Segoe UI"/>
              </a:rPr>
              <a:t>Unit tests test function logic, linters test syntax, and Docker builds test images. No tool checks if documented environment variables match compose manifests.</a:t>
            </a:r>
          </a:p>
        </p:txBody>
      </p:sp>
      <p:sp>
        <p:nvSpPr>
          <p:cNvPr id="10" name="Rounded Rectangle 9"/>
          <p:cNvSpPr/>
          <p:nvPr/>
        </p:nvSpPr>
        <p:spPr>
          <a:xfrm>
            <a:off x="4389120" y="3246120"/>
            <a:ext cx="3429000" cy="283464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3429000"/>
            <a:ext cx="2971800" cy="2468880"/>
          </a:xfrm>
          <a:prstGeom prst="rect">
            <a:avLst/>
          </a:prstGeom>
          <a:noFill/>
        </p:spPr>
        <p:txBody>
          <a:bodyPr wrap="square">
            <a:spAutoFit/>
          </a:bodyPr>
          <a:lstStyle/>
          <a:p>
            <a:r>
              <a:rPr sz="1400" b="1" i="0">
                <a:solidFill>
                  <a:srgbClr val="FACC15"/>
                </a:solidFill>
                <a:latin typeface="Segoe UI"/>
              </a:rPr>
              <a:t>Silent Drift Hazards</a:t>
            </a:r>
          </a:p>
          <a:p>
            <a:r>
              <a:rPr sz="1100" b="0" i="0">
                <a:solidFill>
                  <a:srgbClr val="E2E8F0"/>
                </a:solidFill>
                <a:latin typeface="Segoe UI"/>
              </a:rPr>
              <a:t>Floating versions (e.g. 'requests' or 'python:latest') pass CI today, but break tomorrow when upstream repositories publish a breaking release.</a:t>
            </a:r>
          </a:p>
        </p:txBody>
      </p:sp>
      <p:sp>
        <p:nvSpPr>
          <p:cNvPr id="12" name="Rounded Rectangle 11"/>
          <p:cNvSpPr/>
          <p:nvPr/>
        </p:nvSpPr>
        <p:spPr>
          <a:xfrm>
            <a:off x="8046720" y="3246120"/>
            <a:ext cx="3429000" cy="283464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3429000"/>
            <a:ext cx="2971800" cy="2468880"/>
          </a:xfrm>
          <a:prstGeom prst="rect">
            <a:avLst/>
          </a:prstGeom>
          <a:noFill/>
        </p:spPr>
        <p:txBody>
          <a:bodyPr wrap="square">
            <a:spAutoFit/>
          </a:bodyPr>
          <a:lstStyle/>
          <a:p>
            <a:r>
              <a:rPr sz="1400" b="1" i="0">
                <a:solidFill>
                  <a:srgbClr val="06B6D4"/>
                </a:solidFill>
                <a:latin typeface="Segoe UI"/>
              </a:rPr>
              <a:t>Context Blindness</a:t>
            </a:r>
          </a:p>
          <a:p>
            <a:r>
              <a:rPr sz="1100" b="0" i="0">
                <a:solidFill>
                  <a:srgbClr val="E2E8F0"/>
                </a:solidFill>
                <a:latin typeface="Segoe UI"/>
              </a:rPr>
              <a:t>Static tools lack semantic awareness of documentation. They cannot read README.md architecture guidelines to discover missing operational requirements.</a:t>
            </a:r>
          </a:p>
        </p:txBody>
      </p:sp>
      <p:sp>
        <p:nvSpPr>
          <p:cNvPr id="14" name="TextBox 13"/>
          <p:cNvSpPr txBox="1"/>
          <p:nvPr/>
        </p:nvSpPr>
        <p:spPr>
          <a:xfrm>
            <a:off x="731520" y="6446520"/>
            <a:ext cx="10728655" cy="274320"/>
          </a:xfrm>
          <a:prstGeom prst="rect">
            <a:avLst/>
          </a:prstGeom>
          <a:noFill/>
        </p:spPr>
        <p:txBody>
          <a:bodyPr wrap="none" lIns="0" tIns="0" rIns="0" bIns="0">
            <a:spAutoFit/>
          </a:bodyPr>
          <a:lstStyle/>
          <a:p>
            <a:r>
              <a:rPr sz="900" b="0" i="0">
                <a:solidFill>
                  <a:srgbClr val="94A3B8"/>
                </a:solidFill>
                <a:latin typeface="Segoe UI"/>
              </a:rPr>
              <a:t>DeploySafe — AI-Powered Deployment Readiness Platform  |  Agentic AI (CSE3101) Midterm  |  Slide 2 of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7315200" cy="320040"/>
          </a:xfrm>
          <a:prstGeom prst="rect">
            <a:avLst/>
          </a:prstGeom>
          <a:noFill/>
        </p:spPr>
        <p:txBody>
          <a:bodyPr wrap="square" lIns="0" tIns="0" rIns="0" bIns="0">
            <a:spAutoFit/>
          </a:bodyPr>
          <a:lstStyle/>
          <a:p>
            <a:r>
              <a:rPr sz="1000" b="1" i="0">
                <a:solidFill>
                  <a:srgbClr val="10B981"/>
                </a:solidFill>
                <a:latin typeface="Segoe UI"/>
              </a:rPr>
              <a:t>PRODUCT POSITIONING</a:t>
            </a:r>
          </a:p>
        </p:txBody>
      </p:sp>
      <p:sp>
        <p:nvSpPr>
          <p:cNvPr id="4" name="TextBox 3"/>
          <p:cNvSpPr txBox="1"/>
          <p:nvPr/>
        </p:nvSpPr>
        <p:spPr>
          <a:xfrm>
            <a:off x="731520" y="658368"/>
            <a:ext cx="10058400" cy="548640"/>
          </a:xfrm>
          <a:prstGeom prst="rect">
            <a:avLst/>
          </a:prstGeom>
          <a:noFill/>
        </p:spPr>
        <p:txBody>
          <a:bodyPr wrap="square" lIns="0" tIns="0" rIns="0" bIns="0">
            <a:spAutoFit/>
          </a:bodyPr>
          <a:lstStyle/>
          <a:p>
            <a:r>
              <a:rPr sz="2400" b="1" i="0">
                <a:solidFill>
                  <a:srgbClr val="F8FAFC"/>
                </a:solidFill>
                <a:latin typeface="Segoe UI"/>
              </a:rPr>
              <a:t>CI/CD Executes. DeploySafe Analyzes.</a:t>
            </a:r>
          </a:p>
        </p:txBody>
      </p:sp>
      <p:sp>
        <p:nvSpPr>
          <p:cNvPr id="5" name="TextBox 4"/>
          <p:cNvSpPr txBox="1"/>
          <p:nvPr/>
        </p:nvSpPr>
        <p:spPr>
          <a:xfrm>
            <a:off x="731520" y="1207008"/>
            <a:ext cx="10058400" cy="365760"/>
          </a:xfrm>
          <a:prstGeom prst="rect">
            <a:avLst/>
          </a:prstGeom>
          <a:noFill/>
        </p:spPr>
        <p:txBody>
          <a:bodyPr wrap="square" lIns="0" tIns="0" rIns="0" bIns="0">
            <a:spAutoFit/>
          </a:bodyPr>
          <a:lstStyle/>
          <a:p>
            <a:r>
              <a:rPr sz="1200" b="0" i="0">
                <a:solidFill>
                  <a:srgbClr val="B4C3D7"/>
                </a:solidFill>
                <a:latin typeface="Segoe UI"/>
              </a:rPr>
              <a:t>DeploySafe does not replace CI/CD pipelines; it augments them with an AI reasoning and risk evaluation gate.</a:t>
            </a:r>
          </a:p>
        </p:txBody>
      </p:sp>
      <p:sp>
        <p:nvSpPr>
          <p:cNvPr id="6" name="Rounded Rectangle 5"/>
          <p:cNvSpPr/>
          <p:nvPr/>
        </p:nvSpPr>
        <p:spPr>
          <a:xfrm>
            <a:off x="731520" y="1645920"/>
            <a:ext cx="5212080" cy="448056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4663440" cy="4114800"/>
          </a:xfrm>
          <a:prstGeom prst="rect">
            <a:avLst/>
          </a:prstGeom>
          <a:noFill/>
        </p:spPr>
        <p:txBody>
          <a:bodyPr wrap="square">
            <a:spAutoFit/>
          </a:bodyPr>
          <a:lstStyle/>
          <a:p>
            <a:r>
              <a:rPr sz="1200" b="1" i="0">
                <a:solidFill>
                  <a:srgbClr val="FB923C"/>
                </a:solidFill>
                <a:latin typeface="Consolas"/>
              </a:rPr>
              <a:t>TRADITIONAL CI/CD (EXECUTION ENGINE)</a:t>
            </a:r>
          </a:p>
          <a:p>
            <a:r>
              <a:rPr sz="1100" b="0" i="0">
                <a:solidFill>
                  <a:srgbClr val="E2E8F0"/>
                </a:solidFill>
                <a:latin typeface="Segoe UI"/>
              </a:rPr>
              <a:t>• Binary Success/Failure: Only checks if exit codes equal 0.</a:t>
            </a:r>
          </a:p>
          <a:p>
            <a:r>
              <a:rPr sz="1100" b="0" i="0">
                <a:solidFill>
                  <a:srgbClr val="E2E8F0"/>
                </a:solidFill>
                <a:latin typeface="Segoe UI"/>
              </a:rPr>
              <a:t>• Predefined Scripted Checks: Only runs what engineers explicitly configured in YAML.</a:t>
            </a:r>
          </a:p>
          <a:p>
            <a:r>
              <a:rPr sz="1100" b="0" i="0">
                <a:solidFill>
                  <a:srgbClr val="E2E8F0"/>
                </a:solidFill>
                <a:latin typeface="Segoe UI"/>
              </a:rPr>
              <a:t>• Isolated Job Boundaries: Test runner has zero awareness of Dockerfile or manifest changes.</a:t>
            </a:r>
          </a:p>
          <a:p>
            <a:r>
              <a:rPr sz="1100" b="0" i="0">
                <a:solidFill>
                  <a:srgbClr val="E2E8F0"/>
                </a:solidFill>
                <a:latin typeface="Segoe UI"/>
              </a:rPr>
              <a:t>• Silent on Systemic Drift: Ignores unpinned libraries as long as pip install finishes.</a:t>
            </a:r>
          </a:p>
          <a:p>
            <a:r>
              <a:rPr sz="1100" b="0" i="0">
                <a:solidFill>
                  <a:srgbClr val="E2E8F0"/>
                </a:solidFill>
                <a:latin typeface="Segoe UI"/>
              </a:rPr>
              <a:t>• No Evidence Explanation: Emits thousands of lines of raw terminal logs upon failure.</a:t>
            </a:r>
          </a:p>
        </p:txBody>
      </p:sp>
      <p:sp>
        <p:nvSpPr>
          <p:cNvPr id="8" name="Rounded Rectangle 7"/>
          <p:cNvSpPr/>
          <p:nvPr/>
        </p:nvSpPr>
        <p:spPr>
          <a:xfrm>
            <a:off x="6248095" y="1645920"/>
            <a:ext cx="5212080" cy="448056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22415" y="1828800"/>
            <a:ext cx="4663440" cy="4114800"/>
          </a:xfrm>
          <a:prstGeom prst="rect">
            <a:avLst/>
          </a:prstGeom>
          <a:noFill/>
        </p:spPr>
        <p:txBody>
          <a:bodyPr wrap="square">
            <a:spAutoFit/>
          </a:bodyPr>
          <a:lstStyle/>
          <a:p>
            <a:r>
              <a:rPr sz="1200" b="1" i="0">
                <a:solidFill>
                  <a:srgbClr val="10B981"/>
                </a:solidFill>
                <a:latin typeface="Consolas"/>
              </a:rPr>
              <a:t>DEPLOYSAFE (INTELLIGENCE &amp; RISK LAYER)</a:t>
            </a:r>
          </a:p>
          <a:p>
            <a:r>
              <a:rPr sz="1100" b="0" i="0">
                <a:solidFill>
                  <a:srgbClr val="F8FAFC"/>
                </a:solidFill>
                <a:latin typeface="Segoe UI"/>
              </a:rPr>
              <a:t>✔ Semantic Risk Synthesis: Understands deployment intent across code, config, and docs.</a:t>
            </a:r>
          </a:p>
          <a:p>
            <a:r>
              <a:rPr sz="1100" b="0" i="0">
                <a:solidFill>
                  <a:srgbClr val="F8FAFC"/>
                </a:solidFill>
                <a:latin typeface="Segoe UI"/>
              </a:rPr>
              <a:t>✔ Cross-Domain Correlation: Checks if environment variables in README exist in docker-compose.</a:t>
            </a:r>
          </a:p>
          <a:p>
            <a:r>
              <a:rPr sz="1100" b="0" i="0">
                <a:solidFill>
                  <a:srgbClr val="F8FAFC"/>
                </a:solidFill>
                <a:latin typeface="Segoe UI"/>
              </a:rPr>
              <a:t>✔ Observable Evidence Contracts: Every finding links to exact file paths and 1-indexed lines.</a:t>
            </a:r>
          </a:p>
          <a:p>
            <a:r>
              <a:rPr sz="1100" b="0" i="0">
                <a:solidFill>
                  <a:srgbClr val="F8FAFC"/>
                </a:solidFill>
                <a:latin typeface="Segoe UI"/>
              </a:rPr>
              <a:t>✔ Anti-Hallucination Critic: Adversarially validates physical file existence on disk.</a:t>
            </a:r>
          </a:p>
          <a:p>
            <a:r>
              <a:rPr sz="1100" b="0" i="0">
                <a:solidFill>
                  <a:srgbClr val="F8FAFC"/>
                </a:solidFill>
                <a:latin typeface="Segoe UI"/>
              </a:rPr>
              <a:t>✔ Deterministic Risk Scoring: Computes bounded 0–100 scores without LLM mathematical drift.</a:t>
            </a:r>
          </a:p>
        </p:txBody>
      </p:sp>
      <p:sp>
        <p:nvSpPr>
          <p:cNvPr id="10" name="TextBox 9"/>
          <p:cNvSpPr txBox="1"/>
          <p:nvPr/>
        </p:nvSpPr>
        <p:spPr>
          <a:xfrm>
            <a:off x="731520" y="6446520"/>
            <a:ext cx="10728655" cy="274320"/>
          </a:xfrm>
          <a:prstGeom prst="rect">
            <a:avLst/>
          </a:prstGeom>
          <a:noFill/>
        </p:spPr>
        <p:txBody>
          <a:bodyPr wrap="none" lIns="0" tIns="0" rIns="0" bIns="0">
            <a:spAutoFit/>
          </a:bodyPr>
          <a:lstStyle/>
          <a:p>
            <a:r>
              <a:rPr sz="900" b="0" i="0">
                <a:solidFill>
                  <a:srgbClr val="94A3B8"/>
                </a:solidFill>
                <a:latin typeface="Segoe UI"/>
              </a:rPr>
              <a:t>DeploySafe — AI-Powered Deployment Readiness Platform  |  Agentic AI (CSE3101) Midterm  |  Slide 3 of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7315200" cy="320040"/>
          </a:xfrm>
          <a:prstGeom prst="rect">
            <a:avLst/>
          </a:prstGeom>
          <a:noFill/>
        </p:spPr>
        <p:txBody>
          <a:bodyPr wrap="square" lIns="0" tIns="0" rIns="0" bIns="0">
            <a:spAutoFit/>
          </a:bodyPr>
          <a:lstStyle/>
          <a:p>
            <a:r>
              <a:rPr sz="1000" b="1" i="0">
                <a:solidFill>
                  <a:srgbClr val="10B981"/>
                </a:solidFill>
                <a:latin typeface="Segoe UI"/>
              </a:rPr>
              <a:t>SOLUTION OVERVIEW</a:t>
            </a:r>
          </a:p>
        </p:txBody>
      </p:sp>
      <p:sp>
        <p:nvSpPr>
          <p:cNvPr id="4" name="TextBox 3"/>
          <p:cNvSpPr txBox="1"/>
          <p:nvPr/>
        </p:nvSpPr>
        <p:spPr>
          <a:xfrm>
            <a:off x="731520" y="658368"/>
            <a:ext cx="10058400" cy="548640"/>
          </a:xfrm>
          <a:prstGeom prst="rect">
            <a:avLst/>
          </a:prstGeom>
          <a:noFill/>
        </p:spPr>
        <p:txBody>
          <a:bodyPr wrap="square" lIns="0" tIns="0" rIns="0" bIns="0">
            <a:spAutoFit/>
          </a:bodyPr>
          <a:lstStyle/>
          <a:p>
            <a:r>
              <a:rPr sz="2400" b="1" i="0">
                <a:solidFill>
                  <a:srgbClr val="F8FAFC"/>
                </a:solidFill>
                <a:latin typeface="Segoe UI"/>
              </a:rPr>
              <a:t>Meet DeploySafe</a:t>
            </a:r>
          </a:p>
        </p:txBody>
      </p:sp>
      <p:sp>
        <p:nvSpPr>
          <p:cNvPr id="5" name="TextBox 4"/>
          <p:cNvSpPr txBox="1"/>
          <p:nvPr/>
        </p:nvSpPr>
        <p:spPr>
          <a:xfrm>
            <a:off x="731520" y="1207008"/>
            <a:ext cx="10058400" cy="365760"/>
          </a:xfrm>
          <a:prstGeom prst="rect">
            <a:avLst/>
          </a:prstGeom>
          <a:noFill/>
        </p:spPr>
        <p:txBody>
          <a:bodyPr wrap="square" lIns="0" tIns="0" rIns="0" bIns="0">
            <a:spAutoFit/>
          </a:bodyPr>
          <a:lstStyle/>
          <a:p>
            <a:r>
              <a:rPr sz="1200" b="0" i="0">
                <a:solidFill>
                  <a:srgbClr val="B4C3D7"/>
                </a:solidFill>
                <a:latin typeface="Segoe UI"/>
              </a:rPr>
              <a:t>A multi-agent intelligence layer that inspects repositories and delivers explainable deployment assessments.</a:t>
            </a:r>
          </a:p>
        </p:txBody>
      </p:sp>
      <p:sp>
        <p:nvSpPr>
          <p:cNvPr id="6" name="Rounded Rectangle 5"/>
          <p:cNvSpPr/>
          <p:nvPr/>
        </p:nvSpPr>
        <p:spPr>
          <a:xfrm>
            <a:off x="731520" y="1645920"/>
            <a:ext cx="3291840" cy="448056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2926080" cy="4114800"/>
          </a:xfrm>
          <a:prstGeom prst="rect">
            <a:avLst/>
          </a:prstGeom>
          <a:noFill/>
        </p:spPr>
        <p:txBody>
          <a:bodyPr wrap="square">
            <a:spAutoFit/>
          </a:bodyPr>
          <a:lstStyle/>
          <a:p>
            <a:r>
              <a:rPr sz="1200" b="1" i="0">
                <a:solidFill>
                  <a:srgbClr val="06B6D4"/>
                </a:solidFill>
                <a:latin typeface="Consolas"/>
              </a:rPr>
              <a:t>1. REPOSITORY SIGNALS</a:t>
            </a:r>
          </a:p>
          <a:p>
            <a:r>
              <a:rPr sz="1050" b="0" i="0">
                <a:solidFill>
                  <a:srgbClr val="E2E8F0"/>
                </a:solidFill>
                <a:latin typeface="Segoe UI"/>
              </a:rPr>
              <a:t>• Source Code: Git diffs, AST changes, endpoint calls, exception handlers.</a:t>
            </a:r>
          </a:p>
          <a:p>
            <a:r>
              <a:rPr sz="1050" b="0" i="0">
                <a:solidFill>
                  <a:srgbClr val="E2E8F0"/>
                </a:solidFill>
                <a:latin typeface="Segoe UI"/>
              </a:rPr>
              <a:t>• Dependencies: requirements.txt, package.json, lockfiles, unpinned packages.</a:t>
            </a:r>
          </a:p>
          <a:p>
            <a:r>
              <a:rPr sz="1050" b="0" i="0">
                <a:solidFill>
                  <a:srgbClr val="E2E8F0"/>
                </a:solidFill>
                <a:latin typeface="Segoe UI"/>
              </a:rPr>
              <a:t>• Configuration: Dockerfiles, compose services, environment configs.</a:t>
            </a:r>
          </a:p>
          <a:p>
            <a:r>
              <a:rPr sz="1050" b="0" i="0">
                <a:solidFill>
                  <a:srgbClr val="E2E8F0"/>
                </a:solidFill>
                <a:latin typeface="Segoe UI"/>
              </a:rPr>
              <a:t>• Test Suite: Test file presence, pytest runs, inferred coverage gaps.</a:t>
            </a:r>
          </a:p>
          <a:p>
            <a:r>
              <a:rPr sz="1050" b="0" i="0">
                <a:solidFill>
                  <a:srgbClr val="E2E8F0"/>
                </a:solidFill>
                <a:latin typeface="Segoe UI"/>
              </a:rPr>
              <a:t>• Documentation: README, architecture runbooks, required variables.</a:t>
            </a:r>
          </a:p>
        </p:txBody>
      </p:sp>
      <p:sp>
        <p:nvSpPr>
          <p:cNvPr id="8" name="Rounded Rectangle 7"/>
          <p:cNvSpPr/>
          <p:nvPr/>
        </p:nvSpPr>
        <p:spPr>
          <a:xfrm>
            <a:off x="4297680" y="1645920"/>
            <a:ext cx="3566160" cy="448056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60" y="1828800"/>
            <a:ext cx="3200400" cy="4114800"/>
          </a:xfrm>
          <a:prstGeom prst="rect">
            <a:avLst/>
          </a:prstGeom>
          <a:noFill/>
        </p:spPr>
        <p:txBody>
          <a:bodyPr wrap="square">
            <a:spAutoFit/>
          </a:bodyPr>
          <a:lstStyle/>
          <a:p>
            <a:r>
              <a:rPr sz="1200" b="1" i="0">
                <a:solidFill>
                  <a:srgbClr val="10B981"/>
                </a:solidFill>
                <a:latin typeface="Consolas"/>
              </a:rPr>
              <a:t>2. DEPLOYSAFE ENGINE</a:t>
            </a:r>
          </a:p>
          <a:p>
            <a:r>
              <a:rPr sz="1050" b="0" i="0">
                <a:solidFill>
                  <a:srgbClr val="F8FAFC"/>
                </a:solidFill>
                <a:latin typeface="Segoe UI"/>
              </a:rPr>
              <a:t>▶ Orchestrator Flow: Analyzes tech stack &amp; dynamically plans tasks.</a:t>
            </a:r>
          </a:p>
          <a:p>
            <a:r>
              <a:rPr sz="1050" b="0" i="0">
                <a:solidFill>
                  <a:srgbClr val="F8FAFC"/>
                </a:solidFill>
                <a:latin typeface="Segoe UI"/>
              </a:rPr>
              <a:t>▶ 6 Specialized Agents: Code, Dependencies, Config, Tests, RAG, Security.</a:t>
            </a:r>
          </a:p>
          <a:p>
            <a:r>
              <a:rPr sz="1050" b="0" i="0">
                <a:solidFill>
                  <a:srgbClr val="F8FAFC"/>
                </a:solidFill>
                <a:latin typeface="Segoe UI"/>
              </a:rPr>
              <a:t>▶ Chroma Vector RAG: Retrieves documentation and deployment rules.</a:t>
            </a:r>
          </a:p>
          <a:p>
            <a:r>
              <a:rPr sz="1050" b="0" i="0">
                <a:solidFill>
                  <a:srgbClr val="F8FAFC"/>
                </a:solidFill>
                <a:latin typeface="Segoe UI"/>
              </a:rPr>
              <a:t>▶ Adversarial Critic: Validates evidence and discards hallucinations.</a:t>
            </a:r>
          </a:p>
          <a:p>
            <a:r>
              <a:rPr sz="1050" b="0" i="0">
                <a:solidFill>
                  <a:srgbClr val="F8FAFC"/>
                </a:solidFill>
                <a:latin typeface="Segoe UI"/>
              </a:rPr>
              <a:t>▶ Deduplication Service: Merges multi-agent duplicate findings.</a:t>
            </a:r>
          </a:p>
          <a:p>
            <a:r>
              <a:rPr sz="1050" b="0" i="0">
                <a:solidFill>
                  <a:srgbClr val="F8FAFC"/>
                </a:solidFill>
                <a:latin typeface="Segoe UI"/>
              </a:rPr>
              <a:t>▶ Deterministic Risk Engine: Computes bounded mathematical 0–100 score.</a:t>
            </a:r>
          </a:p>
        </p:txBody>
      </p:sp>
      <p:sp>
        <p:nvSpPr>
          <p:cNvPr id="10" name="Rounded Rectangle 9"/>
          <p:cNvSpPr/>
          <p:nvPr/>
        </p:nvSpPr>
        <p:spPr>
          <a:xfrm>
            <a:off x="8138160" y="1645920"/>
            <a:ext cx="3322015" cy="448056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0" y="1828800"/>
            <a:ext cx="2926080" cy="4114800"/>
          </a:xfrm>
          <a:prstGeom prst="rect">
            <a:avLst/>
          </a:prstGeom>
          <a:noFill/>
        </p:spPr>
        <p:txBody>
          <a:bodyPr wrap="square">
            <a:spAutoFit/>
          </a:bodyPr>
          <a:lstStyle/>
          <a:p>
            <a:r>
              <a:rPr sz="1200" b="1" i="0">
                <a:solidFill>
                  <a:srgbClr val="FB923C"/>
                </a:solidFill>
                <a:latin typeface="Consolas"/>
              </a:rPr>
              <a:t>3. AUDITABLE OUTPUTS</a:t>
            </a:r>
          </a:p>
          <a:p>
            <a:r>
              <a:rPr sz="1050" b="0" i="0">
                <a:solidFill>
                  <a:srgbClr val="F8FAFC"/>
                </a:solidFill>
                <a:latin typeface="Segoe UI"/>
              </a:rPr>
              <a:t>✔ Deterministic Score: 0–100 score + explainable risk level (e.g. CRITICAL).</a:t>
            </a:r>
          </a:p>
          <a:p>
            <a:r>
              <a:rPr sz="1050" b="0" i="0">
                <a:solidFill>
                  <a:srgbClr val="F8FAFC"/>
                </a:solidFill>
                <a:latin typeface="Segoe UI"/>
              </a:rPr>
              <a:t>✔ Validated Findings: Ranked hazards with severity and confidence.</a:t>
            </a:r>
          </a:p>
          <a:p>
            <a:r>
              <a:rPr sz="1050" b="0" i="0">
                <a:solidFill>
                  <a:srgbClr val="F8FAFC"/>
                </a:solidFill>
                <a:latin typeface="Segoe UI"/>
              </a:rPr>
              <a:t>✔ Concrete Evidence: Direct file paths, line ranges, and verified code.</a:t>
            </a:r>
          </a:p>
          <a:p>
            <a:r>
              <a:rPr sz="1050" b="0" i="0">
                <a:solidFill>
                  <a:srgbClr val="F8FAFC"/>
                </a:solidFill>
                <a:latin typeface="Segoe UI"/>
              </a:rPr>
              <a:t>✔ Explainable Rationale: Answers: What? Why? Where? and Blast Radius.</a:t>
            </a:r>
          </a:p>
          <a:p>
            <a:r>
              <a:rPr sz="1050" b="0" i="0">
                <a:solidFill>
                  <a:srgbClr val="F8FAFC"/>
                </a:solidFill>
                <a:latin typeface="Segoe UI"/>
              </a:rPr>
              <a:t>✔ Actionable Fixes: Specific remediation advice, not generic platitudes.</a:t>
            </a:r>
          </a:p>
          <a:p>
            <a:r>
              <a:rPr sz="1050" b="0" i="0">
                <a:solidFill>
                  <a:srgbClr val="F8FAFC"/>
                </a:solidFill>
                <a:latin typeface="Segoe UI"/>
              </a:rPr>
              <a:t>✔ Multi-Format Reports: Interactive HTML, Markdown docs, and JSON contracts.</a:t>
            </a:r>
          </a:p>
        </p:txBody>
      </p:sp>
      <p:sp>
        <p:nvSpPr>
          <p:cNvPr id="12" name="TextBox 11"/>
          <p:cNvSpPr txBox="1"/>
          <p:nvPr/>
        </p:nvSpPr>
        <p:spPr>
          <a:xfrm>
            <a:off x="731520" y="6446520"/>
            <a:ext cx="10728655" cy="274320"/>
          </a:xfrm>
          <a:prstGeom prst="rect">
            <a:avLst/>
          </a:prstGeom>
          <a:noFill/>
        </p:spPr>
        <p:txBody>
          <a:bodyPr wrap="none" lIns="0" tIns="0" rIns="0" bIns="0">
            <a:spAutoFit/>
          </a:bodyPr>
          <a:lstStyle/>
          <a:p>
            <a:r>
              <a:rPr sz="900" b="0" i="0">
                <a:solidFill>
                  <a:srgbClr val="94A3B8"/>
                </a:solidFill>
                <a:latin typeface="Segoe UI"/>
              </a:rPr>
              <a:t>DeploySafe — AI-Powered Deployment Readiness Platform  |  Agentic AI (CSE3101) Midterm  |  Slide 4 of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7315200" cy="320040"/>
          </a:xfrm>
          <a:prstGeom prst="rect">
            <a:avLst/>
          </a:prstGeom>
          <a:noFill/>
        </p:spPr>
        <p:txBody>
          <a:bodyPr wrap="square" lIns="0" tIns="0" rIns="0" bIns="0">
            <a:spAutoFit/>
          </a:bodyPr>
          <a:lstStyle/>
          <a:p>
            <a:r>
              <a:rPr sz="1000" b="1" i="0">
                <a:solidFill>
                  <a:srgbClr val="10B981"/>
                </a:solidFill>
                <a:latin typeface="Segoe UI"/>
              </a:rPr>
              <a:t>PROCESSING PIPELINE</a:t>
            </a:r>
          </a:p>
        </p:txBody>
      </p:sp>
      <p:sp>
        <p:nvSpPr>
          <p:cNvPr id="4" name="TextBox 3"/>
          <p:cNvSpPr txBox="1"/>
          <p:nvPr/>
        </p:nvSpPr>
        <p:spPr>
          <a:xfrm>
            <a:off x="731520" y="658368"/>
            <a:ext cx="10058400" cy="548640"/>
          </a:xfrm>
          <a:prstGeom prst="rect">
            <a:avLst/>
          </a:prstGeom>
          <a:noFill/>
        </p:spPr>
        <p:txBody>
          <a:bodyPr wrap="square" lIns="0" tIns="0" rIns="0" bIns="0">
            <a:spAutoFit/>
          </a:bodyPr>
          <a:lstStyle/>
          <a:p>
            <a:r>
              <a:rPr sz="2400" b="1" i="0">
                <a:solidFill>
                  <a:srgbClr val="F8FAFC"/>
                </a:solidFill>
                <a:latin typeface="Segoe UI"/>
              </a:rPr>
              <a:t>From Repository to Risk Insight</a:t>
            </a:r>
          </a:p>
        </p:txBody>
      </p:sp>
      <p:sp>
        <p:nvSpPr>
          <p:cNvPr id="5" name="TextBox 4"/>
          <p:cNvSpPr txBox="1"/>
          <p:nvPr/>
        </p:nvSpPr>
        <p:spPr>
          <a:xfrm>
            <a:off x="731520" y="1207008"/>
            <a:ext cx="10058400" cy="365760"/>
          </a:xfrm>
          <a:prstGeom prst="rect">
            <a:avLst/>
          </a:prstGeom>
          <a:noFill/>
        </p:spPr>
        <p:txBody>
          <a:bodyPr wrap="square" lIns="0" tIns="0" rIns="0" bIns="0">
            <a:spAutoFit/>
          </a:bodyPr>
          <a:lstStyle/>
          <a:p>
            <a:r>
              <a:rPr sz="1200" b="0" i="0">
                <a:solidFill>
                  <a:srgbClr val="B4C3D7"/>
                </a:solidFill>
                <a:latin typeface="Segoe UI"/>
              </a:rPr>
              <a:t>The end-to-end execution flow implemented across Phases 1 to 4.</a:t>
            </a:r>
          </a:p>
        </p:txBody>
      </p:sp>
      <p:sp>
        <p:nvSpPr>
          <p:cNvPr id="6" name="Rounded Rectangle 5"/>
          <p:cNvSpPr/>
          <p:nvPr/>
        </p:nvSpPr>
        <p:spPr>
          <a:xfrm>
            <a:off x="731520" y="1828800"/>
            <a:ext cx="1417320" cy="292608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1965960"/>
            <a:ext cx="1197864" cy="2651760"/>
          </a:xfrm>
          <a:prstGeom prst="rect">
            <a:avLst/>
          </a:prstGeom>
          <a:noFill/>
        </p:spPr>
        <p:txBody>
          <a:bodyPr wrap="square">
            <a:spAutoFit/>
          </a:bodyPr>
          <a:lstStyle/>
          <a:p>
            <a:r>
              <a:rPr sz="1200" b="1" i="0">
                <a:solidFill>
                  <a:srgbClr val="06B6D4"/>
                </a:solidFill>
                <a:latin typeface="Segoe UI"/>
              </a:rPr>
              <a:t>1. Ingestion</a:t>
            </a:r>
          </a:p>
          <a:p>
            <a:r>
              <a:rPr sz="1000" b="0" i="0">
                <a:solidFill>
                  <a:srgbClr val="E2E8F0"/>
                </a:solidFill>
                <a:latin typeface="Segoe UI"/>
              </a:rPr>
              <a:t>Clones git repo or local directory. Redacts secrets immediately.</a:t>
            </a:r>
          </a:p>
        </p:txBody>
      </p:sp>
      <p:sp>
        <p:nvSpPr>
          <p:cNvPr id="8" name="Rounded Rectangle 7"/>
          <p:cNvSpPr/>
          <p:nvPr/>
        </p:nvSpPr>
        <p:spPr>
          <a:xfrm>
            <a:off x="2267712" y="1828800"/>
            <a:ext cx="1417320" cy="292608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77440" y="1965960"/>
            <a:ext cx="1197864" cy="2651760"/>
          </a:xfrm>
          <a:prstGeom prst="rect">
            <a:avLst/>
          </a:prstGeom>
          <a:noFill/>
        </p:spPr>
        <p:txBody>
          <a:bodyPr wrap="square">
            <a:spAutoFit/>
          </a:bodyPr>
          <a:lstStyle/>
          <a:p>
            <a:r>
              <a:rPr sz="1200" b="1" i="0">
                <a:solidFill>
                  <a:srgbClr val="06B6D4"/>
                </a:solidFill>
                <a:latin typeface="Segoe UI"/>
              </a:rPr>
              <a:t>2. Discovery</a:t>
            </a:r>
          </a:p>
          <a:p>
            <a:r>
              <a:rPr sz="1000" b="0" i="0">
                <a:solidFill>
                  <a:srgbClr val="E2E8F0"/>
                </a:solidFill>
                <a:latin typeface="Segoe UI"/>
              </a:rPr>
              <a:t>Extracts AST, manifests, Dockerfiles, and test suites.</a:t>
            </a:r>
          </a:p>
        </p:txBody>
      </p:sp>
      <p:sp>
        <p:nvSpPr>
          <p:cNvPr id="10" name="Rounded Rectangle 9"/>
          <p:cNvSpPr/>
          <p:nvPr/>
        </p:nvSpPr>
        <p:spPr>
          <a:xfrm>
            <a:off x="3803904" y="1828800"/>
            <a:ext cx="1417320" cy="292608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913632" y="1965960"/>
            <a:ext cx="1197864" cy="2651760"/>
          </a:xfrm>
          <a:prstGeom prst="rect">
            <a:avLst/>
          </a:prstGeom>
          <a:noFill/>
        </p:spPr>
        <p:txBody>
          <a:bodyPr wrap="square">
            <a:spAutoFit/>
          </a:bodyPr>
          <a:lstStyle/>
          <a:p>
            <a:r>
              <a:rPr sz="1200" b="1" i="0">
                <a:solidFill>
                  <a:srgbClr val="10B981"/>
                </a:solidFill>
                <a:latin typeface="Segoe UI"/>
              </a:rPr>
              <a:t>3. Vector RAG</a:t>
            </a:r>
          </a:p>
          <a:p>
            <a:r>
              <a:rPr sz="1000" b="0" i="0">
                <a:solidFill>
                  <a:srgbClr val="E2E8F0"/>
                </a:solidFill>
                <a:latin typeface="Segoe UI"/>
              </a:rPr>
              <a:t>Chunks documentation into Chroma DB with semantic embeddings.</a:t>
            </a:r>
          </a:p>
        </p:txBody>
      </p:sp>
      <p:sp>
        <p:nvSpPr>
          <p:cNvPr id="12" name="Rounded Rectangle 11"/>
          <p:cNvSpPr/>
          <p:nvPr/>
        </p:nvSpPr>
        <p:spPr>
          <a:xfrm>
            <a:off x="5340096" y="1828800"/>
            <a:ext cx="1417320" cy="292608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49824" y="1965960"/>
            <a:ext cx="1197864" cy="2651760"/>
          </a:xfrm>
          <a:prstGeom prst="rect">
            <a:avLst/>
          </a:prstGeom>
          <a:noFill/>
        </p:spPr>
        <p:txBody>
          <a:bodyPr wrap="square">
            <a:spAutoFit/>
          </a:bodyPr>
          <a:lstStyle/>
          <a:p>
            <a:r>
              <a:rPr sz="1200" b="1" i="0">
                <a:solidFill>
                  <a:srgbClr val="10B981"/>
                </a:solidFill>
                <a:latin typeface="Segoe UI"/>
              </a:rPr>
              <a:t>4. Agents</a:t>
            </a:r>
          </a:p>
          <a:p>
            <a:r>
              <a:rPr sz="1000" b="0" i="0">
                <a:solidFill>
                  <a:srgbClr val="E2E8F0"/>
                </a:solidFill>
                <a:latin typeface="Segoe UI"/>
              </a:rPr>
              <a:t>Parallel execution across 6 specialized domain agents.</a:t>
            </a:r>
          </a:p>
        </p:txBody>
      </p:sp>
      <p:sp>
        <p:nvSpPr>
          <p:cNvPr id="14" name="Rounded Rectangle 13"/>
          <p:cNvSpPr/>
          <p:nvPr/>
        </p:nvSpPr>
        <p:spPr>
          <a:xfrm>
            <a:off x="6876288" y="1828800"/>
            <a:ext cx="1417320" cy="292608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86016" y="1965960"/>
            <a:ext cx="1197864" cy="2651760"/>
          </a:xfrm>
          <a:prstGeom prst="rect">
            <a:avLst/>
          </a:prstGeom>
          <a:noFill/>
        </p:spPr>
        <p:txBody>
          <a:bodyPr wrap="square">
            <a:spAutoFit/>
          </a:bodyPr>
          <a:lstStyle/>
          <a:p>
            <a:r>
              <a:rPr sz="1200" b="1" i="0">
                <a:solidFill>
                  <a:srgbClr val="FB923C"/>
                </a:solidFill>
                <a:latin typeface="Segoe UI"/>
              </a:rPr>
              <a:t>5. Critic Audit</a:t>
            </a:r>
          </a:p>
          <a:p>
            <a:r>
              <a:rPr sz="1000" b="0" i="0">
                <a:solidFill>
                  <a:srgbClr val="E2E8F0"/>
                </a:solidFill>
                <a:latin typeface="Segoe UI"/>
              </a:rPr>
              <a:t>Adversarially checks physical disk files &amp; line ranges.</a:t>
            </a:r>
          </a:p>
        </p:txBody>
      </p:sp>
      <p:sp>
        <p:nvSpPr>
          <p:cNvPr id="16" name="Rounded Rectangle 15"/>
          <p:cNvSpPr/>
          <p:nvPr/>
        </p:nvSpPr>
        <p:spPr>
          <a:xfrm>
            <a:off x="8412480" y="1828800"/>
            <a:ext cx="1417320" cy="292608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22208" y="1965960"/>
            <a:ext cx="1197864" cy="2651760"/>
          </a:xfrm>
          <a:prstGeom prst="rect">
            <a:avLst/>
          </a:prstGeom>
          <a:noFill/>
        </p:spPr>
        <p:txBody>
          <a:bodyPr wrap="square">
            <a:spAutoFit/>
          </a:bodyPr>
          <a:lstStyle/>
          <a:p>
            <a:r>
              <a:rPr sz="1200" b="1" i="0">
                <a:solidFill>
                  <a:srgbClr val="FB923C"/>
                </a:solidFill>
                <a:latin typeface="Segoe UI"/>
              </a:rPr>
              <a:t>6. Deduplication</a:t>
            </a:r>
          </a:p>
          <a:p>
            <a:r>
              <a:rPr sz="1000" b="0" i="0">
                <a:solidFill>
                  <a:srgbClr val="E2E8F0"/>
                </a:solidFill>
                <a:latin typeface="Segoe UI"/>
              </a:rPr>
              <a:t>Clusters multi-agent overlap &amp; elects canonical findings.</a:t>
            </a:r>
          </a:p>
        </p:txBody>
      </p:sp>
      <p:sp>
        <p:nvSpPr>
          <p:cNvPr id="18" name="Rounded Rectangle 17"/>
          <p:cNvSpPr/>
          <p:nvPr/>
        </p:nvSpPr>
        <p:spPr>
          <a:xfrm>
            <a:off x="9948672" y="1828800"/>
            <a:ext cx="1417320" cy="292608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0" y="1965960"/>
            <a:ext cx="1197864" cy="2651760"/>
          </a:xfrm>
          <a:prstGeom prst="rect">
            <a:avLst/>
          </a:prstGeom>
          <a:noFill/>
        </p:spPr>
        <p:txBody>
          <a:bodyPr wrap="square">
            <a:spAutoFit/>
          </a:bodyPr>
          <a:lstStyle/>
          <a:p>
            <a:r>
              <a:rPr sz="1200" b="1" i="0">
                <a:solidFill>
                  <a:srgbClr val="F87171"/>
                </a:solidFill>
                <a:latin typeface="Segoe UI"/>
              </a:rPr>
              <a:t>7. Risk Engine</a:t>
            </a:r>
          </a:p>
          <a:p>
            <a:r>
              <a:rPr sz="1000" b="0" i="0">
                <a:solidFill>
                  <a:srgbClr val="E2E8F0"/>
                </a:solidFill>
                <a:latin typeface="Segoe UI"/>
              </a:rPr>
              <a:t>Computes bounded 0–100 score via pure deterministic math.</a:t>
            </a:r>
          </a:p>
        </p:txBody>
      </p:sp>
      <p:sp>
        <p:nvSpPr>
          <p:cNvPr id="20" name="Rounded Rectangle 19"/>
          <p:cNvSpPr/>
          <p:nvPr/>
        </p:nvSpPr>
        <p:spPr>
          <a:xfrm>
            <a:off x="731520" y="4937760"/>
            <a:ext cx="10728655" cy="118872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029200"/>
            <a:ext cx="10362895" cy="1005840"/>
          </a:xfrm>
          <a:prstGeom prst="rect">
            <a:avLst/>
          </a:prstGeom>
          <a:noFill/>
        </p:spPr>
        <p:txBody>
          <a:bodyPr wrap="none">
            <a:spAutoFit/>
          </a:bodyPr>
          <a:lstStyle/>
          <a:p>
            <a:r>
              <a:rPr sz="1100" b="1" i="0">
                <a:solidFill>
                  <a:srgbClr val="10B981"/>
                </a:solidFill>
                <a:latin typeface="Consolas"/>
              </a:rPr>
              <a:t>CORE PIPELINE GUARANTEES IMPLEMENTED IN CODE:</a:t>
            </a:r>
          </a:p>
          <a:p>
            <a:r>
              <a:rPr sz="1050" b="0" i="0">
                <a:solidFill>
                  <a:srgbClr val="F8FAFC"/>
                </a:solidFill>
                <a:latin typeface="Segoe UI"/>
              </a:rPr>
              <a:t>• Zero-Hallucination Gate: If a cited file does not physically exist on disk, the Critic Agent rejects it immediately.</a:t>
            </a:r>
          </a:p>
          <a:p>
            <a:r>
              <a:rPr sz="1050" b="0" i="0">
                <a:solidFill>
                  <a:srgbClr val="F8FAFC"/>
                </a:solidFill>
                <a:latin typeface="Segoe UI"/>
              </a:rPr>
              <a:t>• Pure Math Risk Score: The LLM produces observations; the deterministic Risk Engine computes points. Same findings = exact same score.</a:t>
            </a:r>
          </a:p>
        </p:txBody>
      </p:sp>
      <p:sp>
        <p:nvSpPr>
          <p:cNvPr id="22" name="TextBox 21"/>
          <p:cNvSpPr txBox="1"/>
          <p:nvPr/>
        </p:nvSpPr>
        <p:spPr>
          <a:xfrm>
            <a:off x="731520" y="6446520"/>
            <a:ext cx="10728655" cy="274320"/>
          </a:xfrm>
          <a:prstGeom prst="rect">
            <a:avLst/>
          </a:prstGeom>
          <a:noFill/>
        </p:spPr>
        <p:txBody>
          <a:bodyPr wrap="none" lIns="0" tIns="0" rIns="0" bIns="0">
            <a:spAutoFit/>
          </a:bodyPr>
          <a:lstStyle/>
          <a:p>
            <a:r>
              <a:rPr sz="900" b="0" i="0">
                <a:solidFill>
                  <a:srgbClr val="94A3B8"/>
                </a:solidFill>
                <a:latin typeface="Segoe UI"/>
              </a:rPr>
              <a:t>DeploySafe — AI-Powered Deployment Readiness Platform  |  Agentic AI (CSE3101) Midterm  |  Slide 5 of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7315200" cy="320040"/>
          </a:xfrm>
          <a:prstGeom prst="rect">
            <a:avLst/>
          </a:prstGeom>
          <a:noFill/>
        </p:spPr>
        <p:txBody>
          <a:bodyPr wrap="square" lIns="0" tIns="0" rIns="0" bIns="0">
            <a:spAutoFit/>
          </a:bodyPr>
          <a:lstStyle/>
          <a:p>
            <a:r>
              <a:rPr sz="1000" b="1" i="0">
                <a:solidFill>
                  <a:srgbClr val="10B981"/>
                </a:solidFill>
                <a:latin typeface="Segoe UI"/>
              </a:rPr>
              <a:t>SYSTEM DESIGN</a:t>
            </a:r>
          </a:p>
        </p:txBody>
      </p:sp>
      <p:sp>
        <p:nvSpPr>
          <p:cNvPr id="4" name="TextBox 3"/>
          <p:cNvSpPr txBox="1"/>
          <p:nvPr/>
        </p:nvSpPr>
        <p:spPr>
          <a:xfrm>
            <a:off x="731520" y="658368"/>
            <a:ext cx="10058400" cy="548640"/>
          </a:xfrm>
          <a:prstGeom prst="rect">
            <a:avLst/>
          </a:prstGeom>
          <a:noFill/>
        </p:spPr>
        <p:txBody>
          <a:bodyPr wrap="square" lIns="0" tIns="0" rIns="0" bIns="0">
            <a:spAutoFit/>
          </a:bodyPr>
          <a:lstStyle/>
          <a:p>
            <a:r>
              <a:rPr sz="2400" b="1" i="0">
                <a:solidFill>
                  <a:srgbClr val="F8FAFC"/>
                </a:solidFill>
                <a:latin typeface="Segoe UI"/>
              </a:rPr>
              <a:t>DeploySafe Technical Architecture</a:t>
            </a:r>
          </a:p>
        </p:txBody>
      </p:sp>
      <p:sp>
        <p:nvSpPr>
          <p:cNvPr id="5" name="TextBox 4"/>
          <p:cNvSpPr txBox="1"/>
          <p:nvPr/>
        </p:nvSpPr>
        <p:spPr>
          <a:xfrm>
            <a:off x="731520" y="1207008"/>
            <a:ext cx="10058400" cy="365760"/>
          </a:xfrm>
          <a:prstGeom prst="rect">
            <a:avLst/>
          </a:prstGeom>
          <a:noFill/>
        </p:spPr>
        <p:txBody>
          <a:bodyPr wrap="square" lIns="0" tIns="0" rIns="0" bIns="0">
            <a:spAutoFit/>
          </a:bodyPr>
          <a:lstStyle/>
          <a:p>
            <a:r>
              <a:rPr sz="1200" b="0" i="0">
                <a:solidFill>
                  <a:srgbClr val="B4C3D7"/>
                </a:solidFill>
                <a:latin typeface="Segoe UI"/>
              </a:rPr>
              <a:t>Decoupling deterministic tools from agentic reasoning and evidence-backed synthesis.</a:t>
            </a:r>
          </a:p>
        </p:txBody>
      </p:sp>
      <p:sp>
        <p:nvSpPr>
          <p:cNvPr id="6" name="Rounded Rectangle 5"/>
          <p:cNvSpPr/>
          <p:nvPr/>
        </p:nvSpPr>
        <p:spPr>
          <a:xfrm>
            <a:off x="731520" y="1645920"/>
            <a:ext cx="10728655" cy="594360"/>
          </a:xfrm>
          <a:prstGeom prst="roundRect">
            <a:avLst/>
          </a:prstGeom>
          <a:solidFill>
            <a:srgbClr val="141B2D"/>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10362895" cy="411480"/>
          </a:xfrm>
          <a:prstGeom prst="rect">
            <a:avLst/>
          </a:prstGeom>
          <a:noFill/>
        </p:spPr>
        <p:txBody>
          <a:bodyPr wrap="none">
            <a:spAutoFit/>
          </a:bodyPr>
          <a:lstStyle/>
          <a:p>
            <a:pPr algn="ctr"/>
            <a:r>
              <a:rPr sz="1100" b="0" i="0">
                <a:solidFill>
                  <a:srgbClr val="06B6D4"/>
                </a:solidFill>
                <a:latin typeface="Consolas"/>
              </a:rPr>
              <a:t>WEB UI: React 18  •  TypeScript  •  TailwindCSS  •  Live Telemetry  •  Evidence Inspector  •  Multi-Format Exports</a:t>
            </a:r>
          </a:p>
        </p:txBody>
      </p:sp>
      <p:sp>
        <p:nvSpPr>
          <p:cNvPr id="8" name="Rounded Rectangle 7"/>
          <p:cNvSpPr/>
          <p:nvPr/>
        </p:nvSpPr>
        <p:spPr>
          <a:xfrm>
            <a:off x="1828800" y="2423160"/>
            <a:ext cx="8534095" cy="548640"/>
          </a:xfrm>
          <a:prstGeom prst="roundRect">
            <a:avLst/>
          </a:prstGeom>
          <a:solidFill>
            <a:srgbClr val="141B2D"/>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80" y="2487168"/>
            <a:ext cx="8168335" cy="411480"/>
          </a:xfrm>
          <a:prstGeom prst="rect">
            <a:avLst/>
          </a:prstGeom>
          <a:noFill/>
        </p:spPr>
        <p:txBody>
          <a:bodyPr wrap="none">
            <a:spAutoFit/>
          </a:bodyPr>
          <a:lstStyle/>
          <a:p>
            <a:pPr algn="ctr"/>
            <a:r>
              <a:rPr sz="1100" b="0" i="0">
                <a:solidFill>
                  <a:srgbClr val="10B981"/>
                </a:solidFill>
                <a:latin typeface="Consolas"/>
              </a:rPr>
              <a:t>FASTAPI BACKEND GATEWAY: REST APIs (/dashboard, /runs, /findings, /analysis, /flow)</a:t>
            </a:r>
          </a:p>
        </p:txBody>
      </p:sp>
      <p:sp>
        <p:nvSpPr>
          <p:cNvPr id="10" name="Rounded Rectangle 9"/>
          <p:cNvSpPr/>
          <p:nvPr/>
        </p:nvSpPr>
        <p:spPr>
          <a:xfrm>
            <a:off x="731520" y="3154680"/>
            <a:ext cx="3429000" cy="182880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264408"/>
            <a:ext cx="3154680" cy="1609344"/>
          </a:xfrm>
          <a:prstGeom prst="rect">
            <a:avLst/>
          </a:prstGeom>
          <a:noFill/>
        </p:spPr>
        <p:txBody>
          <a:bodyPr wrap="square">
            <a:spAutoFit/>
          </a:bodyPr>
          <a:lstStyle/>
          <a:p>
            <a:r>
              <a:rPr sz="1100" b="1" i="0">
                <a:solidFill>
                  <a:srgbClr val="10B981"/>
                </a:solidFill>
                <a:latin typeface="Consolas"/>
              </a:rPr>
              <a:t>CREWAI AGENTS (Parallel)</a:t>
            </a:r>
          </a:p>
          <a:p>
            <a:r>
              <a:rPr sz="1000" b="0" i="0">
                <a:solidFill>
                  <a:srgbClr val="F8FAFC"/>
                </a:solidFill>
                <a:latin typeface="Segoe UI"/>
              </a:rPr>
              <a:t>• Code Analysis Agent</a:t>
            </a:r>
          </a:p>
          <a:p>
            <a:r>
              <a:rPr sz="1000" b="0" i="0">
                <a:solidFill>
                  <a:srgbClr val="F8FAFC"/>
                </a:solidFill>
                <a:latin typeface="Segoe UI"/>
              </a:rPr>
              <a:t>• Dependency Agent</a:t>
            </a:r>
          </a:p>
          <a:p>
            <a:r>
              <a:rPr sz="1000" b="0" i="0">
                <a:solidFill>
                  <a:srgbClr val="F8FAFC"/>
                </a:solidFill>
                <a:latin typeface="Segoe UI"/>
              </a:rPr>
              <a:t>• Configuration Agent</a:t>
            </a:r>
          </a:p>
          <a:p>
            <a:r>
              <a:rPr sz="1000" b="0" i="0">
                <a:solidFill>
                  <a:srgbClr val="F8FAFC"/>
                </a:solidFill>
                <a:latin typeface="Segoe UI"/>
              </a:rPr>
              <a:t>• Test Agent</a:t>
            </a:r>
          </a:p>
          <a:p>
            <a:r>
              <a:rPr sz="1000" b="0" i="0">
                <a:solidFill>
                  <a:srgbClr val="F8FAFC"/>
                </a:solidFill>
                <a:latin typeface="Segoe UI"/>
              </a:rPr>
              <a:t>• Security Agent</a:t>
            </a:r>
          </a:p>
        </p:txBody>
      </p:sp>
      <p:sp>
        <p:nvSpPr>
          <p:cNvPr id="12" name="Rounded Rectangle 11"/>
          <p:cNvSpPr/>
          <p:nvPr/>
        </p:nvSpPr>
        <p:spPr>
          <a:xfrm>
            <a:off x="4380890" y="3154680"/>
            <a:ext cx="3429000" cy="182880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18050" y="3264408"/>
            <a:ext cx="3154680" cy="1609344"/>
          </a:xfrm>
          <a:prstGeom prst="rect">
            <a:avLst/>
          </a:prstGeom>
          <a:noFill/>
        </p:spPr>
        <p:txBody>
          <a:bodyPr wrap="square">
            <a:spAutoFit/>
          </a:bodyPr>
          <a:lstStyle/>
          <a:p>
            <a:r>
              <a:rPr sz="1100" b="1" i="0">
                <a:solidFill>
                  <a:srgbClr val="06B6D4"/>
                </a:solidFill>
                <a:latin typeface="Consolas"/>
              </a:rPr>
              <a:t>KNOWLEDGE / RAG</a:t>
            </a:r>
          </a:p>
          <a:p>
            <a:r>
              <a:rPr sz="1000" b="0" i="0">
                <a:solidFill>
                  <a:srgbClr val="F8FAFC"/>
                </a:solidFill>
                <a:latin typeface="Segoe UI"/>
              </a:rPr>
              <a:t>• Documentation RAG Agent</a:t>
            </a:r>
          </a:p>
          <a:p>
            <a:r>
              <a:rPr sz="1000" b="0" i="0">
                <a:solidFill>
                  <a:srgbClr val="F8FAFC"/>
                </a:solidFill>
                <a:latin typeface="Segoe UI"/>
              </a:rPr>
              <a:t>• Chroma Vector Database</a:t>
            </a:r>
          </a:p>
          <a:p>
            <a:r>
              <a:rPr sz="1000" b="0" i="0">
                <a:solidFill>
                  <a:srgbClr val="F8FAFC"/>
                </a:solidFill>
                <a:latin typeface="Segoe UI"/>
              </a:rPr>
              <a:t>• Local Deterministic Embeddings</a:t>
            </a:r>
          </a:p>
          <a:p>
            <a:r>
              <a:rPr sz="1000" b="0" i="0">
                <a:solidFill>
                  <a:srgbClr val="F8FAFC"/>
                </a:solidFill>
                <a:latin typeface="Segoe UI"/>
              </a:rPr>
              <a:t>• Heading/Function Chunking</a:t>
            </a:r>
          </a:p>
          <a:p>
            <a:r>
              <a:rPr sz="1000" b="0" i="0">
                <a:solidFill>
                  <a:srgbClr val="F8FAFC"/>
                </a:solidFill>
                <a:latin typeface="Segoe UI"/>
              </a:rPr>
              <a:t>• Semantic Cosine Search</a:t>
            </a:r>
          </a:p>
        </p:txBody>
      </p:sp>
      <p:sp>
        <p:nvSpPr>
          <p:cNvPr id="14" name="Rounded Rectangle 13"/>
          <p:cNvSpPr/>
          <p:nvPr/>
        </p:nvSpPr>
        <p:spPr>
          <a:xfrm>
            <a:off x="8031175" y="3154680"/>
            <a:ext cx="3429000" cy="182880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8335" y="3264408"/>
            <a:ext cx="3154680" cy="1609344"/>
          </a:xfrm>
          <a:prstGeom prst="rect">
            <a:avLst/>
          </a:prstGeom>
          <a:noFill/>
        </p:spPr>
        <p:txBody>
          <a:bodyPr wrap="square">
            <a:spAutoFit/>
          </a:bodyPr>
          <a:lstStyle/>
          <a:p>
            <a:r>
              <a:rPr sz="1100" b="1" i="0">
                <a:solidFill>
                  <a:srgbClr val="FB923C"/>
                </a:solidFill>
                <a:latin typeface="Consolas"/>
              </a:rPr>
              <a:t>TYPED TOOLS &amp; SANDBOX</a:t>
            </a:r>
          </a:p>
          <a:p>
            <a:r>
              <a:rPr sz="1000" b="0" i="0">
                <a:solidFill>
                  <a:srgbClr val="F8FAFC"/>
                </a:solidFill>
                <a:latin typeface="Segoe UI"/>
              </a:rPr>
              <a:t>• Sandboxed Safe Executor</a:t>
            </a:r>
          </a:p>
          <a:p>
            <a:r>
              <a:rPr sz="1000" b="0" i="0">
                <a:solidFill>
                  <a:srgbClr val="F8FAFC"/>
                </a:solidFill>
                <a:latin typeface="Segoe UI"/>
              </a:rPr>
              <a:t>• Binary Allowlists (pytest, git)</a:t>
            </a:r>
          </a:p>
          <a:p>
            <a:r>
              <a:rPr sz="1000" b="0" i="0">
                <a:solidFill>
                  <a:srgbClr val="F8FAFC"/>
                </a:solidFill>
                <a:latin typeface="Segoe UI"/>
              </a:rPr>
              <a:t>• Path Traversal Defense</a:t>
            </a:r>
          </a:p>
          <a:p>
            <a:r>
              <a:rPr sz="1000" b="0" i="0">
                <a:solidFill>
                  <a:srgbClr val="F8FAFC"/>
                </a:solidFill>
                <a:latin typeface="Segoe UI"/>
              </a:rPr>
              <a:t>• Entropy Secret Redaction</a:t>
            </a:r>
          </a:p>
          <a:p>
            <a:r>
              <a:rPr sz="1000" b="0" i="0">
                <a:solidFill>
                  <a:srgbClr val="F8FAFC"/>
                </a:solidFill>
                <a:latin typeface="Segoe UI"/>
              </a:rPr>
              <a:t>• AST &amp; Manifest Parsers</a:t>
            </a:r>
          </a:p>
        </p:txBody>
      </p:sp>
      <p:sp>
        <p:nvSpPr>
          <p:cNvPr id="16" name="Rounded Rectangle 15"/>
          <p:cNvSpPr/>
          <p:nvPr/>
        </p:nvSpPr>
        <p:spPr>
          <a:xfrm>
            <a:off x="731520" y="5166360"/>
            <a:ext cx="10728655" cy="1051560"/>
          </a:xfrm>
          <a:prstGeom prst="roundRect">
            <a:avLst/>
          </a:prstGeom>
          <a:solidFill>
            <a:srgbClr val="141B2D"/>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230368"/>
            <a:ext cx="10362895" cy="914400"/>
          </a:xfrm>
          <a:prstGeom prst="rect">
            <a:avLst/>
          </a:prstGeom>
          <a:noFill/>
        </p:spPr>
        <p:txBody>
          <a:bodyPr wrap="none">
            <a:spAutoFit/>
          </a:bodyPr>
          <a:lstStyle/>
          <a:p>
            <a:r>
              <a:rPr sz="1100" b="1" i="0">
                <a:solidFill>
                  <a:srgbClr val="F87171"/>
                </a:solidFill>
                <a:latin typeface="Consolas"/>
              </a:rPr>
              <a:t>VERIFICATION &amp; DETERMINISTIC SCORING ENGINE:</a:t>
            </a:r>
          </a:p>
          <a:p>
            <a:r>
              <a:rPr sz="1050" b="1" i="0">
                <a:solidFill>
                  <a:srgbClr val="F8FAFC"/>
                </a:solidFill>
                <a:latin typeface="Consolas"/>
              </a:rPr>
              <a:t>Candidate Findings ──▶ Critic Agent (Grounding) ──▶ Deduplication Service ──▶ RiskEngine (0–100 Bounded Score)</a:t>
            </a:r>
          </a:p>
        </p:txBody>
      </p:sp>
      <p:sp>
        <p:nvSpPr>
          <p:cNvPr id="18" name="TextBox 17"/>
          <p:cNvSpPr txBox="1"/>
          <p:nvPr/>
        </p:nvSpPr>
        <p:spPr>
          <a:xfrm>
            <a:off x="731520" y="6446520"/>
            <a:ext cx="10728655" cy="274320"/>
          </a:xfrm>
          <a:prstGeom prst="rect">
            <a:avLst/>
          </a:prstGeom>
          <a:noFill/>
        </p:spPr>
        <p:txBody>
          <a:bodyPr wrap="none" lIns="0" tIns="0" rIns="0" bIns="0">
            <a:spAutoFit/>
          </a:bodyPr>
          <a:lstStyle/>
          <a:p>
            <a:r>
              <a:rPr sz="900" b="0" i="0">
                <a:solidFill>
                  <a:srgbClr val="94A3B8"/>
                </a:solidFill>
                <a:latin typeface="Segoe UI"/>
              </a:rPr>
              <a:t>DeploySafe — AI-Powered Deployment Readiness Platform  |  Agentic AI (CSE3101) Midterm  |  Slide 6 of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7315200" cy="320040"/>
          </a:xfrm>
          <a:prstGeom prst="rect">
            <a:avLst/>
          </a:prstGeom>
          <a:noFill/>
        </p:spPr>
        <p:txBody>
          <a:bodyPr wrap="square" lIns="0" tIns="0" rIns="0" bIns="0">
            <a:spAutoFit/>
          </a:bodyPr>
          <a:lstStyle/>
          <a:p>
            <a:r>
              <a:rPr sz="1000" b="1" i="0">
                <a:solidFill>
                  <a:srgbClr val="10B981"/>
                </a:solidFill>
                <a:latin typeface="Segoe UI"/>
              </a:rPr>
              <a:t>AGENTIC ARCHITECTURE</a:t>
            </a:r>
          </a:p>
        </p:txBody>
      </p:sp>
      <p:sp>
        <p:nvSpPr>
          <p:cNvPr id="4" name="TextBox 3"/>
          <p:cNvSpPr txBox="1"/>
          <p:nvPr/>
        </p:nvSpPr>
        <p:spPr>
          <a:xfrm>
            <a:off x="731520" y="658368"/>
            <a:ext cx="10058400" cy="548640"/>
          </a:xfrm>
          <a:prstGeom prst="rect">
            <a:avLst/>
          </a:prstGeom>
          <a:noFill/>
        </p:spPr>
        <p:txBody>
          <a:bodyPr wrap="square" lIns="0" tIns="0" rIns="0" bIns="0">
            <a:spAutoFit/>
          </a:bodyPr>
          <a:lstStyle/>
          <a:p>
            <a:r>
              <a:rPr sz="2400" b="1" i="0">
                <a:solidFill>
                  <a:srgbClr val="F8FAFC"/>
                </a:solidFill>
                <a:latin typeface="Segoe UI"/>
              </a:rPr>
              <a:t>Why Multi-Agent? Specialized Domain Delegation</a:t>
            </a:r>
          </a:p>
        </p:txBody>
      </p:sp>
      <p:sp>
        <p:nvSpPr>
          <p:cNvPr id="5" name="TextBox 4"/>
          <p:cNvSpPr txBox="1"/>
          <p:nvPr/>
        </p:nvSpPr>
        <p:spPr>
          <a:xfrm>
            <a:off x="731520" y="1207008"/>
            <a:ext cx="10058400" cy="365760"/>
          </a:xfrm>
          <a:prstGeom prst="rect">
            <a:avLst/>
          </a:prstGeom>
          <a:noFill/>
        </p:spPr>
        <p:txBody>
          <a:bodyPr wrap="square" lIns="0" tIns="0" rIns="0" bIns="0">
            <a:spAutoFit/>
          </a:bodyPr>
          <a:lstStyle/>
          <a:p>
            <a:r>
              <a:rPr sz="1200" b="0" i="0">
                <a:solidFill>
                  <a:srgbClr val="B4C3D7"/>
                </a:solidFill>
                <a:latin typeface="Segoe UI"/>
              </a:rPr>
              <a:t>A single monolithic prompt suffers from context dilution, hallucinations, and tool overload.</a:t>
            </a:r>
          </a:p>
        </p:txBody>
      </p:sp>
      <p:sp>
        <p:nvSpPr>
          <p:cNvPr id="6" name="Rounded Rectangle 5"/>
          <p:cNvSpPr/>
          <p:nvPr/>
        </p:nvSpPr>
        <p:spPr>
          <a:xfrm>
            <a:off x="731520" y="1645920"/>
            <a:ext cx="2542032" cy="210312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810512"/>
            <a:ext cx="2212848" cy="1773936"/>
          </a:xfrm>
          <a:prstGeom prst="rect">
            <a:avLst/>
          </a:prstGeom>
          <a:noFill/>
        </p:spPr>
        <p:txBody>
          <a:bodyPr wrap="square">
            <a:spAutoFit/>
          </a:bodyPr>
          <a:lstStyle/>
          <a:p>
            <a:r>
              <a:rPr sz="1200" b="1" i="0">
                <a:solidFill>
                  <a:srgbClr val="06B6D4"/>
                </a:solidFill>
                <a:latin typeface="Segoe UI"/>
              </a:rPr>
              <a:t>Code Analysis Agent</a:t>
            </a:r>
          </a:p>
          <a:p>
            <a:r>
              <a:rPr sz="1000" b="0" i="0">
                <a:solidFill>
                  <a:srgbClr val="E2E8F0"/>
                </a:solidFill>
                <a:latin typeface="Segoe UI"/>
              </a:rPr>
              <a:t>Inspects source files for hardcoded localhost endpoints, swallowing exception handlers, and unsafe environment parsing.</a:t>
            </a:r>
          </a:p>
        </p:txBody>
      </p:sp>
      <p:sp>
        <p:nvSpPr>
          <p:cNvPr id="8" name="Rounded Rectangle 7"/>
          <p:cNvSpPr/>
          <p:nvPr/>
        </p:nvSpPr>
        <p:spPr>
          <a:xfrm>
            <a:off x="3456432" y="1645920"/>
            <a:ext cx="2542032" cy="210312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21024" y="1810512"/>
            <a:ext cx="2212848" cy="1773936"/>
          </a:xfrm>
          <a:prstGeom prst="rect">
            <a:avLst/>
          </a:prstGeom>
          <a:noFill/>
        </p:spPr>
        <p:txBody>
          <a:bodyPr wrap="square">
            <a:spAutoFit/>
          </a:bodyPr>
          <a:lstStyle/>
          <a:p>
            <a:r>
              <a:rPr sz="1200" b="1" i="0">
                <a:solidFill>
                  <a:srgbClr val="10B981"/>
                </a:solidFill>
                <a:latin typeface="Segoe UI"/>
              </a:rPr>
              <a:t>Dependency Agent</a:t>
            </a:r>
          </a:p>
          <a:p>
            <a:r>
              <a:rPr sz="1000" b="0" i="0">
                <a:solidFill>
                  <a:srgbClr val="E2E8F0"/>
                </a:solidFill>
                <a:latin typeface="Segoe UI"/>
              </a:rPr>
              <a:t>Parses requirements.txt and package.json to identify unpinned dependencies and missing lockfiles.</a:t>
            </a:r>
          </a:p>
        </p:txBody>
      </p:sp>
      <p:sp>
        <p:nvSpPr>
          <p:cNvPr id="10" name="Rounded Rectangle 9"/>
          <p:cNvSpPr/>
          <p:nvPr/>
        </p:nvSpPr>
        <p:spPr>
          <a:xfrm>
            <a:off x="6181344" y="1645920"/>
            <a:ext cx="2542032" cy="210312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45936" y="1810512"/>
            <a:ext cx="2212848" cy="1773936"/>
          </a:xfrm>
          <a:prstGeom prst="rect">
            <a:avLst/>
          </a:prstGeom>
          <a:noFill/>
        </p:spPr>
        <p:txBody>
          <a:bodyPr wrap="square">
            <a:spAutoFit/>
          </a:bodyPr>
          <a:lstStyle/>
          <a:p>
            <a:r>
              <a:rPr sz="1200" b="1" i="0">
                <a:solidFill>
                  <a:srgbClr val="10B981"/>
                </a:solidFill>
                <a:latin typeface="Segoe UI"/>
              </a:rPr>
              <a:t>Configuration Agent</a:t>
            </a:r>
          </a:p>
          <a:p>
            <a:r>
              <a:rPr sz="1000" b="0" i="0">
                <a:solidFill>
                  <a:srgbClr val="E2E8F0"/>
                </a:solidFill>
                <a:latin typeface="Segoe UI"/>
              </a:rPr>
              <a:t>Audits Dockerfiles and compose manifests for unpinned base tags (python:latest) and config drift.</a:t>
            </a:r>
          </a:p>
        </p:txBody>
      </p:sp>
      <p:sp>
        <p:nvSpPr>
          <p:cNvPr id="12" name="Rounded Rectangle 11"/>
          <p:cNvSpPr/>
          <p:nvPr/>
        </p:nvSpPr>
        <p:spPr>
          <a:xfrm>
            <a:off x="8906256" y="1645920"/>
            <a:ext cx="2542032" cy="210312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70848" y="1810512"/>
            <a:ext cx="2212848" cy="1773936"/>
          </a:xfrm>
          <a:prstGeom prst="rect">
            <a:avLst/>
          </a:prstGeom>
          <a:noFill/>
        </p:spPr>
        <p:txBody>
          <a:bodyPr wrap="square">
            <a:spAutoFit/>
          </a:bodyPr>
          <a:lstStyle/>
          <a:p>
            <a:r>
              <a:rPr sz="1200" b="1" i="0">
                <a:solidFill>
                  <a:srgbClr val="FB923C"/>
                </a:solidFill>
                <a:latin typeface="Segoe UI"/>
              </a:rPr>
              <a:t>Test Analysis Agent</a:t>
            </a:r>
          </a:p>
          <a:p>
            <a:r>
              <a:rPr sz="1000" b="0" i="0">
                <a:solidFill>
                  <a:srgbClr val="E2E8F0"/>
                </a:solidFill>
                <a:latin typeface="Segoe UI"/>
              </a:rPr>
              <a:t>Executes sandboxed pytest and strictly separates OBSERVED failures from INFERRED missing coverage.</a:t>
            </a:r>
          </a:p>
        </p:txBody>
      </p:sp>
      <p:sp>
        <p:nvSpPr>
          <p:cNvPr id="14" name="Rounded Rectangle 13"/>
          <p:cNvSpPr/>
          <p:nvPr/>
        </p:nvSpPr>
        <p:spPr>
          <a:xfrm>
            <a:off x="731520" y="3931920"/>
            <a:ext cx="2542032" cy="210312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4096512"/>
            <a:ext cx="2212848" cy="1773936"/>
          </a:xfrm>
          <a:prstGeom prst="rect">
            <a:avLst/>
          </a:prstGeom>
          <a:noFill/>
        </p:spPr>
        <p:txBody>
          <a:bodyPr wrap="square">
            <a:spAutoFit/>
          </a:bodyPr>
          <a:lstStyle/>
          <a:p>
            <a:r>
              <a:rPr sz="1200" b="1" i="0">
                <a:solidFill>
                  <a:srgbClr val="06B6D4"/>
                </a:solidFill>
                <a:latin typeface="Segoe UI"/>
              </a:rPr>
              <a:t>Documentation RAG</a:t>
            </a:r>
          </a:p>
          <a:p>
            <a:r>
              <a:rPr sz="1000" b="0" i="0">
                <a:solidFill>
                  <a:srgbClr val="E2E8F0"/>
                </a:solidFill>
                <a:latin typeface="Segoe UI"/>
              </a:rPr>
              <a:t>Queries Chroma vector store to extract documented mandatory requirements (e.g. REDIS_URL) &amp; verifies compose blocks.</a:t>
            </a:r>
          </a:p>
        </p:txBody>
      </p:sp>
      <p:sp>
        <p:nvSpPr>
          <p:cNvPr id="16" name="Rounded Rectangle 15"/>
          <p:cNvSpPr/>
          <p:nvPr/>
        </p:nvSpPr>
        <p:spPr>
          <a:xfrm>
            <a:off x="3456432" y="3931920"/>
            <a:ext cx="2542032" cy="210312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21024" y="4096512"/>
            <a:ext cx="2212848" cy="1773936"/>
          </a:xfrm>
          <a:prstGeom prst="rect">
            <a:avLst/>
          </a:prstGeom>
          <a:noFill/>
        </p:spPr>
        <p:txBody>
          <a:bodyPr wrap="square">
            <a:spAutoFit/>
          </a:bodyPr>
          <a:lstStyle/>
          <a:p>
            <a:r>
              <a:rPr sz="1200" b="1" i="0">
                <a:solidFill>
                  <a:srgbClr val="F87171"/>
                </a:solidFill>
                <a:latin typeface="Segoe UI"/>
              </a:rPr>
              <a:t>Security Agent</a:t>
            </a:r>
          </a:p>
          <a:p>
            <a:r>
              <a:rPr sz="1000" b="0" i="0">
                <a:solidFill>
                  <a:srgbClr val="E2E8F0"/>
                </a:solidFill>
                <a:latin typeface="Segoe UI"/>
              </a:rPr>
              <a:t>Runs static vulnerability scans, detects credentials, and masks secrets (***REDACTED_SECRET***).</a:t>
            </a:r>
          </a:p>
        </p:txBody>
      </p:sp>
      <p:sp>
        <p:nvSpPr>
          <p:cNvPr id="18" name="Rounded Rectangle 17"/>
          <p:cNvSpPr/>
          <p:nvPr/>
        </p:nvSpPr>
        <p:spPr>
          <a:xfrm>
            <a:off x="6181344" y="3931920"/>
            <a:ext cx="2542032" cy="210312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45936" y="4096512"/>
            <a:ext cx="2212848" cy="1773936"/>
          </a:xfrm>
          <a:prstGeom prst="rect">
            <a:avLst/>
          </a:prstGeom>
          <a:noFill/>
        </p:spPr>
        <p:txBody>
          <a:bodyPr wrap="square">
            <a:spAutoFit/>
          </a:bodyPr>
          <a:lstStyle/>
          <a:p>
            <a:r>
              <a:rPr sz="1200" b="1" i="0">
                <a:solidFill>
                  <a:srgbClr val="F87171"/>
                </a:solidFill>
                <a:latin typeface="Segoe UI"/>
              </a:rPr>
              <a:t>Critic Gatekeeper</a:t>
            </a:r>
          </a:p>
          <a:p>
            <a:r>
              <a:rPr sz="1000" b="0" i="0">
                <a:solidFill>
                  <a:srgbClr val="E2E8F0"/>
                </a:solidFill>
                <a:latin typeface="Segoe UI"/>
              </a:rPr>
              <a:t>Verifies that cited files physically exist on disk, validates line numbers, and rejects hallucinations.</a:t>
            </a:r>
          </a:p>
        </p:txBody>
      </p:sp>
      <p:sp>
        <p:nvSpPr>
          <p:cNvPr id="20" name="Rounded Rectangle 19"/>
          <p:cNvSpPr/>
          <p:nvPr/>
        </p:nvSpPr>
        <p:spPr>
          <a:xfrm>
            <a:off x="8906256" y="3931920"/>
            <a:ext cx="2542032" cy="210312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70848" y="4096512"/>
            <a:ext cx="2212848" cy="1773936"/>
          </a:xfrm>
          <a:prstGeom prst="rect">
            <a:avLst/>
          </a:prstGeom>
          <a:noFill/>
        </p:spPr>
        <p:txBody>
          <a:bodyPr wrap="square">
            <a:spAutoFit/>
          </a:bodyPr>
          <a:lstStyle/>
          <a:p>
            <a:r>
              <a:rPr sz="1200" b="1" i="0">
                <a:solidFill>
                  <a:srgbClr val="FB923C"/>
                </a:solidFill>
                <a:latin typeface="Segoe UI"/>
              </a:rPr>
              <a:t>Report Agent</a:t>
            </a:r>
          </a:p>
          <a:p>
            <a:r>
              <a:rPr sz="1000" b="0" i="0">
                <a:solidFill>
                  <a:srgbClr val="E2E8F0"/>
                </a:solidFill>
                <a:latin typeface="Segoe UI"/>
              </a:rPr>
              <a:t>Synthesizes audited findings, compiles category distributions, and formats executive intelligence reports.</a:t>
            </a:r>
          </a:p>
        </p:txBody>
      </p:sp>
      <p:sp>
        <p:nvSpPr>
          <p:cNvPr id="22" name="TextBox 21"/>
          <p:cNvSpPr txBox="1"/>
          <p:nvPr/>
        </p:nvSpPr>
        <p:spPr>
          <a:xfrm>
            <a:off x="731520" y="6446520"/>
            <a:ext cx="10728655" cy="274320"/>
          </a:xfrm>
          <a:prstGeom prst="rect">
            <a:avLst/>
          </a:prstGeom>
          <a:noFill/>
        </p:spPr>
        <p:txBody>
          <a:bodyPr wrap="none" lIns="0" tIns="0" rIns="0" bIns="0">
            <a:spAutoFit/>
          </a:bodyPr>
          <a:lstStyle/>
          <a:p>
            <a:r>
              <a:rPr sz="900" b="0" i="0">
                <a:solidFill>
                  <a:srgbClr val="94A3B8"/>
                </a:solidFill>
                <a:latin typeface="Segoe UI"/>
              </a:rPr>
              <a:t>DeploySafe — AI-Powered Deployment Readiness Platform  |  Agentic AI (CSE3101) Midterm  |  Slide 7 of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7315200" cy="320040"/>
          </a:xfrm>
          <a:prstGeom prst="rect">
            <a:avLst/>
          </a:prstGeom>
          <a:noFill/>
        </p:spPr>
        <p:txBody>
          <a:bodyPr wrap="square" lIns="0" tIns="0" rIns="0" bIns="0">
            <a:spAutoFit/>
          </a:bodyPr>
          <a:lstStyle/>
          <a:p>
            <a:r>
              <a:rPr sz="1000" b="1" i="0">
                <a:solidFill>
                  <a:srgbClr val="10B981"/>
                </a:solidFill>
                <a:latin typeface="Segoe UI"/>
              </a:rPr>
              <a:t>KNOWLEDGE RETRIEVAL</a:t>
            </a:r>
          </a:p>
        </p:txBody>
      </p:sp>
      <p:sp>
        <p:nvSpPr>
          <p:cNvPr id="4" name="TextBox 3"/>
          <p:cNvSpPr txBox="1"/>
          <p:nvPr/>
        </p:nvSpPr>
        <p:spPr>
          <a:xfrm>
            <a:off x="731520" y="658368"/>
            <a:ext cx="10058400" cy="548640"/>
          </a:xfrm>
          <a:prstGeom prst="rect">
            <a:avLst/>
          </a:prstGeom>
          <a:noFill/>
        </p:spPr>
        <p:txBody>
          <a:bodyPr wrap="square" lIns="0" tIns="0" rIns="0" bIns="0">
            <a:spAutoFit/>
          </a:bodyPr>
          <a:lstStyle/>
          <a:p>
            <a:r>
              <a:rPr sz="2400" b="1" i="0">
                <a:solidFill>
                  <a:srgbClr val="F8FAFC"/>
                </a:solidFill>
                <a:latin typeface="Segoe UI"/>
              </a:rPr>
              <a:t>How DeploySafe Understands the Repository (RAG)</a:t>
            </a:r>
          </a:p>
        </p:txBody>
      </p:sp>
      <p:sp>
        <p:nvSpPr>
          <p:cNvPr id="5" name="TextBox 4"/>
          <p:cNvSpPr txBox="1"/>
          <p:nvPr/>
        </p:nvSpPr>
        <p:spPr>
          <a:xfrm>
            <a:off x="731520" y="1207008"/>
            <a:ext cx="10058400" cy="365760"/>
          </a:xfrm>
          <a:prstGeom prst="rect">
            <a:avLst/>
          </a:prstGeom>
          <a:noFill/>
        </p:spPr>
        <p:txBody>
          <a:bodyPr wrap="square" lIns="0" tIns="0" rIns="0" bIns="0">
            <a:spAutoFit/>
          </a:bodyPr>
          <a:lstStyle/>
          <a:p>
            <a:r>
              <a:rPr sz="1200" b="0" i="0">
                <a:solidFill>
                  <a:srgbClr val="B4C3D7"/>
                </a:solidFill>
                <a:latin typeface="Segoe UI"/>
              </a:rPr>
              <a:t>Grounding agent reasoning in actual repository documentation and architecture runbooks.</a:t>
            </a:r>
          </a:p>
        </p:txBody>
      </p:sp>
      <p:sp>
        <p:nvSpPr>
          <p:cNvPr id="6" name="Rounded Rectangle 5"/>
          <p:cNvSpPr/>
          <p:nvPr/>
        </p:nvSpPr>
        <p:spPr>
          <a:xfrm>
            <a:off x="731520" y="1645920"/>
            <a:ext cx="4114800" cy="448056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3749039" cy="4114800"/>
          </a:xfrm>
          <a:prstGeom prst="rect">
            <a:avLst/>
          </a:prstGeom>
          <a:noFill/>
        </p:spPr>
        <p:txBody>
          <a:bodyPr wrap="square">
            <a:spAutoFit/>
          </a:bodyPr>
          <a:lstStyle/>
          <a:p>
            <a:r>
              <a:rPr sz="1200" b="1" i="0">
                <a:solidFill>
                  <a:srgbClr val="06B6D4"/>
                </a:solidFill>
                <a:latin typeface="Consolas"/>
              </a:rPr>
              <a:t>VECTOR RAG PIPELINE (PHASE 2)</a:t>
            </a:r>
          </a:p>
          <a:p>
            <a:r>
              <a:rPr sz="1100" b="0" i="0">
                <a:solidFill>
                  <a:srgbClr val="E2E8F0"/>
                </a:solidFill>
                <a:latin typeface="Segoe UI"/>
              </a:rPr>
              <a:t>• File Discovery: Discovers markdown, documentation, and config files with path safety checks.</a:t>
            </a:r>
          </a:p>
          <a:p>
            <a:r>
              <a:rPr sz="1100" b="0" i="0">
                <a:solidFill>
                  <a:srgbClr val="E2E8F0"/>
                </a:solidFill>
                <a:latin typeface="Segoe UI"/>
              </a:rPr>
              <a:t>• Semantic Chunking: Splits markdown along headings (H1/H2) and code along function boundaries.</a:t>
            </a:r>
          </a:p>
          <a:p>
            <a:r>
              <a:rPr sz="1100" b="0" i="0">
                <a:solidFill>
                  <a:srgbClr val="E2E8F0"/>
                </a:solidFill>
                <a:latin typeface="Segoe UI"/>
              </a:rPr>
              <a:t>• Deterministic Embeddings: Chroma vector database indexed with 384-d normalized embeddings.</a:t>
            </a:r>
          </a:p>
          <a:p>
            <a:r>
              <a:rPr sz="1100" b="0" i="0">
                <a:solidFill>
                  <a:srgbClr val="E2E8F0"/>
                </a:solidFill>
                <a:latin typeface="Segoe UI"/>
              </a:rPr>
              <a:t>• Cosine Similarity Retrieval: Retriever returns top-k chunks with similarity scores and line provenance.</a:t>
            </a:r>
          </a:p>
        </p:txBody>
      </p:sp>
      <p:sp>
        <p:nvSpPr>
          <p:cNvPr id="8" name="Rounded Rectangle 7"/>
          <p:cNvSpPr/>
          <p:nvPr/>
        </p:nvSpPr>
        <p:spPr>
          <a:xfrm>
            <a:off x="5120640" y="1645920"/>
            <a:ext cx="6339535" cy="448056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0" y="1828800"/>
            <a:ext cx="5943600" cy="4114800"/>
          </a:xfrm>
          <a:prstGeom prst="rect">
            <a:avLst/>
          </a:prstGeom>
          <a:noFill/>
        </p:spPr>
        <p:txBody>
          <a:bodyPr wrap="square">
            <a:spAutoFit/>
          </a:bodyPr>
          <a:lstStyle/>
          <a:p>
            <a:r>
              <a:rPr sz="1200" b="1" i="0">
                <a:solidFill>
                  <a:srgbClr val="10B981"/>
                </a:solidFill>
                <a:latin typeface="Consolas"/>
              </a:rPr>
              <a:t>REAL DEMO EXAMPLE: DOCUMENTATION / CONFIG MISMATCH</a:t>
            </a:r>
          </a:p>
          <a:p>
            <a:r>
              <a:rPr sz="1000" b="0" i="0">
                <a:solidFill>
                  <a:srgbClr val="06B6D4"/>
                </a:solidFill>
                <a:latin typeface="Consolas"/>
              </a:rPr>
              <a:t>1. Agent Search Query:</a:t>
            </a:r>
            <a:br/>
            <a:r>
              <a:rPr sz="1000" b="0" i="0">
                <a:solidFill>
                  <a:srgbClr val="06B6D4"/>
                </a:solidFill>
                <a:latin typeface="Consolas"/>
              </a:rPr>
              <a:t>"What required environment variables and services are documented for deployment?"</a:t>
            </a:r>
          </a:p>
          <a:p>
            <a:r>
              <a:rPr sz="1000" b="0" i="0">
                <a:solidFill>
                  <a:srgbClr val="E2E8F0"/>
                </a:solidFill>
                <a:latin typeface="Consolas"/>
              </a:rPr>
              <a:t>2. Chroma Vector Retrieval (README.md Lines 5–9):</a:t>
            </a:r>
            <a:br/>
            <a:r>
              <a:rPr sz="1000" b="0" i="0">
                <a:solidFill>
                  <a:srgbClr val="E2E8F0"/>
                </a:solidFill>
                <a:latin typeface="Consolas"/>
              </a:rPr>
              <a:t>"## Architecture &amp; Production Deployment Requirements</a:t>
            </a:r>
            <a:br/>
            <a:r>
              <a:rPr sz="1000" b="0" i="0">
                <a:solidFill>
                  <a:srgbClr val="E2E8F0"/>
                </a:solidFill>
                <a:latin typeface="Consolas"/>
              </a:rPr>
              <a:t>- Mandatory Requirement: Production deployment requires REDIS_URL for distributed token storage."</a:t>
            </a:r>
          </a:p>
          <a:p>
            <a:r>
              <a:rPr sz="1000" b="0" i="0">
                <a:solidFill>
                  <a:srgbClr val="FB923C"/>
                </a:solidFill>
                <a:latin typeface="Consolas"/>
              </a:rPr>
              <a:t>3. Agent Cross-Correlation with docker-compose.yml:</a:t>
            </a:r>
            <a:br/>
            <a:r>
              <a:rPr sz="1000" b="0" i="0">
                <a:solidFill>
                  <a:srgbClr val="FB923C"/>
                </a:solidFill>
                <a:latin typeface="Consolas"/>
              </a:rPr>
              <a:t>Found: services.web.environment defines ENVIRONMENT and PORT, but REDIS_URL is completely missing.</a:t>
            </a:r>
          </a:p>
          <a:p>
            <a:r>
              <a:rPr sz="1050" b="1" i="0">
                <a:solidFill>
                  <a:srgbClr val="10B981"/>
                </a:solidFill>
                <a:latin typeface="Consolas"/>
              </a:rPr>
              <a:t>4. Resulting Finding (F-RAG-001):</a:t>
            </a:r>
            <a:br/>
            <a:r>
              <a:rPr sz="1050" b="1" i="0">
                <a:solidFill>
                  <a:srgbClr val="10B981"/>
                </a:solidFill>
                <a:latin typeface="Consolas"/>
              </a:rPr>
              <a:t>Severity: HIGH  •  Score Contribution: +25 pts  •  Validated by Critic.</a:t>
            </a:r>
          </a:p>
        </p:txBody>
      </p:sp>
      <p:sp>
        <p:nvSpPr>
          <p:cNvPr id="10" name="TextBox 9"/>
          <p:cNvSpPr txBox="1"/>
          <p:nvPr/>
        </p:nvSpPr>
        <p:spPr>
          <a:xfrm>
            <a:off x="731520" y="6446520"/>
            <a:ext cx="10728655" cy="274320"/>
          </a:xfrm>
          <a:prstGeom prst="rect">
            <a:avLst/>
          </a:prstGeom>
          <a:noFill/>
        </p:spPr>
        <p:txBody>
          <a:bodyPr wrap="none" lIns="0" tIns="0" rIns="0" bIns="0">
            <a:spAutoFit/>
          </a:bodyPr>
          <a:lstStyle/>
          <a:p>
            <a:r>
              <a:rPr sz="900" b="0" i="0">
                <a:solidFill>
                  <a:srgbClr val="94A3B8"/>
                </a:solidFill>
                <a:latin typeface="Segoe UI"/>
              </a:rPr>
              <a:t>DeploySafe — AI-Powered Deployment Readiness Platform  |  Agentic AI (CSE3101) Midterm  |  Slide 8 of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7315200" cy="320040"/>
          </a:xfrm>
          <a:prstGeom prst="rect">
            <a:avLst/>
          </a:prstGeom>
          <a:noFill/>
        </p:spPr>
        <p:txBody>
          <a:bodyPr wrap="square" lIns="0" tIns="0" rIns="0" bIns="0">
            <a:spAutoFit/>
          </a:bodyPr>
          <a:lstStyle/>
          <a:p>
            <a:r>
              <a:rPr sz="1000" b="1" i="0">
                <a:solidFill>
                  <a:srgbClr val="10B981"/>
                </a:solidFill>
                <a:latin typeface="Segoe UI"/>
              </a:rPr>
              <a:t>EVIDENCE GROUNDING</a:t>
            </a:r>
          </a:p>
        </p:txBody>
      </p:sp>
      <p:sp>
        <p:nvSpPr>
          <p:cNvPr id="4" name="TextBox 3"/>
          <p:cNvSpPr txBox="1"/>
          <p:nvPr/>
        </p:nvSpPr>
        <p:spPr>
          <a:xfrm>
            <a:off x="731520" y="658368"/>
            <a:ext cx="10058400" cy="548640"/>
          </a:xfrm>
          <a:prstGeom prst="rect">
            <a:avLst/>
          </a:prstGeom>
          <a:noFill/>
        </p:spPr>
        <p:txBody>
          <a:bodyPr wrap="square" lIns="0" tIns="0" rIns="0" bIns="0">
            <a:spAutoFit/>
          </a:bodyPr>
          <a:lstStyle/>
          <a:p>
            <a:r>
              <a:rPr sz="2400" b="1" i="0">
                <a:solidFill>
                  <a:srgbClr val="F8FAFC"/>
                </a:solidFill>
                <a:latin typeface="Segoe UI"/>
              </a:rPr>
              <a:t>Agents Don't Just Guess: Typed Tool Contracts</a:t>
            </a:r>
          </a:p>
        </p:txBody>
      </p:sp>
      <p:sp>
        <p:nvSpPr>
          <p:cNvPr id="5" name="TextBox 4"/>
          <p:cNvSpPr txBox="1"/>
          <p:nvPr/>
        </p:nvSpPr>
        <p:spPr>
          <a:xfrm>
            <a:off x="731520" y="1207008"/>
            <a:ext cx="10058400" cy="365760"/>
          </a:xfrm>
          <a:prstGeom prst="rect">
            <a:avLst/>
          </a:prstGeom>
          <a:noFill/>
        </p:spPr>
        <p:txBody>
          <a:bodyPr wrap="square" lIns="0" tIns="0" rIns="0" bIns="0">
            <a:spAutoFit/>
          </a:bodyPr>
          <a:lstStyle/>
          <a:p>
            <a:r>
              <a:rPr sz="1200" b="0" i="0">
                <a:solidFill>
                  <a:srgbClr val="B4C3D7"/>
                </a:solidFill>
                <a:latin typeface="Segoe UI"/>
              </a:rPr>
              <a:t>Every finding must be backed by traceable, observable repository evidence.</a:t>
            </a:r>
          </a:p>
        </p:txBody>
      </p:sp>
      <p:sp>
        <p:nvSpPr>
          <p:cNvPr id="6" name="Rounded Rectangle 5"/>
          <p:cNvSpPr/>
          <p:nvPr/>
        </p:nvSpPr>
        <p:spPr>
          <a:xfrm>
            <a:off x="731520" y="1645920"/>
            <a:ext cx="3291840" cy="448056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2926080" cy="4114800"/>
          </a:xfrm>
          <a:prstGeom prst="rect">
            <a:avLst/>
          </a:prstGeom>
          <a:noFill/>
        </p:spPr>
        <p:txBody>
          <a:bodyPr wrap="square">
            <a:spAutoFit/>
          </a:bodyPr>
          <a:lstStyle/>
          <a:p>
            <a:r>
              <a:rPr sz="1200" b="1" i="0">
                <a:solidFill>
                  <a:srgbClr val="06B6D4"/>
                </a:solidFill>
                <a:latin typeface="Consolas"/>
              </a:rPr>
              <a:t>DETERMINISTIC TOOLS</a:t>
            </a:r>
          </a:p>
          <a:p>
            <a:r>
              <a:rPr sz="1050" b="0" i="0">
                <a:solidFill>
                  <a:srgbClr val="E2E8F0"/>
                </a:solidFill>
                <a:latin typeface="Segoe UI"/>
              </a:rPr>
              <a:t>• Repository Tools: File slicing, git diff parsing, line-number mapping.</a:t>
            </a:r>
          </a:p>
          <a:p>
            <a:r>
              <a:rPr sz="1050" b="0" i="0">
                <a:solidFill>
                  <a:srgbClr val="E2E8F0"/>
                </a:solidFill>
                <a:latin typeface="Segoe UI"/>
              </a:rPr>
              <a:t>• Manifest Tools: requirements.txt, package.json AST parsers.</a:t>
            </a:r>
          </a:p>
          <a:p>
            <a:r>
              <a:rPr sz="1050" b="0" i="0">
                <a:solidFill>
                  <a:srgbClr val="E2E8F0"/>
                </a:solidFill>
                <a:latin typeface="Segoe UI"/>
              </a:rPr>
              <a:t>• Safe Executor: Subprocess execution restricted to binary allowlist (pytest, git).</a:t>
            </a:r>
          </a:p>
          <a:p>
            <a:r>
              <a:rPr sz="1050" b="0" i="0">
                <a:solidFill>
                  <a:srgbClr val="E2E8F0"/>
                </a:solidFill>
                <a:latin typeface="Segoe UI"/>
              </a:rPr>
              <a:t>• Security Scanner: Regex + entropy detector with automated secret masking.</a:t>
            </a:r>
          </a:p>
          <a:p>
            <a:r>
              <a:rPr sz="1050" b="0" i="0">
                <a:solidFill>
                  <a:srgbClr val="E2E8F0"/>
                </a:solidFill>
                <a:latin typeface="Segoe UI"/>
              </a:rPr>
              <a:t>• RAG Retriever: Chroma semantic vector query tool.</a:t>
            </a:r>
          </a:p>
        </p:txBody>
      </p:sp>
      <p:sp>
        <p:nvSpPr>
          <p:cNvPr id="8" name="Rounded Rectangle 7"/>
          <p:cNvSpPr/>
          <p:nvPr/>
        </p:nvSpPr>
        <p:spPr>
          <a:xfrm>
            <a:off x="4297680" y="1645920"/>
            <a:ext cx="7162495" cy="448056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60" y="1828800"/>
            <a:ext cx="6766560" cy="4114800"/>
          </a:xfrm>
          <a:prstGeom prst="rect">
            <a:avLst/>
          </a:prstGeom>
          <a:noFill/>
        </p:spPr>
        <p:txBody>
          <a:bodyPr wrap="square">
            <a:spAutoFit/>
          </a:bodyPr>
          <a:lstStyle/>
          <a:p>
            <a:r>
              <a:rPr sz="1200" b="1" i="0">
                <a:solidFill>
                  <a:srgbClr val="10B981"/>
                </a:solidFill>
                <a:latin typeface="Consolas"/>
              </a:rPr>
              <a:t>STRUCTURED EVIDENCE CONTRACT IN DEPLOYSAFE</a:t>
            </a:r>
          </a:p>
          <a:p>
            <a:r>
              <a:rPr sz="950" b="0" i="0">
                <a:solidFill>
                  <a:srgbClr val="F8FAFC"/>
                </a:solidFill>
                <a:latin typeface="Consolas"/>
              </a:rPr>
              <a:t>Finding ID:    F-SEC-002 (Potential Hardcoded Secret)</a:t>
            </a:r>
            <a:br/>
            <a:r>
              <a:rPr sz="950" b="0" i="0">
                <a:solidFill>
                  <a:srgbClr val="F8FAFC"/>
                </a:solidFill>
                <a:latin typeface="Consolas"/>
              </a:rPr>
              <a:t>File:          config/production.py : Line 5</a:t>
            </a:r>
            <a:br/>
            <a:r>
              <a:rPr sz="950" b="0" i="0">
                <a:solidFill>
                  <a:srgbClr val="F8FAFC"/>
                </a:solidFill>
                <a:latin typeface="Consolas"/>
              </a:rPr>
              <a:t>Detected By:   SecurityAnalysisAgent (via deploy_safe_security_engine)</a:t>
            </a:r>
            <a:br/>
            <a:r>
              <a:rPr sz="950" b="0" i="0">
                <a:solidFill>
                  <a:srgbClr val="F8FAFC"/>
                </a:solidFill>
                <a:latin typeface="Consolas"/>
              </a:rPr>
              <a:t>Status:        VALIDATED (Grounded on disk, secret masked)</a:t>
            </a:r>
            <a:br/>
            <a:br/>
            <a:r>
              <a:rPr sz="950" b="0" i="0">
                <a:solidFill>
                  <a:srgbClr val="F8FAFC"/>
                </a:solidFill>
                <a:latin typeface="Consolas"/>
              </a:rPr>
              <a:t>Evidence:</a:t>
            </a:r>
            <a:br/>
            <a:r>
              <a:rPr sz="950" b="0" i="0">
                <a:solidFill>
                  <a:srgbClr val="F8FAFC"/>
                </a:solidFill>
                <a:latin typeface="Consolas"/>
              </a:rPr>
              <a:t>  L4:  # Production database connection</a:t>
            </a:r>
            <a:br/>
            <a:r>
              <a:rPr sz="950" b="0" i="0">
                <a:solidFill>
                  <a:srgbClr val="F8FAFC"/>
                </a:solidFill>
                <a:latin typeface="Consolas"/>
              </a:rPr>
              <a:t>  L5:  DATABASE_URI = "***REDACTED_SECRET***:5432/main"</a:t>
            </a:r>
            <a:br/>
            <a:br/>
            <a:r>
              <a:rPr sz="950" b="0" i="0">
                <a:solidFill>
                  <a:srgbClr val="F8FAFC"/>
                </a:solidFill>
                <a:latin typeface="Consolas"/>
              </a:rPr>
              <a:t>Impact:        Exposed credentials will be baked into container images.</a:t>
            </a:r>
            <a:br/>
            <a:r>
              <a:rPr sz="950" b="0" i="0">
                <a:solidFill>
                  <a:srgbClr val="F8FAFC"/>
                </a:solidFill>
                <a:latin typeface="Consolas"/>
              </a:rPr>
              <a:t>Recommendation: Extract into DATABASE_URL environment variable and rotate immediately.</a:t>
            </a:r>
          </a:p>
          <a:p>
            <a:r>
              <a:rPr sz="1050" b="1" i="0">
                <a:solidFill>
                  <a:srgbClr val="10B981"/>
                </a:solidFill>
                <a:latin typeface="Segoe UI"/>
              </a:rPr>
              <a:t>✔ Secret Masking Guarantee: Raw passwords and tokens are never emitted into LLM prompts, context windows, or stored reports.</a:t>
            </a:r>
          </a:p>
        </p:txBody>
      </p:sp>
      <p:sp>
        <p:nvSpPr>
          <p:cNvPr id="10" name="TextBox 9"/>
          <p:cNvSpPr txBox="1"/>
          <p:nvPr/>
        </p:nvSpPr>
        <p:spPr>
          <a:xfrm>
            <a:off x="731520" y="6446520"/>
            <a:ext cx="10728655" cy="274320"/>
          </a:xfrm>
          <a:prstGeom prst="rect">
            <a:avLst/>
          </a:prstGeom>
          <a:noFill/>
        </p:spPr>
        <p:txBody>
          <a:bodyPr wrap="none" lIns="0" tIns="0" rIns="0" bIns="0">
            <a:spAutoFit/>
          </a:bodyPr>
          <a:lstStyle/>
          <a:p>
            <a:r>
              <a:rPr sz="900" b="0" i="0">
                <a:solidFill>
                  <a:srgbClr val="94A3B8"/>
                </a:solidFill>
                <a:latin typeface="Segoe UI"/>
              </a:rPr>
              <a:t>DeploySafe — AI-Powered Deployment Readiness Platform  |  Agentic AI (CSE3101) Midterm  |  Slide 9 of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7315200" cy="320040"/>
          </a:xfrm>
          <a:prstGeom prst="rect">
            <a:avLst/>
          </a:prstGeom>
          <a:noFill/>
        </p:spPr>
        <p:txBody>
          <a:bodyPr wrap="square" lIns="0" tIns="0" rIns="0" bIns="0">
            <a:spAutoFit/>
          </a:bodyPr>
          <a:lstStyle/>
          <a:p>
            <a:r>
              <a:rPr sz="1000" b="1" i="0">
                <a:solidFill>
                  <a:srgbClr val="10B981"/>
                </a:solidFill>
                <a:latin typeface="Segoe UI"/>
              </a:rPr>
              <a:t>RISK SCORING</a:t>
            </a:r>
          </a:p>
        </p:txBody>
      </p:sp>
      <p:sp>
        <p:nvSpPr>
          <p:cNvPr id="4" name="TextBox 3"/>
          <p:cNvSpPr txBox="1"/>
          <p:nvPr/>
        </p:nvSpPr>
        <p:spPr>
          <a:xfrm>
            <a:off x="731520" y="658368"/>
            <a:ext cx="10058400" cy="548640"/>
          </a:xfrm>
          <a:prstGeom prst="rect">
            <a:avLst/>
          </a:prstGeom>
          <a:noFill/>
        </p:spPr>
        <p:txBody>
          <a:bodyPr wrap="square" lIns="0" tIns="0" rIns="0" bIns="0">
            <a:spAutoFit/>
          </a:bodyPr>
          <a:lstStyle/>
          <a:p>
            <a:r>
              <a:rPr sz="2400" b="1" i="0">
                <a:solidFill>
                  <a:srgbClr val="F8FAFC"/>
                </a:solidFill>
                <a:latin typeface="Segoe UI"/>
              </a:rPr>
              <a:t>From Findings to Deterministic Risk</a:t>
            </a:r>
          </a:p>
        </p:txBody>
      </p:sp>
      <p:sp>
        <p:nvSpPr>
          <p:cNvPr id="5" name="TextBox 4"/>
          <p:cNvSpPr txBox="1"/>
          <p:nvPr/>
        </p:nvSpPr>
        <p:spPr>
          <a:xfrm>
            <a:off x="731520" y="1207008"/>
            <a:ext cx="10058400" cy="365760"/>
          </a:xfrm>
          <a:prstGeom prst="rect">
            <a:avLst/>
          </a:prstGeom>
          <a:noFill/>
        </p:spPr>
        <p:txBody>
          <a:bodyPr wrap="square" lIns="0" tIns="0" rIns="0" bIns="0">
            <a:spAutoFit/>
          </a:bodyPr>
          <a:lstStyle/>
          <a:p>
            <a:r>
              <a:rPr sz="1200" b="0" i="0">
                <a:solidFill>
                  <a:srgbClr val="B4C3D7"/>
                </a:solidFill>
                <a:latin typeface="Segoe UI"/>
              </a:rPr>
              <a:t>The LLM does not calculate the risk score. DeploySafe uses a strictly reproducible mathematical engine.</a:t>
            </a:r>
          </a:p>
        </p:txBody>
      </p:sp>
      <p:sp>
        <p:nvSpPr>
          <p:cNvPr id="6" name="Rounded Rectangle 5"/>
          <p:cNvSpPr/>
          <p:nvPr/>
        </p:nvSpPr>
        <p:spPr>
          <a:xfrm>
            <a:off x="731520" y="1645920"/>
            <a:ext cx="5486400" cy="448056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5120640" cy="4114800"/>
          </a:xfrm>
          <a:prstGeom prst="rect">
            <a:avLst/>
          </a:prstGeom>
          <a:noFill/>
        </p:spPr>
        <p:txBody>
          <a:bodyPr wrap="square">
            <a:spAutoFit/>
          </a:bodyPr>
          <a:lstStyle/>
          <a:p>
            <a:r>
              <a:rPr sz="1200" b="1" i="0">
                <a:solidFill>
                  <a:srgbClr val="10B981"/>
                </a:solidFill>
                <a:latin typeface="Consolas"/>
              </a:rPr>
              <a:t>THE DETERMINISTIC RISK FORMULA</a:t>
            </a:r>
          </a:p>
          <a:p>
            <a:r>
              <a:rPr sz="1100" b="1" i="0">
                <a:solidFill>
                  <a:srgbClr val="06B6D4"/>
                </a:solidFill>
                <a:latin typeface="Consolas"/>
              </a:rPr>
              <a:t>Score = min(100.0, round( ∑ (Weight × Confidence × Impact) ))</a:t>
            </a:r>
          </a:p>
          <a:p>
            <a:r>
              <a:rPr sz="1100" b="1" i="0">
                <a:solidFill>
                  <a:srgbClr val="F8FAFC"/>
                </a:solidFill>
                <a:latin typeface="Segoe UI"/>
              </a:rPr>
              <a:t>Project-Defined Severity Weights:</a:t>
            </a:r>
          </a:p>
          <a:p>
            <a:r>
              <a:rPr sz="1000" b="0" i="0">
                <a:solidFill>
                  <a:srgbClr val="E2E8F0"/>
                </a:solidFill>
                <a:latin typeface="Consolas"/>
              </a:rPr>
              <a:t>• CRITICAL = 35.0 pts (Blockers: exposed secrets, remote execution)</a:t>
            </a:r>
            <a:br/>
            <a:r>
              <a:rPr sz="1000" b="0" i="0">
                <a:solidFill>
                  <a:srgbClr val="E2E8F0"/>
                </a:solidFill>
                <a:latin typeface="Consolas"/>
              </a:rPr>
              <a:t>• HIGH     = 25.0 pts (Severe drifts: unpinned images, missing env)</a:t>
            </a:r>
            <a:br/>
            <a:r>
              <a:rPr sz="1000" b="0" i="0">
                <a:solidFill>
                  <a:srgbClr val="E2E8F0"/>
                </a:solidFill>
                <a:latin typeface="Consolas"/>
              </a:rPr>
              <a:t>• MEDIUM   = 15.0 pts (Warnings: missing critical service tests)</a:t>
            </a:r>
            <a:br/>
            <a:r>
              <a:rPr sz="1000" b="0" i="0">
                <a:solidFill>
                  <a:srgbClr val="E2E8F0"/>
                </a:solidFill>
                <a:latin typeface="Consolas"/>
              </a:rPr>
              <a:t>• LOW      =  7.0 pts (Cosmetic: minor documentation gaps)</a:t>
            </a:r>
          </a:p>
          <a:p>
            <a:r>
              <a:rPr sz="1050" b="0" i="0">
                <a:solidFill>
                  <a:srgbClr val="E2E8F0"/>
                </a:solidFill>
                <a:latin typeface="Segoe UI"/>
              </a:rPr>
              <a:t>Multipliers: High = 1.0  •  Medium = 0.8  •  Low = 0.6</a:t>
            </a:r>
            <a:br/>
            <a:r>
              <a:rPr sz="1050" b="0" i="0">
                <a:solidFill>
                  <a:srgbClr val="E2E8F0"/>
                </a:solidFill>
                <a:latin typeface="Segoe UI"/>
              </a:rPr>
              <a:t>Exclusions: Duplicates, rejected, &amp; dismissed findings = 0.0 pts.</a:t>
            </a:r>
          </a:p>
        </p:txBody>
      </p:sp>
      <p:sp>
        <p:nvSpPr>
          <p:cNvPr id="8" name="Rounded Rectangle 7"/>
          <p:cNvSpPr/>
          <p:nvPr/>
        </p:nvSpPr>
        <p:spPr>
          <a:xfrm>
            <a:off x="6492240" y="1645920"/>
            <a:ext cx="4967935" cy="448056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1828800"/>
            <a:ext cx="4572000" cy="4114800"/>
          </a:xfrm>
          <a:prstGeom prst="rect">
            <a:avLst/>
          </a:prstGeom>
          <a:noFill/>
        </p:spPr>
        <p:txBody>
          <a:bodyPr wrap="square">
            <a:spAutoFit/>
          </a:bodyPr>
          <a:lstStyle/>
          <a:p>
            <a:r>
              <a:rPr sz="1200" b="1" i="0">
                <a:solidFill>
                  <a:srgbClr val="FB923C"/>
                </a:solidFill>
                <a:latin typeface="Consolas"/>
              </a:rPr>
              <a:t>RISK TIERS &amp; ACTUAL DEMO SCORE</a:t>
            </a:r>
          </a:p>
          <a:p>
            <a:r>
              <a:rPr sz="1000" b="1" i="0">
                <a:solidFill>
                  <a:srgbClr val="10B981"/>
                </a:solidFill>
                <a:latin typeface="Segoe UI"/>
              </a:rPr>
              <a:t>0 – 24: LOW RISK — Ready for automated deployment.</a:t>
            </a:r>
          </a:p>
          <a:p>
            <a:r>
              <a:rPr sz="1000" b="1" i="0">
                <a:solidFill>
                  <a:srgbClr val="FACC15"/>
                </a:solidFill>
                <a:latin typeface="Segoe UI"/>
              </a:rPr>
              <a:t>25 – 49: MODERATE RISK — Review recommended before release.</a:t>
            </a:r>
          </a:p>
          <a:p>
            <a:r>
              <a:rPr sz="1000" b="1" i="0">
                <a:solidFill>
                  <a:srgbClr val="FB923C"/>
                </a:solidFill>
                <a:latin typeface="Segoe UI"/>
              </a:rPr>
              <a:t>50 – 74: HIGH RISK — Severe drift; manual sign-off required.</a:t>
            </a:r>
          </a:p>
          <a:p>
            <a:r>
              <a:rPr sz="1000" b="1" i="0">
                <a:solidFill>
                  <a:srgbClr val="F87171"/>
                </a:solidFill>
                <a:latin typeface="Segoe UI"/>
              </a:rPr>
              <a:t>75 – 100: CRITICAL RISK — Deployment strictly blocked.</a:t>
            </a:r>
          </a:p>
          <a:p>
            <a:r>
              <a:rPr sz="950" b="0" i="0">
                <a:solidFill>
                  <a:srgbClr val="F8FAFC"/>
                </a:solidFill>
                <a:latin typeface="Consolas"/>
              </a:rPr>
              <a:t>Actual Measured Demo Run (deploysafe-analysis-demo):</a:t>
            </a:r>
            <a:br/>
            <a:r>
              <a:rPr sz="950" b="0" i="0">
                <a:solidFill>
                  <a:srgbClr val="F8FAFC"/>
                </a:solidFill>
                <a:latin typeface="Consolas"/>
              </a:rPr>
              <a:t>• 2 Critical findings: 2 × 35.0 = 70.0 pts</a:t>
            </a:r>
            <a:br/>
            <a:r>
              <a:rPr sz="950" b="0" i="0">
                <a:solidFill>
                  <a:srgbClr val="F8FAFC"/>
                </a:solidFill>
                <a:latin typeface="Consolas"/>
              </a:rPr>
              <a:t>• 4 Validated High findings: 4 × 25.0 = 100.0 pts</a:t>
            </a:r>
            <a:br/>
            <a:r>
              <a:rPr sz="950" b="0" i="0">
                <a:solidFill>
                  <a:srgbClr val="F8FAFC"/>
                </a:solidFill>
                <a:latin typeface="Consolas"/>
              </a:rPr>
              <a:t>• Raw Score: 170.0 pts ──▶ Capped at 100.0 / 100 (CRITICAL RISK)</a:t>
            </a:r>
          </a:p>
          <a:p>
            <a:r>
              <a:rPr sz="900" b="0" i="1">
                <a:solidFill>
                  <a:srgbClr val="94A3B8"/>
                </a:solidFill>
                <a:latin typeface="Segoe UI"/>
              </a:rPr>
              <a:t>*Note: Risk thresholds are DeploySafe project-defined rules, not a guarantee of deployment safety.</a:t>
            </a:r>
          </a:p>
        </p:txBody>
      </p:sp>
      <p:sp>
        <p:nvSpPr>
          <p:cNvPr id="10" name="TextBox 9"/>
          <p:cNvSpPr txBox="1"/>
          <p:nvPr/>
        </p:nvSpPr>
        <p:spPr>
          <a:xfrm>
            <a:off x="731520" y="6446520"/>
            <a:ext cx="10728655" cy="274320"/>
          </a:xfrm>
          <a:prstGeom prst="rect">
            <a:avLst/>
          </a:prstGeom>
          <a:noFill/>
        </p:spPr>
        <p:txBody>
          <a:bodyPr wrap="none" lIns="0" tIns="0" rIns="0" bIns="0">
            <a:spAutoFit/>
          </a:bodyPr>
          <a:lstStyle/>
          <a:p>
            <a:r>
              <a:rPr sz="900" b="0" i="0">
                <a:solidFill>
                  <a:srgbClr val="94A3B8"/>
                </a:solidFill>
                <a:latin typeface="Segoe UI"/>
              </a:rPr>
              <a:t>DeploySafe — AI-Powered Deployment Readiness Platform  |  Agentic AI (CSE3101) Midterm  |  Slide 10 of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7315200" cy="320040"/>
          </a:xfrm>
          <a:prstGeom prst="rect">
            <a:avLst/>
          </a:prstGeom>
          <a:noFill/>
        </p:spPr>
        <p:txBody>
          <a:bodyPr wrap="square" lIns="0" tIns="0" rIns="0" bIns="0">
            <a:spAutoFit/>
          </a:bodyPr>
          <a:lstStyle/>
          <a:p>
            <a:r>
              <a:rPr sz="1000" b="1" i="0">
                <a:solidFill>
                  <a:srgbClr val="10B981"/>
                </a:solidFill>
                <a:latin typeface="Segoe UI"/>
              </a:rPr>
              <a:t>USER EXPERIENCE</a:t>
            </a:r>
          </a:p>
        </p:txBody>
      </p:sp>
      <p:sp>
        <p:nvSpPr>
          <p:cNvPr id="4" name="TextBox 3"/>
          <p:cNvSpPr txBox="1"/>
          <p:nvPr/>
        </p:nvSpPr>
        <p:spPr>
          <a:xfrm>
            <a:off x="731520" y="658368"/>
            <a:ext cx="10058400" cy="548640"/>
          </a:xfrm>
          <a:prstGeom prst="rect">
            <a:avLst/>
          </a:prstGeom>
          <a:noFill/>
        </p:spPr>
        <p:txBody>
          <a:bodyPr wrap="square" lIns="0" tIns="0" rIns="0" bIns="0">
            <a:spAutoFit/>
          </a:bodyPr>
          <a:lstStyle/>
          <a:p>
            <a:r>
              <a:rPr sz="2400" b="1" i="0">
                <a:solidFill>
                  <a:srgbClr val="F8FAFC"/>
                </a:solidFill>
                <a:latin typeface="Segoe UI"/>
              </a:rPr>
              <a:t>DeploySafe Product UI Experience</a:t>
            </a:r>
          </a:p>
        </p:txBody>
      </p:sp>
      <p:sp>
        <p:nvSpPr>
          <p:cNvPr id="5" name="TextBox 4"/>
          <p:cNvSpPr txBox="1"/>
          <p:nvPr/>
        </p:nvSpPr>
        <p:spPr>
          <a:xfrm>
            <a:off x="731520" y="1207008"/>
            <a:ext cx="10058400" cy="365760"/>
          </a:xfrm>
          <a:prstGeom prst="rect">
            <a:avLst/>
          </a:prstGeom>
          <a:noFill/>
        </p:spPr>
        <p:txBody>
          <a:bodyPr wrap="square" lIns="0" tIns="0" rIns="0" bIns="0">
            <a:spAutoFit/>
          </a:bodyPr>
          <a:lstStyle/>
          <a:p>
            <a:r>
              <a:rPr sz="1200" b="0" i="0">
                <a:solidFill>
                  <a:srgbClr val="B4C3D7"/>
                </a:solidFill>
                <a:latin typeface="Segoe UI"/>
              </a:rPr>
              <a:t>Production-grade developer intelligence interface implemented in React and Tailwind.</a:t>
            </a:r>
          </a:p>
        </p:txBody>
      </p:sp>
      <p:pic>
        <p:nvPicPr>
          <p:cNvPr id="6" name="Picture 5" descr="screenshot_dashboard.png"/>
          <p:cNvPicPr>
            <a:picLocks noChangeAspect="1"/>
          </p:cNvPicPr>
          <p:nvPr/>
        </p:nvPicPr>
        <p:blipFill>
          <a:blip r:embed="rId2"/>
          <a:stretch>
            <a:fillRect/>
          </a:stretch>
        </p:blipFill>
        <p:spPr>
          <a:xfrm>
            <a:off x="731520" y="1645920"/>
            <a:ext cx="5120640" cy="2148840"/>
          </a:xfrm>
          <a:prstGeom prst="rect">
            <a:avLst/>
          </a:prstGeom>
        </p:spPr>
      </p:pic>
      <p:sp>
        <p:nvSpPr>
          <p:cNvPr id="7" name="Rounded Rectangle 6"/>
          <p:cNvSpPr/>
          <p:nvPr/>
        </p:nvSpPr>
        <p:spPr>
          <a:xfrm>
            <a:off x="731520" y="3794760"/>
            <a:ext cx="5120640" cy="36576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3813048"/>
            <a:ext cx="4937760" cy="320040"/>
          </a:xfrm>
          <a:prstGeom prst="rect">
            <a:avLst/>
          </a:prstGeom>
          <a:noFill/>
        </p:spPr>
        <p:txBody>
          <a:bodyPr wrap="none">
            <a:spAutoFit/>
          </a:bodyPr>
          <a:lstStyle/>
          <a:p>
            <a:r>
              <a:rPr sz="950" b="0" i="0">
                <a:solidFill>
                  <a:srgbClr val="06B6D4"/>
                </a:solidFill>
                <a:latin typeface="Segoe UI"/>
              </a:rPr>
              <a:t>Overview Dashboard: Risk Score Hero (100/100), Severity Breakdown &amp; Formula Modal</a:t>
            </a:r>
          </a:p>
        </p:txBody>
      </p:sp>
      <p:pic>
        <p:nvPicPr>
          <p:cNvPr id="9" name="Picture 8" descr="screenshot_findings.png"/>
          <p:cNvPicPr>
            <a:picLocks noChangeAspect="1"/>
          </p:cNvPicPr>
          <p:nvPr/>
        </p:nvPicPr>
        <p:blipFill>
          <a:blip r:embed="rId3"/>
          <a:stretch>
            <a:fillRect/>
          </a:stretch>
        </p:blipFill>
        <p:spPr>
          <a:xfrm>
            <a:off x="6339535" y="1645920"/>
            <a:ext cx="5120640" cy="2148840"/>
          </a:xfrm>
          <a:prstGeom prst="rect">
            <a:avLst/>
          </a:prstGeom>
        </p:spPr>
      </p:pic>
      <p:sp>
        <p:nvSpPr>
          <p:cNvPr id="10" name="Rounded Rectangle 9"/>
          <p:cNvSpPr/>
          <p:nvPr/>
        </p:nvSpPr>
        <p:spPr>
          <a:xfrm>
            <a:off x="6339535" y="3794760"/>
            <a:ext cx="5120640" cy="36576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30975" y="3813048"/>
            <a:ext cx="4937760" cy="320040"/>
          </a:xfrm>
          <a:prstGeom prst="rect">
            <a:avLst/>
          </a:prstGeom>
          <a:noFill/>
        </p:spPr>
        <p:txBody>
          <a:bodyPr wrap="none">
            <a:spAutoFit/>
          </a:bodyPr>
          <a:lstStyle/>
          <a:p>
            <a:r>
              <a:rPr sz="950" b="0" i="0">
                <a:solidFill>
                  <a:srgbClr val="10B981"/>
                </a:solidFill>
                <a:latin typeface="Segoe UI"/>
              </a:rPr>
              <a:t>Findings Directory: Search, Multi-Filter (Severity/Status), &amp; Risk Score Contributions</a:t>
            </a:r>
          </a:p>
        </p:txBody>
      </p:sp>
      <p:pic>
        <p:nvPicPr>
          <p:cNvPr id="12" name="Picture 11" descr="screenshot_runs.png"/>
          <p:cNvPicPr>
            <a:picLocks noChangeAspect="1"/>
          </p:cNvPicPr>
          <p:nvPr/>
        </p:nvPicPr>
        <p:blipFill>
          <a:blip r:embed="rId4"/>
          <a:stretch>
            <a:fillRect/>
          </a:stretch>
        </p:blipFill>
        <p:spPr>
          <a:xfrm>
            <a:off x="731520" y="4251960"/>
            <a:ext cx="5120640" cy="2148840"/>
          </a:xfrm>
          <a:prstGeom prst="rect">
            <a:avLst/>
          </a:prstGeom>
        </p:spPr>
      </p:pic>
      <p:sp>
        <p:nvSpPr>
          <p:cNvPr id="13" name="Rounded Rectangle 12"/>
          <p:cNvSpPr/>
          <p:nvPr/>
        </p:nvSpPr>
        <p:spPr>
          <a:xfrm>
            <a:off x="731520" y="6035040"/>
            <a:ext cx="5120640" cy="32004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6053328"/>
            <a:ext cx="4937760" cy="274320"/>
          </a:xfrm>
          <a:prstGeom prst="rect">
            <a:avLst/>
          </a:prstGeom>
          <a:noFill/>
        </p:spPr>
        <p:txBody>
          <a:bodyPr wrap="none">
            <a:spAutoFit/>
          </a:bodyPr>
          <a:lstStyle/>
          <a:p>
            <a:r>
              <a:rPr sz="950" b="0" i="0">
                <a:solidFill>
                  <a:srgbClr val="FB923C"/>
                </a:solidFill>
                <a:latin typeface="Segoe UI"/>
              </a:rPr>
              <a:t>Historical Runs: Duration, Findings Breakdown, Risk Level, &amp; Agent Telemetry</a:t>
            </a:r>
          </a:p>
        </p:txBody>
      </p:sp>
      <p:pic>
        <p:nvPicPr>
          <p:cNvPr id="15" name="Picture 14" descr="screenshot_reports.png"/>
          <p:cNvPicPr>
            <a:picLocks noChangeAspect="1"/>
          </p:cNvPicPr>
          <p:nvPr/>
        </p:nvPicPr>
        <p:blipFill>
          <a:blip r:embed="rId5"/>
          <a:stretch>
            <a:fillRect/>
          </a:stretch>
        </p:blipFill>
        <p:spPr>
          <a:xfrm>
            <a:off x="6339535" y="4251960"/>
            <a:ext cx="5120640" cy="2148840"/>
          </a:xfrm>
          <a:prstGeom prst="rect">
            <a:avLst/>
          </a:prstGeom>
        </p:spPr>
      </p:pic>
      <p:sp>
        <p:nvSpPr>
          <p:cNvPr id="16" name="Rounded Rectangle 15"/>
          <p:cNvSpPr/>
          <p:nvPr/>
        </p:nvSpPr>
        <p:spPr>
          <a:xfrm>
            <a:off x="6339535" y="6035040"/>
            <a:ext cx="5120640" cy="32004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30975" y="6053328"/>
            <a:ext cx="4937760" cy="274320"/>
          </a:xfrm>
          <a:prstGeom prst="rect">
            <a:avLst/>
          </a:prstGeom>
          <a:noFill/>
        </p:spPr>
        <p:txBody>
          <a:bodyPr wrap="none">
            <a:spAutoFit/>
          </a:bodyPr>
          <a:lstStyle/>
          <a:p>
            <a:r>
              <a:rPr sz="950" b="0" i="0">
                <a:solidFill>
                  <a:srgbClr val="F8FAFC"/>
                </a:solidFill>
                <a:latin typeface="Segoe UI"/>
              </a:rPr>
              <a:t>Deployment Reports: Interactive HTML Preview, Documentation Markdown, &amp; JSON Export</a:t>
            </a:r>
          </a:p>
        </p:txBody>
      </p:sp>
      <p:sp>
        <p:nvSpPr>
          <p:cNvPr id="18" name="TextBox 17"/>
          <p:cNvSpPr txBox="1"/>
          <p:nvPr/>
        </p:nvSpPr>
        <p:spPr>
          <a:xfrm>
            <a:off x="731520" y="6446520"/>
            <a:ext cx="10728655" cy="274320"/>
          </a:xfrm>
          <a:prstGeom prst="rect">
            <a:avLst/>
          </a:prstGeom>
          <a:noFill/>
        </p:spPr>
        <p:txBody>
          <a:bodyPr wrap="none" lIns="0" tIns="0" rIns="0" bIns="0">
            <a:spAutoFit/>
          </a:bodyPr>
          <a:lstStyle/>
          <a:p>
            <a:r>
              <a:rPr sz="900" b="0" i="0">
                <a:solidFill>
                  <a:srgbClr val="94A3B8"/>
                </a:solidFill>
                <a:latin typeface="Segoe UI"/>
              </a:rPr>
              <a:t>DeploySafe — AI-Powered Deployment Readiness Platform  |  Agentic AI (CSE3101) Midterm  |  Slide 11 of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7315200" cy="320040"/>
          </a:xfrm>
          <a:prstGeom prst="rect">
            <a:avLst/>
          </a:prstGeom>
          <a:noFill/>
        </p:spPr>
        <p:txBody>
          <a:bodyPr wrap="square" lIns="0" tIns="0" rIns="0" bIns="0">
            <a:spAutoFit/>
          </a:bodyPr>
          <a:lstStyle/>
          <a:p>
            <a:r>
              <a:rPr sz="1000" b="1" i="0">
                <a:solidFill>
                  <a:srgbClr val="10B981"/>
                </a:solidFill>
                <a:latin typeface="Segoe UI"/>
              </a:rPr>
              <a:t>DEMONSTRATION GUIDE</a:t>
            </a:r>
          </a:p>
        </p:txBody>
      </p:sp>
      <p:sp>
        <p:nvSpPr>
          <p:cNvPr id="4" name="TextBox 3"/>
          <p:cNvSpPr txBox="1"/>
          <p:nvPr/>
        </p:nvSpPr>
        <p:spPr>
          <a:xfrm>
            <a:off x="731520" y="658368"/>
            <a:ext cx="10058400" cy="548640"/>
          </a:xfrm>
          <a:prstGeom prst="rect">
            <a:avLst/>
          </a:prstGeom>
          <a:noFill/>
        </p:spPr>
        <p:txBody>
          <a:bodyPr wrap="square" lIns="0" tIns="0" rIns="0" bIns="0">
            <a:spAutoFit/>
          </a:bodyPr>
          <a:lstStyle/>
          <a:p>
            <a:r>
              <a:rPr sz="2400" b="1" i="0">
                <a:solidFill>
                  <a:srgbClr val="F8FAFC"/>
                </a:solidFill>
                <a:latin typeface="Segoe UI"/>
              </a:rPr>
              <a:t>What We Can Demonstrate Live</a:t>
            </a:r>
          </a:p>
        </p:txBody>
      </p:sp>
      <p:sp>
        <p:nvSpPr>
          <p:cNvPr id="5" name="TextBox 4"/>
          <p:cNvSpPr txBox="1"/>
          <p:nvPr/>
        </p:nvSpPr>
        <p:spPr>
          <a:xfrm>
            <a:off x="731520" y="1207008"/>
            <a:ext cx="10058400" cy="365760"/>
          </a:xfrm>
          <a:prstGeom prst="rect">
            <a:avLst/>
          </a:prstGeom>
          <a:noFill/>
        </p:spPr>
        <p:txBody>
          <a:bodyPr wrap="square" lIns="0" tIns="0" rIns="0" bIns="0">
            <a:spAutoFit/>
          </a:bodyPr>
          <a:lstStyle/>
          <a:p>
            <a:r>
              <a:rPr sz="1200" b="0" i="0">
                <a:solidFill>
                  <a:srgbClr val="B4C3D7"/>
                </a:solidFill>
                <a:latin typeface="Segoe UI"/>
              </a:rPr>
              <a:t>A 7-step interactive walkthrough using our seeded demo repository.</a:t>
            </a:r>
          </a:p>
        </p:txBody>
      </p:sp>
      <p:sp>
        <p:nvSpPr>
          <p:cNvPr id="6" name="Rounded Rectangle 5"/>
          <p:cNvSpPr/>
          <p:nvPr/>
        </p:nvSpPr>
        <p:spPr>
          <a:xfrm>
            <a:off x="731520" y="1645920"/>
            <a:ext cx="1417320" cy="448056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97280" y="1828800"/>
            <a:ext cx="685800" cy="320040"/>
          </a:xfrm>
          <a:prstGeom prst="roundRect">
            <a:avLst/>
          </a:prstGeom>
          <a:solidFill>
            <a:srgbClr val="064E3B"/>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10B981"/>
                </a:solidFill>
                <a:latin typeface="Consolas"/>
              </a:rPr>
              <a:t>01</a:t>
            </a:r>
          </a:p>
        </p:txBody>
      </p:sp>
      <p:sp>
        <p:nvSpPr>
          <p:cNvPr id="8" name="TextBox 7"/>
          <p:cNvSpPr txBox="1"/>
          <p:nvPr/>
        </p:nvSpPr>
        <p:spPr>
          <a:xfrm>
            <a:off x="822960" y="2286000"/>
            <a:ext cx="1234440" cy="3657600"/>
          </a:xfrm>
          <a:prstGeom prst="rect">
            <a:avLst/>
          </a:prstGeom>
          <a:noFill/>
        </p:spPr>
        <p:txBody>
          <a:bodyPr wrap="square">
            <a:spAutoFit/>
          </a:bodyPr>
          <a:lstStyle/>
          <a:p>
            <a:r>
              <a:rPr sz="1100" b="1" i="0">
                <a:solidFill>
                  <a:srgbClr val="F8FAFC"/>
                </a:solidFill>
                <a:latin typeface="Segoe UI"/>
              </a:rPr>
              <a:t>Step 1: Target Selection</a:t>
            </a:r>
          </a:p>
          <a:p>
            <a:r>
              <a:rPr sz="1000" b="0" i="0">
                <a:solidFill>
                  <a:srgbClr val="E2E8F0"/>
                </a:solidFill>
                <a:latin typeface="Segoe UI"/>
              </a:rPr>
              <a:t>Select demo repository (deploysafe-analysis-demo) in the UI console.</a:t>
            </a:r>
          </a:p>
        </p:txBody>
      </p:sp>
      <p:sp>
        <p:nvSpPr>
          <p:cNvPr id="9" name="Rounded Rectangle 8"/>
          <p:cNvSpPr/>
          <p:nvPr/>
        </p:nvSpPr>
        <p:spPr>
          <a:xfrm>
            <a:off x="2267712" y="1645920"/>
            <a:ext cx="1417320" cy="448056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633472" y="1828800"/>
            <a:ext cx="685800" cy="320040"/>
          </a:xfrm>
          <a:prstGeom prst="roundRect">
            <a:avLst/>
          </a:prstGeom>
          <a:solidFill>
            <a:srgbClr val="064E3B"/>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10B981"/>
                </a:solidFill>
                <a:latin typeface="Consolas"/>
              </a:rPr>
              <a:t>02</a:t>
            </a:r>
          </a:p>
        </p:txBody>
      </p:sp>
      <p:sp>
        <p:nvSpPr>
          <p:cNvPr id="11" name="TextBox 10"/>
          <p:cNvSpPr txBox="1"/>
          <p:nvPr/>
        </p:nvSpPr>
        <p:spPr>
          <a:xfrm>
            <a:off x="2359152" y="2286000"/>
            <a:ext cx="1234440" cy="3657600"/>
          </a:xfrm>
          <a:prstGeom prst="rect">
            <a:avLst/>
          </a:prstGeom>
          <a:noFill/>
        </p:spPr>
        <p:txBody>
          <a:bodyPr wrap="square">
            <a:spAutoFit/>
          </a:bodyPr>
          <a:lstStyle/>
          <a:p>
            <a:r>
              <a:rPr sz="1100" b="1" i="0">
                <a:solidFill>
                  <a:srgbClr val="F8FAFC"/>
                </a:solidFill>
                <a:latin typeface="Segoe UI"/>
              </a:rPr>
              <a:t>Step 2: Start Analysis</a:t>
            </a:r>
          </a:p>
          <a:p>
            <a:r>
              <a:rPr sz="1000" b="0" i="0">
                <a:solidFill>
                  <a:srgbClr val="E2E8F0"/>
                </a:solidFill>
                <a:latin typeface="Segoe UI"/>
              </a:rPr>
              <a:t>Trigger DeploySafe multi-agent analysis flow with a single click.</a:t>
            </a:r>
          </a:p>
        </p:txBody>
      </p:sp>
      <p:sp>
        <p:nvSpPr>
          <p:cNvPr id="12" name="Rounded Rectangle 11"/>
          <p:cNvSpPr/>
          <p:nvPr/>
        </p:nvSpPr>
        <p:spPr>
          <a:xfrm>
            <a:off x="3803904" y="1645920"/>
            <a:ext cx="1417320" cy="448056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69664" y="1828800"/>
            <a:ext cx="685800" cy="320040"/>
          </a:xfrm>
          <a:prstGeom prst="roundRect">
            <a:avLst/>
          </a:prstGeom>
          <a:solidFill>
            <a:srgbClr val="064E3B"/>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10B981"/>
                </a:solidFill>
                <a:latin typeface="Consolas"/>
              </a:rPr>
              <a:t>03</a:t>
            </a:r>
          </a:p>
        </p:txBody>
      </p:sp>
      <p:sp>
        <p:nvSpPr>
          <p:cNvPr id="14" name="TextBox 13"/>
          <p:cNvSpPr txBox="1"/>
          <p:nvPr/>
        </p:nvSpPr>
        <p:spPr>
          <a:xfrm>
            <a:off x="3895344" y="2286000"/>
            <a:ext cx="1234440" cy="3657600"/>
          </a:xfrm>
          <a:prstGeom prst="rect">
            <a:avLst/>
          </a:prstGeom>
          <a:noFill/>
        </p:spPr>
        <p:txBody>
          <a:bodyPr wrap="square">
            <a:spAutoFit/>
          </a:bodyPr>
          <a:lstStyle/>
          <a:p>
            <a:r>
              <a:rPr sz="1100" b="1" i="0">
                <a:solidFill>
                  <a:srgbClr val="F8FAFC"/>
                </a:solidFill>
                <a:latin typeface="Segoe UI"/>
              </a:rPr>
              <a:t>Step 3: Live Telemetry</a:t>
            </a:r>
          </a:p>
          <a:p>
            <a:r>
              <a:rPr sz="1000" b="0" i="0">
                <a:solidFill>
                  <a:srgbClr val="E2E8F0"/>
                </a:solidFill>
                <a:latin typeface="Segoe UI"/>
              </a:rPr>
              <a:t>Observe 8 agents executing with live durations, tool calls, and counts.</a:t>
            </a:r>
          </a:p>
        </p:txBody>
      </p:sp>
      <p:sp>
        <p:nvSpPr>
          <p:cNvPr id="15" name="Rounded Rectangle 14"/>
          <p:cNvSpPr/>
          <p:nvPr/>
        </p:nvSpPr>
        <p:spPr>
          <a:xfrm>
            <a:off x="5340096" y="1645920"/>
            <a:ext cx="1417320" cy="448056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705856" y="1828800"/>
            <a:ext cx="685800" cy="320040"/>
          </a:xfrm>
          <a:prstGeom prst="roundRect">
            <a:avLst/>
          </a:prstGeom>
          <a:solidFill>
            <a:srgbClr val="064E3B"/>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10B981"/>
                </a:solidFill>
                <a:latin typeface="Consolas"/>
              </a:rPr>
              <a:t>04</a:t>
            </a:r>
          </a:p>
        </p:txBody>
      </p:sp>
      <p:sp>
        <p:nvSpPr>
          <p:cNvPr id="17" name="TextBox 16"/>
          <p:cNvSpPr txBox="1"/>
          <p:nvPr/>
        </p:nvSpPr>
        <p:spPr>
          <a:xfrm>
            <a:off x="5431536" y="2286000"/>
            <a:ext cx="1234440" cy="3657600"/>
          </a:xfrm>
          <a:prstGeom prst="rect">
            <a:avLst/>
          </a:prstGeom>
          <a:noFill/>
        </p:spPr>
        <p:txBody>
          <a:bodyPr wrap="square">
            <a:spAutoFit/>
          </a:bodyPr>
          <a:lstStyle/>
          <a:p>
            <a:r>
              <a:rPr sz="1100" b="1" i="0">
                <a:solidFill>
                  <a:srgbClr val="F8FAFC"/>
                </a:solidFill>
                <a:latin typeface="Segoe UI"/>
              </a:rPr>
              <a:t>Step 4: Vector RAG</a:t>
            </a:r>
          </a:p>
          <a:p>
            <a:r>
              <a:rPr sz="1000" b="0" i="0">
                <a:solidFill>
                  <a:srgbClr val="E2E8F0"/>
                </a:solidFill>
                <a:latin typeface="Segoe UI"/>
              </a:rPr>
              <a:t>Watch RAG correlate README.md requirements against docker-compose.</a:t>
            </a:r>
          </a:p>
        </p:txBody>
      </p:sp>
      <p:sp>
        <p:nvSpPr>
          <p:cNvPr id="18" name="Rounded Rectangle 17"/>
          <p:cNvSpPr/>
          <p:nvPr/>
        </p:nvSpPr>
        <p:spPr>
          <a:xfrm>
            <a:off x="6876288" y="1645920"/>
            <a:ext cx="1417320" cy="448056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242048" y="1828800"/>
            <a:ext cx="685800" cy="320040"/>
          </a:xfrm>
          <a:prstGeom prst="roundRect">
            <a:avLst/>
          </a:prstGeom>
          <a:solidFill>
            <a:srgbClr val="064E3B"/>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10B981"/>
                </a:solidFill>
                <a:latin typeface="Consolas"/>
              </a:rPr>
              <a:t>05</a:t>
            </a:r>
          </a:p>
        </p:txBody>
      </p:sp>
      <p:sp>
        <p:nvSpPr>
          <p:cNvPr id="20" name="TextBox 19"/>
          <p:cNvSpPr txBox="1"/>
          <p:nvPr/>
        </p:nvSpPr>
        <p:spPr>
          <a:xfrm>
            <a:off x="6967728" y="2286000"/>
            <a:ext cx="1234440" cy="3657600"/>
          </a:xfrm>
          <a:prstGeom prst="rect">
            <a:avLst/>
          </a:prstGeom>
          <a:noFill/>
        </p:spPr>
        <p:txBody>
          <a:bodyPr wrap="square">
            <a:spAutoFit/>
          </a:bodyPr>
          <a:lstStyle/>
          <a:p>
            <a:r>
              <a:rPr sz="1100" b="1" i="0">
                <a:solidFill>
                  <a:srgbClr val="F8FAFC"/>
                </a:solidFill>
                <a:latin typeface="Segoe UI"/>
              </a:rPr>
              <a:t>Step 5: Critic &amp; Dedup</a:t>
            </a:r>
          </a:p>
          <a:p>
            <a:r>
              <a:rPr sz="1000" b="0" i="0">
                <a:solidFill>
                  <a:srgbClr val="E2E8F0"/>
                </a:solidFill>
                <a:latin typeface="Segoe UI"/>
              </a:rPr>
              <a:t>Critic audits physical disk paths; Deduplication clusters overlapping lines.</a:t>
            </a:r>
          </a:p>
        </p:txBody>
      </p:sp>
      <p:sp>
        <p:nvSpPr>
          <p:cNvPr id="21" name="Rounded Rectangle 20"/>
          <p:cNvSpPr/>
          <p:nvPr/>
        </p:nvSpPr>
        <p:spPr>
          <a:xfrm>
            <a:off x="8412480" y="1645920"/>
            <a:ext cx="1417320" cy="448056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778240" y="1828800"/>
            <a:ext cx="685800" cy="320040"/>
          </a:xfrm>
          <a:prstGeom prst="roundRect">
            <a:avLst/>
          </a:prstGeom>
          <a:solidFill>
            <a:srgbClr val="064E3B"/>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10B981"/>
                </a:solidFill>
                <a:latin typeface="Consolas"/>
              </a:rPr>
              <a:t>06</a:t>
            </a:r>
          </a:p>
        </p:txBody>
      </p:sp>
      <p:sp>
        <p:nvSpPr>
          <p:cNvPr id="23" name="TextBox 22"/>
          <p:cNvSpPr txBox="1"/>
          <p:nvPr/>
        </p:nvSpPr>
        <p:spPr>
          <a:xfrm>
            <a:off x="8503920" y="2286000"/>
            <a:ext cx="1234440" cy="3657600"/>
          </a:xfrm>
          <a:prstGeom prst="rect">
            <a:avLst/>
          </a:prstGeom>
          <a:noFill/>
        </p:spPr>
        <p:txBody>
          <a:bodyPr wrap="square">
            <a:spAutoFit/>
          </a:bodyPr>
          <a:lstStyle/>
          <a:p>
            <a:r>
              <a:rPr sz="1100" b="1" i="0">
                <a:solidFill>
                  <a:srgbClr val="F8FAFC"/>
                </a:solidFill>
                <a:latin typeface="Segoe UI"/>
              </a:rPr>
              <a:t>Step 6: Deterministic Score</a:t>
            </a:r>
          </a:p>
          <a:p>
            <a:r>
              <a:rPr sz="1000" b="0" i="0">
                <a:solidFill>
                  <a:srgbClr val="E2E8F0"/>
                </a:solidFill>
                <a:latin typeface="Segoe UI"/>
              </a:rPr>
              <a:t>Inspect 100/100 score hero and open 'How is this calculated?' modal.</a:t>
            </a:r>
          </a:p>
        </p:txBody>
      </p:sp>
      <p:sp>
        <p:nvSpPr>
          <p:cNvPr id="24" name="Rounded Rectangle 23"/>
          <p:cNvSpPr/>
          <p:nvPr/>
        </p:nvSpPr>
        <p:spPr>
          <a:xfrm>
            <a:off x="9948672" y="1645920"/>
            <a:ext cx="1417320" cy="448056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0314432" y="1828800"/>
            <a:ext cx="685800" cy="320040"/>
          </a:xfrm>
          <a:prstGeom prst="roundRect">
            <a:avLst/>
          </a:prstGeom>
          <a:solidFill>
            <a:srgbClr val="064E3B"/>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10B981"/>
                </a:solidFill>
                <a:latin typeface="Consolas"/>
              </a:rPr>
              <a:t>07</a:t>
            </a:r>
          </a:p>
        </p:txBody>
      </p:sp>
      <p:sp>
        <p:nvSpPr>
          <p:cNvPr id="26" name="TextBox 25"/>
          <p:cNvSpPr txBox="1"/>
          <p:nvPr/>
        </p:nvSpPr>
        <p:spPr>
          <a:xfrm>
            <a:off x="10040112" y="2286000"/>
            <a:ext cx="1234440" cy="3657600"/>
          </a:xfrm>
          <a:prstGeom prst="rect">
            <a:avLst/>
          </a:prstGeom>
          <a:noFill/>
        </p:spPr>
        <p:txBody>
          <a:bodyPr wrap="square">
            <a:spAutoFit/>
          </a:bodyPr>
          <a:lstStyle/>
          <a:p>
            <a:r>
              <a:rPr sz="1100" b="1" i="0">
                <a:solidFill>
                  <a:srgbClr val="F8FAFC"/>
                </a:solidFill>
                <a:latin typeface="Segoe UI"/>
              </a:rPr>
              <a:t>Step 7: Triage &amp; Export</a:t>
            </a:r>
          </a:p>
          <a:p>
            <a:r>
              <a:rPr sz="1000" b="0" i="0">
                <a:solidFill>
                  <a:srgbClr val="E2E8F0"/>
                </a:solidFill>
                <a:latin typeface="Segoe UI"/>
              </a:rPr>
              <a:t>Inspect code evidence, triage finding to DISMISSED, and export HTML.</a:t>
            </a:r>
          </a:p>
        </p:txBody>
      </p:sp>
      <p:sp>
        <p:nvSpPr>
          <p:cNvPr id="27" name="TextBox 26"/>
          <p:cNvSpPr txBox="1"/>
          <p:nvPr/>
        </p:nvSpPr>
        <p:spPr>
          <a:xfrm>
            <a:off x="731520" y="6446520"/>
            <a:ext cx="10728655" cy="274320"/>
          </a:xfrm>
          <a:prstGeom prst="rect">
            <a:avLst/>
          </a:prstGeom>
          <a:noFill/>
        </p:spPr>
        <p:txBody>
          <a:bodyPr wrap="none" lIns="0" tIns="0" rIns="0" bIns="0">
            <a:spAutoFit/>
          </a:bodyPr>
          <a:lstStyle/>
          <a:p>
            <a:r>
              <a:rPr sz="900" b="0" i="0">
                <a:solidFill>
                  <a:srgbClr val="94A3B8"/>
                </a:solidFill>
                <a:latin typeface="Segoe UI"/>
              </a:rPr>
              <a:t>DeploySafe — AI-Powered Deployment Readiness Platform  |  Agentic AI (CSE3101) Midterm  |  Slide 12 of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7315200" cy="320040"/>
          </a:xfrm>
          <a:prstGeom prst="rect">
            <a:avLst/>
          </a:prstGeom>
          <a:noFill/>
        </p:spPr>
        <p:txBody>
          <a:bodyPr wrap="square" lIns="0" tIns="0" rIns="0" bIns="0">
            <a:spAutoFit/>
          </a:bodyPr>
          <a:lstStyle/>
          <a:p>
            <a:r>
              <a:rPr sz="1000" b="1" i="0">
                <a:solidFill>
                  <a:srgbClr val="10B981"/>
                </a:solidFill>
                <a:latin typeface="Segoe UI"/>
              </a:rPr>
              <a:t>IMPLEMENTATION STATUS</a:t>
            </a:r>
          </a:p>
        </p:txBody>
      </p:sp>
      <p:sp>
        <p:nvSpPr>
          <p:cNvPr id="4" name="TextBox 3"/>
          <p:cNvSpPr txBox="1"/>
          <p:nvPr/>
        </p:nvSpPr>
        <p:spPr>
          <a:xfrm>
            <a:off x="731520" y="658368"/>
            <a:ext cx="10058400" cy="548640"/>
          </a:xfrm>
          <a:prstGeom prst="rect">
            <a:avLst/>
          </a:prstGeom>
          <a:noFill/>
        </p:spPr>
        <p:txBody>
          <a:bodyPr wrap="square" lIns="0" tIns="0" rIns="0" bIns="0">
            <a:spAutoFit/>
          </a:bodyPr>
          <a:lstStyle/>
          <a:p>
            <a:r>
              <a:rPr sz="2400" b="1" i="0">
                <a:solidFill>
                  <a:srgbClr val="F8FAFC"/>
                </a:solidFill>
                <a:latin typeface="Segoe UI"/>
              </a:rPr>
              <a:t>Current Implementation — Phases 1 to 4 Complete</a:t>
            </a:r>
          </a:p>
        </p:txBody>
      </p:sp>
      <p:sp>
        <p:nvSpPr>
          <p:cNvPr id="5" name="TextBox 4"/>
          <p:cNvSpPr txBox="1"/>
          <p:nvPr/>
        </p:nvSpPr>
        <p:spPr>
          <a:xfrm>
            <a:off x="731520" y="1207008"/>
            <a:ext cx="10058400" cy="365760"/>
          </a:xfrm>
          <a:prstGeom prst="rect">
            <a:avLst/>
          </a:prstGeom>
          <a:noFill/>
        </p:spPr>
        <p:txBody>
          <a:bodyPr wrap="square" lIns="0" tIns="0" rIns="0" bIns="0">
            <a:spAutoFit/>
          </a:bodyPr>
          <a:lstStyle/>
          <a:p>
            <a:r>
              <a:rPr sz="1200" b="0" i="0">
                <a:solidFill>
                  <a:srgbClr val="B4C3D7"/>
                </a:solidFill>
                <a:latin typeface="Segoe UI"/>
              </a:rPr>
              <a:t>100% of Phase 1 through Phase 4 requirements from prd.md are implemented and verified.</a:t>
            </a:r>
          </a:p>
        </p:txBody>
      </p:sp>
      <p:sp>
        <p:nvSpPr>
          <p:cNvPr id="6" name="Rounded Rectangle 5"/>
          <p:cNvSpPr/>
          <p:nvPr/>
        </p:nvSpPr>
        <p:spPr>
          <a:xfrm>
            <a:off x="731520" y="1645920"/>
            <a:ext cx="2560320" cy="365760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83080"/>
            <a:ext cx="2286000" cy="3383280"/>
          </a:xfrm>
          <a:prstGeom prst="rect">
            <a:avLst/>
          </a:prstGeom>
          <a:noFill/>
        </p:spPr>
        <p:txBody>
          <a:bodyPr wrap="square">
            <a:spAutoFit/>
          </a:bodyPr>
          <a:lstStyle/>
          <a:p>
            <a:r>
              <a:rPr sz="1200" b="1" i="0">
                <a:solidFill>
                  <a:srgbClr val="06B6D4"/>
                </a:solidFill>
                <a:latin typeface="Segoe UI"/>
              </a:rPr>
              <a:t>PHASE 1: Foundation</a:t>
            </a:r>
          </a:p>
          <a:p>
            <a:r>
              <a:rPr sz="1000" b="0" i="0">
                <a:solidFill>
                  <a:srgbClr val="F8FAFC"/>
                </a:solidFill>
                <a:latin typeface="Segoe UI"/>
              </a:rPr>
              <a:t>✔ FastAPI Async Gateway</a:t>
            </a:r>
          </a:p>
          <a:p>
            <a:r>
              <a:rPr sz="1000" b="0" i="0">
                <a:solidFill>
                  <a:srgbClr val="F8FAFC"/>
                </a:solidFill>
                <a:latin typeface="Segoe UI"/>
              </a:rPr>
              <a:t>✔ React + TypeScript Web Shell</a:t>
            </a:r>
          </a:p>
          <a:p>
            <a:r>
              <a:rPr sz="1000" b="0" i="0">
                <a:solidFill>
                  <a:srgbClr val="F8FAFC"/>
                </a:solidFill>
                <a:latin typeface="Segoe UI"/>
              </a:rPr>
              <a:t>✔ Provider Factory (Gemini + Groq)</a:t>
            </a:r>
          </a:p>
          <a:p>
            <a:r>
              <a:rPr sz="1000" b="0" i="0">
                <a:solidFill>
                  <a:srgbClr val="F8FAFC"/>
                </a:solidFill>
                <a:latin typeface="Segoe UI"/>
              </a:rPr>
              <a:t>✔ Offline Diagnostic Mock Mode</a:t>
            </a:r>
          </a:p>
          <a:p>
            <a:r>
              <a:rPr sz="1000" b="0" i="0">
                <a:solidFill>
                  <a:srgbClr val="F8FAFC"/>
                </a:solidFill>
                <a:latin typeface="Segoe UI"/>
              </a:rPr>
              <a:t>✔ Pydantic Schemas &amp; SQLite DB</a:t>
            </a:r>
          </a:p>
        </p:txBody>
      </p:sp>
      <p:sp>
        <p:nvSpPr>
          <p:cNvPr id="8" name="Rounded Rectangle 7"/>
          <p:cNvSpPr/>
          <p:nvPr/>
        </p:nvSpPr>
        <p:spPr>
          <a:xfrm>
            <a:off x="3456432" y="1645920"/>
            <a:ext cx="2560320" cy="365760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93592" y="1783080"/>
            <a:ext cx="2286000" cy="3383280"/>
          </a:xfrm>
          <a:prstGeom prst="rect">
            <a:avLst/>
          </a:prstGeom>
          <a:noFill/>
        </p:spPr>
        <p:txBody>
          <a:bodyPr wrap="square">
            <a:spAutoFit/>
          </a:bodyPr>
          <a:lstStyle/>
          <a:p>
            <a:r>
              <a:rPr sz="1200" b="1" i="0">
                <a:solidFill>
                  <a:srgbClr val="10B981"/>
                </a:solidFill>
                <a:latin typeface="Segoe UI"/>
              </a:rPr>
              <a:t>PHASE 2: Repository + RAG</a:t>
            </a:r>
          </a:p>
          <a:p>
            <a:r>
              <a:rPr sz="1000" b="0" i="0">
                <a:solidFill>
                  <a:srgbClr val="F8FAFC"/>
                </a:solidFill>
                <a:latin typeface="Segoe UI"/>
              </a:rPr>
              <a:t>✔ Repository Loader (Local + Git)</a:t>
            </a:r>
          </a:p>
          <a:p>
            <a:r>
              <a:rPr sz="1000" b="0" i="0">
                <a:solidFill>
                  <a:srgbClr val="F8FAFC"/>
                </a:solidFill>
                <a:latin typeface="Segoe UI"/>
              </a:rPr>
              <a:t>✔ Safe File Discovery &amp; AST</a:t>
            </a:r>
          </a:p>
          <a:p>
            <a:r>
              <a:rPr sz="1000" b="0" i="0">
                <a:solidFill>
                  <a:srgbClr val="F8FAFC"/>
                </a:solidFill>
                <a:latin typeface="Segoe UI"/>
              </a:rPr>
              <a:t>✔ Markdown &amp; Code Chunking</a:t>
            </a:r>
          </a:p>
          <a:p>
            <a:r>
              <a:rPr sz="1000" b="0" i="0">
                <a:solidFill>
                  <a:srgbClr val="F8FAFC"/>
                </a:solidFill>
                <a:latin typeface="Segoe UI"/>
              </a:rPr>
              <a:t>✔ Chroma Persistent Vector DB</a:t>
            </a:r>
          </a:p>
          <a:p>
            <a:r>
              <a:rPr sz="1000" b="0" i="0">
                <a:solidFill>
                  <a:srgbClr val="F8FAFC"/>
                </a:solidFill>
                <a:latin typeface="Segoe UI"/>
              </a:rPr>
              <a:t>✔ Semantic Cosine Retrieval</a:t>
            </a:r>
          </a:p>
        </p:txBody>
      </p:sp>
      <p:sp>
        <p:nvSpPr>
          <p:cNvPr id="10" name="Rounded Rectangle 9"/>
          <p:cNvSpPr/>
          <p:nvPr/>
        </p:nvSpPr>
        <p:spPr>
          <a:xfrm>
            <a:off x="6181344" y="1645920"/>
            <a:ext cx="2560320" cy="365760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18504" y="1783080"/>
            <a:ext cx="2286000" cy="3383280"/>
          </a:xfrm>
          <a:prstGeom prst="rect">
            <a:avLst/>
          </a:prstGeom>
          <a:noFill/>
        </p:spPr>
        <p:txBody>
          <a:bodyPr wrap="square">
            <a:spAutoFit/>
          </a:bodyPr>
          <a:lstStyle/>
          <a:p>
            <a:r>
              <a:rPr sz="1200" b="1" i="0">
                <a:solidFill>
                  <a:srgbClr val="FB923C"/>
                </a:solidFill>
                <a:latin typeface="Segoe UI"/>
              </a:rPr>
              <a:t>PHASE 3: Multi-Agent Engine</a:t>
            </a:r>
          </a:p>
          <a:p>
            <a:r>
              <a:rPr sz="1000" b="0" i="0">
                <a:solidFill>
                  <a:srgbClr val="F8FAFC"/>
                </a:solidFill>
                <a:latin typeface="Segoe UI"/>
              </a:rPr>
              <a:t>✔ CrewAI Flow Orchestrator</a:t>
            </a:r>
          </a:p>
          <a:p>
            <a:r>
              <a:rPr sz="1000" b="0" i="0">
                <a:solidFill>
                  <a:srgbClr val="F8FAFC"/>
                </a:solidFill>
                <a:latin typeface="Segoe UI"/>
              </a:rPr>
              <a:t>✔ 6 Specialized Domain Agents</a:t>
            </a:r>
          </a:p>
          <a:p>
            <a:r>
              <a:rPr sz="1000" b="0" i="0">
                <a:solidFill>
                  <a:srgbClr val="F8FAFC"/>
                </a:solidFill>
                <a:latin typeface="Segoe UI"/>
              </a:rPr>
              <a:t>✔ Sandboxed Tool Layer (Pytest, Git)</a:t>
            </a:r>
          </a:p>
          <a:p>
            <a:r>
              <a:rPr sz="1000" b="0" i="0">
                <a:solidFill>
                  <a:srgbClr val="F8FAFC"/>
                </a:solidFill>
                <a:latin typeface="Segoe UI"/>
              </a:rPr>
              <a:t>✔ Adversarial Critic Gatekeeper</a:t>
            </a:r>
          </a:p>
          <a:p>
            <a:r>
              <a:rPr sz="1000" b="0" i="0">
                <a:solidFill>
                  <a:srgbClr val="F8FAFC"/>
                </a:solidFill>
                <a:latin typeface="Segoe UI"/>
              </a:rPr>
              <a:t>✔ Line-Accurate Evidence Mapping</a:t>
            </a:r>
          </a:p>
        </p:txBody>
      </p:sp>
      <p:sp>
        <p:nvSpPr>
          <p:cNvPr id="12" name="Rounded Rectangle 11"/>
          <p:cNvSpPr/>
          <p:nvPr/>
        </p:nvSpPr>
        <p:spPr>
          <a:xfrm>
            <a:off x="8906256" y="1645920"/>
            <a:ext cx="2560320" cy="365760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43416" y="1783080"/>
            <a:ext cx="2286000" cy="3383280"/>
          </a:xfrm>
          <a:prstGeom prst="rect">
            <a:avLst/>
          </a:prstGeom>
          <a:noFill/>
        </p:spPr>
        <p:txBody>
          <a:bodyPr wrap="square">
            <a:spAutoFit/>
          </a:bodyPr>
          <a:lstStyle/>
          <a:p>
            <a:r>
              <a:rPr sz="1200" b="1" i="0">
                <a:solidFill>
                  <a:srgbClr val="F87171"/>
                </a:solidFill>
                <a:latin typeface="Segoe UI"/>
              </a:rPr>
              <a:t>PHASE 4: Risk Engine &amp; UI</a:t>
            </a:r>
          </a:p>
          <a:p>
            <a:r>
              <a:rPr sz="1000" b="0" i="0">
                <a:solidFill>
                  <a:srgbClr val="F8FAFC"/>
                </a:solidFill>
                <a:latin typeface="Segoe UI"/>
              </a:rPr>
              <a:t>✔ Deterministic RiskEngine (0–100)</a:t>
            </a:r>
          </a:p>
          <a:p>
            <a:r>
              <a:rPr sz="1000" b="0" i="0">
                <a:solidFill>
                  <a:srgbClr val="F8FAFC"/>
                </a:solidFill>
                <a:latin typeface="Segoe UI"/>
              </a:rPr>
              <a:t>✔ Multi-Attribute Deduplication</a:t>
            </a:r>
          </a:p>
          <a:p>
            <a:r>
              <a:rPr sz="1000" b="0" i="0">
                <a:solidFill>
                  <a:srgbClr val="F8FAFC"/>
                </a:solidFill>
                <a:latin typeface="Segoe UI"/>
              </a:rPr>
              <a:t>✔ Auditable Status Lifecycle</a:t>
            </a:r>
          </a:p>
          <a:p>
            <a:r>
              <a:rPr sz="1000" b="0" i="0">
                <a:solidFill>
                  <a:srgbClr val="F8FAFC"/>
                </a:solidFill>
                <a:latin typeface="Segoe UI"/>
              </a:rPr>
              <a:t>✔ Professional React Dashboard</a:t>
            </a:r>
          </a:p>
          <a:p>
            <a:r>
              <a:rPr sz="1000" b="0" i="0">
                <a:solidFill>
                  <a:srgbClr val="F8FAFC"/>
                </a:solidFill>
                <a:latin typeface="Segoe UI"/>
              </a:rPr>
              <a:t>✔ Multi-Format Reports (HTML/MD/JSON)</a:t>
            </a:r>
          </a:p>
        </p:txBody>
      </p:sp>
      <p:sp>
        <p:nvSpPr>
          <p:cNvPr id="14" name="Rounded Rectangle 13"/>
          <p:cNvSpPr/>
          <p:nvPr/>
        </p:nvSpPr>
        <p:spPr>
          <a:xfrm>
            <a:off x="731520" y="5486400"/>
            <a:ext cx="10728655" cy="640080"/>
          </a:xfrm>
          <a:prstGeom prst="roundRect">
            <a:avLst/>
          </a:prstGeom>
          <a:solidFill>
            <a:srgbClr val="141B2D"/>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577840"/>
            <a:ext cx="10362895" cy="457200"/>
          </a:xfrm>
          <a:prstGeom prst="rect">
            <a:avLst/>
          </a:prstGeom>
          <a:noFill/>
        </p:spPr>
        <p:txBody>
          <a:bodyPr wrap="none">
            <a:spAutoFit/>
          </a:bodyPr>
          <a:lstStyle/>
          <a:p>
            <a:r>
              <a:rPr sz="1100" b="1" i="0">
                <a:solidFill>
                  <a:srgbClr val="10B981"/>
                </a:solidFill>
                <a:latin typeface="Consolas"/>
              </a:rPr>
              <a:t>AUTOMATED TEST SUITE STATUS: 62 of 62 Pytest Tests Passing (0 Failures)  •  Frontend Vite Build: 0 Errors in 2.38s</a:t>
            </a:r>
          </a:p>
        </p:txBody>
      </p:sp>
      <p:sp>
        <p:nvSpPr>
          <p:cNvPr id="16" name="TextBox 15"/>
          <p:cNvSpPr txBox="1"/>
          <p:nvPr/>
        </p:nvSpPr>
        <p:spPr>
          <a:xfrm>
            <a:off x="731520" y="6446520"/>
            <a:ext cx="10728655" cy="274320"/>
          </a:xfrm>
          <a:prstGeom prst="rect">
            <a:avLst/>
          </a:prstGeom>
          <a:noFill/>
        </p:spPr>
        <p:txBody>
          <a:bodyPr wrap="none" lIns="0" tIns="0" rIns="0" bIns="0">
            <a:spAutoFit/>
          </a:bodyPr>
          <a:lstStyle/>
          <a:p>
            <a:r>
              <a:rPr sz="900" b="0" i="0">
                <a:solidFill>
                  <a:srgbClr val="94A3B8"/>
                </a:solidFill>
                <a:latin typeface="Segoe UI"/>
              </a:rPr>
              <a:t>DeploySafe — AI-Powered Deployment Readiness Platform  |  Agentic AI (CSE3101) Midterm  |  Slide 13 of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7315200" cy="320040"/>
          </a:xfrm>
          <a:prstGeom prst="rect">
            <a:avLst/>
          </a:prstGeom>
          <a:noFill/>
        </p:spPr>
        <p:txBody>
          <a:bodyPr wrap="square" lIns="0" tIns="0" rIns="0" bIns="0">
            <a:spAutoFit/>
          </a:bodyPr>
          <a:lstStyle/>
          <a:p>
            <a:r>
              <a:rPr sz="1000" b="1" i="0">
                <a:solidFill>
                  <a:srgbClr val="10B981"/>
                </a:solidFill>
                <a:latin typeface="Segoe UI"/>
              </a:rPr>
              <a:t>FUTURE ROADMAP</a:t>
            </a:r>
          </a:p>
        </p:txBody>
      </p:sp>
      <p:sp>
        <p:nvSpPr>
          <p:cNvPr id="4" name="TextBox 3"/>
          <p:cNvSpPr txBox="1"/>
          <p:nvPr/>
        </p:nvSpPr>
        <p:spPr>
          <a:xfrm>
            <a:off x="731520" y="658368"/>
            <a:ext cx="10058400" cy="548640"/>
          </a:xfrm>
          <a:prstGeom prst="rect">
            <a:avLst/>
          </a:prstGeom>
          <a:noFill/>
        </p:spPr>
        <p:txBody>
          <a:bodyPr wrap="square" lIns="0" tIns="0" rIns="0" bIns="0">
            <a:spAutoFit/>
          </a:bodyPr>
          <a:lstStyle/>
          <a:p>
            <a:r>
              <a:rPr sz="2400" b="1" i="0">
                <a:solidFill>
                  <a:srgbClr val="F8FAFC"/>
                </a:solidFill>
                <a:latin typeface="Segoe UI"/>
              </a:rPr>
              <a:t>What Comes Next — Phases 5 &amp; 6</a:t>
            </a:r>
          </a:p>
        </p:txBody>
      </p:sp>
      <p:sp>
        <p:nvSpPr>
          <p:cNvPr id="5" name="TextBox 4"/>
          <p:cNvSpPr txBox="1"/>
          <p:nvPr/>
        </p:nvSpPr>
        <p:spPr>
          <a:xfrm>
            <a:off x="731520" y="1207008"/>
            <a:ext cx="10058400" cy="365760"/>
          </a:xfrm>
          <a:prstGeom prst="rect">
            <a:avLst/>
          </a:prstGeom>
          <a:noFill/>
        </p:spPr>
        <p:txBody>
          <a:bodyPr wrap="square" lIns="0" tIns="0" rIns="0" bIns="0">
            <a:spAutoFit/>
          </a:bodyPr>
          <a:lstStyle/>
          <a:p>
            <a:r>
              <a:rPr sz="1200" b="0" i="0">
                <a:solidFill>
                  <a:srgbClr val="B4C3D7"/>
                </a:solidFill>
                <a:latin typeface="Segoe UI"/>
              </a:rPr>
              <a:t>Clear separation between what is working today and upcoming development phases.</a:t>
            </a:r>
          </a:p>
        </p:txBody>
      </p:sp>
      <p:sp>
        <p:nvSpPr>
          <p:cNvPr id="6" name="Rounded Rectangle 5"/>
          <p:cNvSpPr/>
          <p:nvPr/>
        </p:nvSpPr>
        <p:spPr>
          <a:xfrm>
            <a:off x="731520" y="1645920"/>
            <a:ext cx="5212080" cy="448056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4663440" cy="4114800"/>
          </a:xfrm>
          <a:prstGeom prst="rect">
            <a:avLst/>
          </a:prstGeom>
          <a:noFill/>
        </p:spPr>
        <p:txBody>
          <a:bodyPr wrap="square">
            <a:spAutoFit/>
          </a:bodyPr>
          <a:lstStyle/>
          <a:p>
            <a:r>
              <a:rPr sz="1200" b="1" i="0">
                <a:solidFill>
                  <a:srgbClr val="FB923C"/>
                </a:solidFill>
                <a:latin typeface="Consolas"/>
              </a:rPr>
              <a:t>PHASE 5: GITHUB AUTOMATION &amp; EVALUATION (PLANNED)</a:t>
            </a:r>
          </a:p>
          <a:p>
            <a:r>
              <a:rPr sz="1100" b="0" i="0">
                <a:solidFill>
                  <a:srgbClr val="E2E8F0"/>
                </a:solidFill>
                <a:latin typeface="Segoe UI"/>
              </a:rPr>
              <a:t>• GitHub Action CI Workflow: Automated trigger on pull_request events (.github/workflows/deploysafe.yml).</a:t>
            </a:r>
          </a:p>
          <a:p>
            <a:r>
              <a:rPr sz="1100" b="0" i="0">
                <a:solidFill>
                  <a:srgbClr val="E2E8F0"/>
                </a:solidFill>
                <a:latin typeface="Segoe UI"/>
              </a:rPr>
              <a:t>• Automated PR Bot Comments: Posts structured risk assessment and blocker warnings directly on pull requests.</a:t>
            </a:r>
          </a:p>
          <a:p>
            <a:r>
              <a:rPr sz="1100" b="0" i="0">
                <a:solidFill>
                  <a:srgbClr val="E2E8F0"/>
                </a:solidFill>
                <a:latin typeface="Segoe UI"/>
              </a:rPr>
              <a:t>• Benchmark Evaluation Dataset: Quantitative evaluation against curated repositories with known deployment flaws.</a:t>
            </a:r>
          </a:p>
          <a:p>
            <a:r>
              <a:rPr sz="1100" b="0" i="0">
                <a:solidFill>
                  <a:srgbClr val="E2E8F0"/>
                </a:solidFill>
                <a:latin typeface="Segoe UI"/>
              </a:rPr>
              <a:t>• Safety &amp; Prompt Hardening: Adversarial test suite evaluating defenses against prompt injection attacks.</a:t>
            </a:r>
          </a:p>
          <a:p>
            <a:r>
              <a:rPr sz="1100" b="0" i="0">
                <a:solidFill>
                  <a:srgbClr val="E2E8F0"/>
                </a:solidFill>
                <a:latin typeface="Segoe UI"/>
              </a:rPr>
              <a:t>• Strict CI Gate Blocking: Exit code non-zero when Risk Score &gt;= 75 (CRITICAL).</a:t>
            </a:r>
          </a:p>
        </p:txBody>
      </p:sp>
      <p:sp>
        <p:nvSpPr>
          <p:cNvPr id="8" name="Rounded Rectangle 7"/>
          <p:cNvSpPr/>
          <p:nvPr/>
        </p:nvSpPr>
        <p:spPr>
          <a:xfrm>
            <a:off x="6248095" y="1645920"/>
            <a:ext cx="5212080" cy="448056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22415" y="1828800"/>
            <a:ext cx="4663440" cy="4114800"/>
          </a:xfrm>
          <a:prstGeom prst="rect">
            <a:avLst/>
          </a:prstGeom>
          <a:noFill/>
        </p:spPr>
        <p:txBody>
          <a:bodyPr wrap="square">
            <a:spAutoFit/>
          </a:bodyPr>
          <a:lstStyle/>
          <a:p>
            <a:r>
              <a:rPr sz="1200" b="1" i="0">
                <a:solidFill>
                  <a:srgbClr val="06B6D4"/>
                </a:solidFill>
                <a:latin typeface="Consolas"/>
              </a:rPr>
              <a:t>PHASE 6: OBSERVABILITY &amp; PRODUCTION READY (PLANNED)</a:t>
            </a:r>
          </a:p>
          <a:p>
            <a:r>
              <a:rPr sz="1100" b="0" i="0">
                <a:solidFill>
                  <a:srgbClr val="E2E8F0"/>
                </a:solidFill>
                <a:latin typeface="Segoe UI"/>
              </a:rPr>
              <a:t>• Telemetry &amp; Tracing: OpenTelemetry spans tracking LLM token costs, latencies, and agent execution paths.</a:t>
            </a:r>
          </a:p>
          <a:p>
            <a:r>
              <a:rPr sz="1100" b="0" i="0">
                <a:solidFill>
                  <a:srgbClr val="E2E8F0"/>
                </a:solidFill>
                <a:latin typeface="Segoe UI"/>
              </a:rPr>
              <a:t>• Persistent Team Multi-Tenancy: User authentication, team workspaces, and repository access management.</a:t>
            </a:r>
          </a:p>
          <a:p>
            <a:r>
              <a:rPr sz="1100" b="0" i="0">
                <a:solidFill>
                  <a:srgbClr val="E2E8F0"/>
                </a:solidFill>
                <a:latin typeface="Segoe UI"/>
              </a:rPr>
              <a:t>• Continuous Drift Monitoring: Periodic scheduled audits flagging upstream dependency deprecations.</a:t>
            </a:r>
          </a:p>
          <a:p>
            <a:r>
              <a:rPr sz="1100" b="0" i="0">
                <a:solidFill>
                  <a:srgbClr val="E2E8F0"/>
                </a:solidFill>
                <a:latin typeface="Segoe UI"/>
              </a:rPr>
              <a:t>• Dockerized Distribution: Production multi-container Docker compose deployment for enterprise teams.</a:t>
            </a:r>
          </a:p>
        </p:txBody>
      </p:sp>
      <p:sp>
        <p:nvSpPr>
          <p:cNvPr id="10" name="TextBox 9"/>
          <p:cNvSpPr txBox="1"/>
          <p:nvPr/>
        </p:nvSpPr>
        <p:spPr>
          <a:xfrm>
            <a:off x="731520" y="6446520"/>
            <a:ext cx="10728655" cy="274320"/>
          </a:xfrm>
          <a:prstGeom prst="rect">
            <a:avLst/>
          </a:prstGeom>
          <a:noFill/>
        </p:spPr>
        <p:txBody>
          <a:bodyPr wrap="none" lIns="0" tIns="0" rIns="0" bIns="0">
            <a:spAutoFit/>
          </a:bodyPr>
          <a:lstStyle/>
          <a:p>
            <a:r>
              <a:rPr sz="900" b="0" i="0">
                <a:solidFill>
                  <a:srgbClr val="94A3B8"/>
                </a:solidFill>
                <a:latin typeface="Segoe UI"/>
              </a:rPr>
              <a:t>DeploySafe — AI-Powered Deployment Readiness Platform  |  Agentic AI (CSE3101) Midterm  |  Slide 14 of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280160"/>
            <a:ext cx="9448495" cy="2743200"/>
          </a:xfrm>
          <a:prstGeom prst="rect">
            <a:avLst/>
          </a:prstGeom>
          <a:noFill/>
        </p:spPr>
        <p:txBody>
          <a:bodyPr wrap="square">
            <a:spAutoFit/>
          </a:bodyPr>
          <a:lstStyle/>
          <a:p>
            <a:pPr algn="ctr"/>
            <a:r>
              <a:rPr sz="4600" b="1" i="0">
                <a:solidFill>
                  <a:srgbClr val="F8FAFC"/>
                </a:solidFill>
                <a:latin typeface="Segoe UI"/>
              </a:rPr>
              <a:t>DeploySafe</a:t>
            </a:r>
          </a:p>
          <a:p>
            <a:pPr algn="ctr"/>
            <a:r>
              <a:rPr sz="1800" b="0" i="1">
                <a:solidFill>
                  <a:srgbClr val="10B981"/>
                </a:solidFill>
                <a:latin typeface="Segoe UI"/>
              </a:rPr>
              <a:t>“An AI analysis layer between code changes and deployment.”</a:t>
            </a:r>
          </a:p>
          <a:p>
            <a:pPr algn="ctr"/>
            <a:r>
              <a:rPr sz="1300" b="1" i="0">
                <a:solidFill>
                  <a:srgbClr val="06B6D4"/>
                </a:solidFill>
                <a:latin typeface="Consolas"/>
              </a:rPr>
              <a:t>Repository  ──▶  Agents  ──▶  Evidence  ──▶  Deterministic Risk  ──▶  Actionable Insight</a:t>
            </a:r>
          </a:p>
        </p:txBody>
      </p:sp>
      <p:sp>
        <p:nvSpPr>
          <p:cNvPr id="4" name="Rounded Rectangle 3"/>
          <p:cNvSpPr/>
          <p:nvPr/>
        </p:nvSpPr>
        <p:spPr>
          <a:xfrm>
            <a:off x="2926080" y="3931920"/>
            <a:ext cx="6339535" cy="1645920"/>
          </a:xfrm>
          <a:prstGeom prst="roundRect">
            <a:avLst/>
          </a:prstGeom>
          <a:solidFill>
            <a:srgbClr val="141B2D"/>
          </a:solidFill>
          <a:ln w="12700">
            <a:solidFill>
              <a:srgbClr val="2835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0" y="4069080"/>
            <a:ext cx="5973775" cy="1371600"/>
          </a:xfrm>
          <a:prstGeom prst="rect">
            <a:avLst/>
          </a:prstGeom>
          <a:noFill/>
        </p:spPr>
        <p:txBody>
          <a:bodyPr wrap="square">
            <a:spAutoFit/>
          </a:bodyPr>
          <a:lstStyle/>
          <a:p>
            <a:pPr algn="ctr"/>
            <a:r>
              <a:rPr sz="2400" b="1" i="0">
                <a:solidFill>
                  <a:srgbClr val="F8FAFC"/>
                </a:solidFill>
                <a:latin typeface="Segoe UI"/>
              </a:rPr>
              <a:t>Thank You!</a:t>
            </a:r>
          </a:p>
          <a:p>
            <a:pPr algn="ctr"/>
            <a:r>
              <a:rPr sz="1300" b="0" i="0">
                <a:solidFill>
                  <a:srgbClr val="10B981"/>
                </a:solidFill>
                <a:latin typeface="Segoe UI"/>
              </a:rPr>
              <a:t>We are ready for questions and the live product demonstration.</a:t>
            </a:r>
          </a:p>
          <a:p>
            <a:pPr algn="ctr"/>
            <a:r>
              <a:rPr sz="1100" b="0" i="0">
                <a:solidFill>
                  <a:srgbClr val="B4C3D7"/>
                </a:solidFill>
                <a:latin typeface="Segoe UI"/>
              </a:rPr>
              <a:t>GitHub / Project Source: DeploySafe Core  •  Course: Agentic AI — CSE3101</a:t>
            </a:r>
          </a:p>
        </p:txBody>
      </p:sp>
      <p:sp>
        <p:nvSpPr>
          <p:cNvPr id="6" name="TextBox 5"/>
          <p:cNvSpPr txBox="1"/>
          <p:nvPr/>
        </p:nvSpPr>
        <p:spPr>
          <a:xfrm>
            <a:off x="731520" y="6446520"/>
            <a:ext cx="10728655" cy="274320"/>
          </a:xfrm>
          <a:prstGeom prst="rect">
            <a:avLst/>
          </a:prstGeom>
          <a:noFill/>
        </p:spPr>
        <p:txBody>
          <a:bodyPr wrap="none" lIns="0" tIns="0" rIns="0" bIns="0">
            <a:spAutoFit/>
          </a:bodyPr>
          <a:lstStyle/>
          <a:p>
            <a:r>
              <a:rPr sz="900" b="0" i="0">
                <a:solidFill>
                  <a:srgbClr val="94A3B8"/>
                </a:solidFill>
                <a:latin typeface="Segoe UI"/>
              </a:rPr>
              <a:t>DeploySafe — AI-Powered Deployment Readiness Platform  |  Agentic AI (CSE3101) Midterm  |  Slide 15 of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