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0728655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051560"/>
            <a:ext cx="996696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100" b="1">
                <a:solidFill>
                  <a:srgbClr val="2563EB"/>
                </a:solidFill>
                <a:latin typeface="Segoe UI"/>
              </a:rPr>
              <a:t>PROJECT FINAL DEFENSE &amp; V2 PLATFORM RELEASE</a:t>
            </a:r>
          </a:p>
          <a:p>
            <a:pPr algn="l">
              <a:spcAft>
                <a:spcPts val="800"/>
              </a:spcAft>
            </a:pPr>
            <a:r>
              <a:rPr sz="2800" b="1">
                <a:solidFill>
                  <a:srgbClr val="0F172A"/>
                </a:solidFill>
                <a:latin typeface="Segoe UI"/>
              </a:rPr>
              <a:t>DeploySafe: Agentic AI Pre-Deployment Risk Platform</a:t>
            </a:r>
          </a:p>
          <a:p>
            <a:pPr algn="l">
              <a:spcAft>
                <a:spcPts val="1800"/>
              </a:spcAft>
            </a:pPr>
            <a:r>
              <a:rPr sz="1400" b="0">
                <a:solidFill>
                  <a:srgbClr val="475569"/>
                </a:solidFill>
                <a:latin typeface="Segoe UI"/>
              </a:rPr>
              <a:t>Cross-Boundary Architectural Hazard Detection, Adversarial Reflection &amp; Deterministic Safety Gating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Segoe UI"/>
              </a:rPr>
              <a:t>Automating pre-release safety validation across Code, Infrastructure, Configuration, Dependencies, and Test Deficits before shipping to production.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800600"/>
            <a:ext cx="342900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4983480"/>
            <a:ext cx="2971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94A3B8"/>
                </a:solidFill>
                <a:latin typeface="Segoe UI"/>
              </a:rPr>
              <a:t>FACULTY MENTORS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0F172A"/>
                </a:solidFill>
                <a:latin typeface="Segoe UI"/>
              </a:rPr>
              <a:t>Mr. Naveen Singla</a:t>
            </a:r>
          </a:p>
          <a:p>
            <a:pPr algn="l">
              <a:spcAft>
                <a:spcPts val="0"/>
              </a:spcAft>
            </a:pPr>
            <a:r>
              <a:rPr sz="1300" b="1">
                <a:solidFill>
                  <a:srgbClr val="475569"/>
                </a:solidFill>
                <a:latin typeface="Segoe UI"/>
              </a:rPr>
              <a:t>&amp; Dr. Kiran Khatter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79976" y="4800600"/>
            <a:ext cx="342900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08576" y="4983480"/>
            <a:ext cx="2971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94A3B8"/>
                </a:solidFill>
                <a:latin typeface="Segoe UI"/>
              </a:rPr>
              <a:t>CORE FOUNDATION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0F172A"/>
                </a:solidFill>
                <a:latin typeface="Segoe UI"/>
              </a:rPr>
              <a:t>LangGraph + ChromaDB RAG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Segoe UI"/>
              </a:rPr>
              <a:t>FastAPI Backend + React 18 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28432" y="4800600"/>
            <a:ext cx="3429000" cy="146304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57032" y="4983480"/>
            <a:ext cx="2971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16A34A"/>
                </a:solidFill>
                <a:latin typeface="Segoe UI"/>
              </a:rPr>
              <a:t>SYSTEM STATUS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16A34A"/>
                </a:solidFill>
                <a:latin typeface="Segoe UI"/>
              </a:rPr>
              <a:t>V2.0 Final Release: PASS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Segoe UI"/>
              </a:rPr>
              <a:t>98/98 Tests Passing • 0 Failures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3840480" cy="292608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563EB"/>
                </a:solidFill>
                <a:latin typeface="Segoe UI"/>
              </a:rPr>
              <a:t>DEPLOYSAFE — AGENTIC PRE-DEPLOYMENT RISK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>
                <a:solidFill>
                  <a:srgbClr val="94A3B8"/>
                </a:solidFill>
                <a:latin typeface="Segoe UI"/>
              </a:rPr>
              <a:t>02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F172A"/>
                </a:solidFill>
                <a:latin typeface="Segoe UI"/>
              </a:rPr>
              <a:t>The Pre-Deployment Blind Spot: Why CI/CD Fails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Segoe UI"/>
              </a:rPr>
              <a:t>Over 65% of catastrophic production outages pass green through standard unit &amp; lint tests.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342900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20" y="2011680"/>
            <a:ext cx="1645920" cy="256032"/>
          </a:xfrm>
          <a:prstGeom prst="round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DC2626"/>
                </a:solidFill>
                <a:latin typeface="Segoe UI"/>
              </a:rPr>
              <a:t>SILOED RUNNERS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2971800" cy="3703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>
                <a:solidFill>
                  <a:srgbClr val="0F172A"/>
                </a:solidFill>
                <a:latin typeface="Segoe UI"/>
              </a:rPr>
              <a:t>Imperative Script Blindness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Standard CI runs tests in isolation (pytest, npm test) with zero semantic cross-artifact reasoning.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Static linters flag style nits but miss holistic architectural drift.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A pull request can have 100% test pass rate while silently breaking Docker port mappings or database URLs.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9976" y="1783080"/>
            <a:ext cx="342900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608576" y="2011680"/>
            <a:ext cx="1828800" cy="256032"/>
          </a:xfrm>
          <a:prstGeom prst="round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DC2626"/>
                </a:solidFill>
                <a:latin typeface="Segoe UI"/>
              </a:rPr>
              <a:t>SEAM MISMATCHES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8576" y="2377440"/>
            <a:ext cx="2971800" cy="3703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>
                <a:solidFill>
                  <a:srgbClr val="0F172A"/>
                </a:solidFill>
                <a:latin typeface="Segoe UI"/>
              </a:rPr>
              <a:t>Cross-Boundary Breakages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Environment Drift: Code consumes DATABASE_URL but Docker Compose defines DB_URL.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Security Drift: Hardcoded credentials, unpinned container tags (:latest), or containers running as root.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Dependency Vulns: Direct or transitive packages affected by published CVEs.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8431" y="1783080"/>
            <a:ext cx="342900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257031" y="2011680"/>
            <a:ext cx="1828800" cy="256032"/>
          </a:xfrm>
          <a:prstGeom prst="round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DC2626"/>
                </a:solidFill>
                <a:latin typeface="Segoe UI"/>
              </a:rPr>
              <a:t>LLM HALLUCINATIONS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57031" y="2377440"/>
            <a:ext cx="2971800" cy="3703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>
                <a:solidFill>
                  <a:srgbClr val="0F172A"/>
                </a:solidFill>
                <a:latin typeface="Segoe UI"/>
              </a:rPr>
              <a:t>The Generic AI Trap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Standard LLMs hallucinate non-existent files, wrong line numbers, and fake security issues.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Single-prompt analysis lacks grounding, verification, and deterministic scoring.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Result: High developer alert fatigue and immediate rejection of ungrounded AI tooling.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3840480" cy="292608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563EB"/>
                </a:solidFill>
                <a:latin typeface="Segoe UI"/>
              </a:rPr>
              <a:t>DEPLOYSAFE — AGENTIC PRE-DEPLOYMENT RISK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>
                <a:solidFill>
                  <a:srgbClr val="94A3B8"/>
                </a:solidFill>
                <a:latin typeface="Segoe UI"/>
              </a:rPr>
              <a:t>03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F172A"/>
                </a:solidFill>
                <a:latin typeface="Segoe UI"/>
              </a:rPr>
              <a:t>DeploySafe Core Architecture &amp; Orchestration Flow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Segoe UI"/>
              </a:rPr>
              <a:t>Dynamic planning, parallel domain agents, adversarial reflection, and deterministic scoring.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2523744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2011680"/>
            <a:ext cx="1280160" cy="256032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563EB"/>
                </a:solidFill>
                <a:latin typeface="Segoe UI"/>
              </a:rPr>
              <a:t>STAGE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2157984" cy="3703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0F172A"/>
                </a:solidFill>
                <a:latin typeface="Segoe UI"/>
              </a:rPr>
              <a:t>Dynamic Planning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Git diff extraction &amp; AST file discovery.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Pre-ingestion regex secret scrubbing.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Planner dynamically activates domain agents based on touched file types.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Safe limits: 2,000 files &amp; 200MB.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65575" y="1783080"/>
            <a:ext cx="2523744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48456" y="2011680"/>
            <a:ext cx="1280160" cy="256032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563EB"/>
                </a:solidFill>
                <a:latin typeface="Segoe UI"/>
              </a:rPr>
              <a:t>STAGE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48456" y="2377440"/>
            <a:ext cx="2157984" cy="3703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0F172A"/>
                </a:solidFill>
                <a:latin typeface="Segoe UI"/>
              </a:rPr>
              <a:t>Parallel Agents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0F172A"/>
                </a:solidFill>
                <a:latin typeface="Segoe UI"/>
              </a:rPr>
              <a:t>• Code Analysis Agent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0F172A"/>
                </a:solidFill>
                <a:latin typeface="Segoe UI"/>
              </a:rPr>
              <a:t>• Config &amp; Infra Agent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0F172A"/>
                </a:solidFill>
                <a:latin typeface="Segoe UI"/>
              </a:rPr>
              <a:t>• Dependency &amp; CVE Agent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0F172A"/>
                </a:solidFill>
                <a:latin typeface="Segoe UI"/>
              </a:rPr>
              <a:t>• Test Path Analysis Agent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0F172A"/>
                </a:solidFill>
                <a:latin typeface="Segoe UI"/>
              </a:rPr>
              <a:t>• Security &amp; IAM Agent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ChromaDB Vector RAG context injection.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1" y="1783080"/>
            <a:ext cx="2523744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82512" y="2011680"/>
            <a:ext cx="1645920" cy="256032"/>
          </a:xfrm>
          <a:prstGeom prst="roundRect">
            <a:avLst/>
          </a:prstGeom>
          <a:solidFill>
            <a:srgbClr val="FA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7E22CE"/>
                </a:solidFill>
                <a:latin typeface="Segoe UI"/>
              </a:rPr>
              <a:t>STAGE 3 (CORE)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82512" y="2377440"/>
            <a:ext cx="2157984" cy="3703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0F172A"/>
                </a:solidFill>
                <a:latin typeface="Segoe UI"/>
              </a:rPr>
              <a:t>Critic Reflection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Adversarial verification of all candidate findings.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Physical File Existence check.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Line Bounds Range validation.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Literal Code Snippet matching.</a:t>
            </a:r>
          </a:p>
          <a:p>
            <a:pPr algn="l">
              <a:spcAft>
                <a:spcPts val="0"/>
              </a:spcAft>
            </a:pPr>
            <a:r>
              <a:rPr sz="1100" b="1">
                <a:solidFill>
                  <a:srgbClr val="16A34A"/>
                </a:solidFill>
                <a:latin typeface="Segoe UI"/>
              </a:rPr>
              <a:t>• Drops hallucinations to 0.0% false positives.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3688" y="1783080"/>
            <a:ext cx="2523744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116567" y="2011680"/>
            <a:ext cx="1280160" cy="256032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563EB"/>
                </a:solidFill>
                <a:latin typeface="Segoe UI"/>
              </a:rPr>
              <a:t>STAGE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16567" y="2377440"/>
            <a:ext cx="2157984" cy="3703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0F172A"/>
                </a:solidFill>
                <a:latin typeface="Segoe UI"/>
              </a:rPr>
              <a:t>Gating &amp; Output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Deterministic 0–100 mathematical risk scoring.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Automated Gate: ALLOWED, REVIEW_REQUIRED, BLOCKED.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Fingerprint Diff engine.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Emits CLI exit codes &amp; CI status.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3840480" cy="292608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563EB"/>
                </a:solidFill>
                <a:latin typeface="Segoe UI"/>
              </a:rPr>
              <a:t>DEPLOYSAFE — AGENTIC PRE-DEPLOYMENT RISK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>
                <a:solidFill>
                  <a:srgbClr val="94A3B8"/>
                </a:solidFill>
                <a:latin typeface="Segoe UI"/>
              </a:rPr>
              <a:t>04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F172A"/>
                </a:solidFill>
                <a:latin typeface="Segoe UI"/>
              </a:rPr>
              <a:t>Specialized Domain Agents: Targeted Hazard Detection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Segoe UI"/>
              </a:rPr>
              <a:t>Each agent is bound to a strict persona, deterministic toolset, and structured output schema.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342900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3063240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563EB"/>
                </a:solidFill>
                <a:latin typeface="Segoe UI"/>
              </a:rPr>
              <a:t>1. Code Analysis Agent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Evaluates AST, structural code smells, unhandled async exceptions, resource leaks.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Analyzes commit diff additions/deletions against full file context.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9976" y="1783080"/>
            <a:ext cx="342900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62856" y="1965960"/>
            <a:ext cx="3063240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563EB"/>
                </a:solidFill>
                <a:latin typeface="Segoe UI"/>
              </a:rPr>
              <a:t>2. Config &amp; Infra Agent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Validates Dockerfile, docker-compose.yml, K8s manifests, and .env files.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Detects unpinned tags, root users, debug flags enabled in production.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28431" y="1783080"/>
            <a:ext cx="342900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11311" y="1965960"/>
            <a:ext cx="3063240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563EB"/>
                </a:solidFill>
                <a:latin typeface="Segoe UI"/>
              </a:rPr>
              <a:t>3. Dependency &amp; CVE Agent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Scans requirements.txt, package.json, pyproject.toml, Pipfile.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Cross-references advisory databases for known CVEs and breaking deprecations.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069080"/>
            <a:ext cx="5248656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251960"/>
            <a:ext cx="4882896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563EB"/>
                </a:solidFill>
                <a:latin typeface="Segoe UI"/>
              </a:rPr>
              <a:t>4. Test Path &amp; Coverage Agent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Identifies untested critical execution paths touched in diffs (auth, billing, payment tokens).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Verifies that high-risk modified functions have corresponding test assertions.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4069080"/>
            <a:ext cx="5248656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4251960"/>
            <a:ext cx="4882896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563EB"/>
                </a:solidFill>
                <a:latin typeface="Segoe UI"/>
              </a:rPr>
              <a:t>5. Security &amp; IAM Agent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Detects accidental cloud credentials (AWS, GCP, Azure, DB passwords, JWT secrets).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Identifies insecure CORS wildcard origins, SQL injection risk, and missing rate limiters.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3840480" cy="292608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563EB"/>
                </a:solidFill>
                <a:latin typeface="Segoe UI"/>
              </a:rPr>
              <a:t>DEPLOYSAFE — AGENTIC PRE-DEPLOYMENT RISK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>
                <a:solidFill>
                  <a:srgbClr val="94A3B8"/>
                </a:solidFill>
                <a:latin typeface="Segoe UI"/>
              </a:rPr>
              <a:t>05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F172A"/>
                </a:solidFill>
                <a:latin typeface="Segoe UI"/>
              </a:rPr>
              <a:t>Eliminating AI Hallucinations: Adversarial Critic Agent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Segoe UI"/>
              </a:rPr>
              <a:t>How DeploySafe achieves 100% evidence validity and 0.0% false positives on clean baselines.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65960"/>
            <a:ext cx="475488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>
                <a:solidFill>
                  <a:srgbClr val="0F172A"/>
                </a:solidFill>
                <a:latin typeface="Segoe UI"/>
              </a:rPr>
              <a:t>The 4-Point Physical Verification Gate</a:t>
            </a:r>
          </a:p>
          <a:p>
            <a:pPr algn="l">
              <a:spcAft>
                <a:spcPts val="10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Every finding emitted by an agent must survive strict physical inspection by the Critic Agent (critic_agent.py):</a:t>
            </a:r>
          </a:p>
          <a:p>
            <a:pPr algn="l">
              <a:spcAft>
                <a:spcPts val="800"/>
              </a:spcAft>
            </a:pPr>
            <a:r>
              <a:rPr sz="1100" b="1">
                <a:solidFill>
                  <a:srgbClr val="0F172A"/>
                </a:solidFill>
                <a:latin typeface="Segoe UI"/>
              </a:rPr>
              <a:t>1. File Existence: Does the file actually exist in the repository filesystem? If not -&gt; REJECT.</a:t>
            </a:r>
          </a:p>
          <a:p>
            <a:pPr algn="l">
              <a:spcAft>
                <a:spcPts val="800"/>
              </a:spcAft>
            </a:pPr>
            <a:r>
              <a:rPr sz="1100" b="1">
                <a:solidFill>
                  <a:srgbClr val="0F172A"/>
                </a:solidFill>
                <a:latin typeface="Segoe UI"/>
              </a:rPr>
              <a:t>2. Line Number Bounds: Is the reported line number valid within 1 to Total File Lines? If out-of-bounds -&gt; REJECT.</a:t>
            </a:r>
          </a:p>
          <a:p>
            <a:pPr algn="l">
              <a:spcAft>
                <a:spcPts val="800"/>
              </a:spcAft>
            </a:pPr>
            <a:r>
              <a:rPr sz="1100" b="1">
                <a:solidFill>
                  <a:srgbClr val="0F172A"/>
                </a:solidFill>
                <a:latin typeface="Segoe UI"/>
              </a:rPr>
              <a:t>3. Literal Code Match: Does the provided code snippet exist in the physical file at that location? If mismatched -&gt; REJECT.</a:t>
            </a:r>
          </a:p>
          <a:p>
            <a:pPr algn="l">
              <a:spcAft>
                <a:spcPts val="0"/>
              </a:spcAft>
            </a:pPr>
            <a:r>
              <a:rPr sz="1100" b="1">
                <a:solidFill>
                  <a:srgbClr val="0F172A"/>
                </a:solidFill>
                <a:latin typeface="Segoe UI"/>
              </a:rPr>
              <a:t>4. Evidence Grounding: Is the finding a real deployment hazard or trivial style nitpick? If nitpick -&gt; REJECT.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783080"/>
            <a:ext cx="5242255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92240" y="2011680"/>
            <a:ext cx="2286000" cy="274320"/>
          </a:xfrm>
          <a:prstGeom prst="round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16A34A"/>
                </a:solidFill>
                <a:latin typeface="Segoe UI"/>
              </a:rPr>
              <a:t>EMPIRICAL BENCHMARK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4693615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>
                <a:solidFill>
                  <a:srgbClr val="0F172A"/>
                </a:solidFill>
                <a:latin typeface="Segoe UI"/>
              </a:rPr>
              <a:t>Benchmark Results on Clean Baseline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Unvalidated Candidate Findings: 3 findings generated by raw LLM prompts.</a:t>
            </a:r>
          </a:p>
          <a:p>
            <a:pPr algn="l">
              <a:spcAft>
                <a:spcPts val="1200"/>
              </a:spcAft>
            </a:pPr>
            <a:r>
              <a:rPr sz="1100" b="0">
                <a:solidFill>
                  <a:srgbClr val="DC2626"/>
                </a:solidFill>
                <a:latin typeface="Segoe UI"/>
              </a:rPr>
              <a:t>• Critic Filter Verdict: All 3 ungrounded findings dropped due to snippet mismatch.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16A34A"/>
                </a:solidFill>
                <a:latin typeface="Segoe UI"/>
              </a:rPr>
              <a:t>• Final Verified Findings on Clean Baseline: 0</a:t>
            </a:r>
          </a:p>
          <a:p>
            <a:pPr algn="l">
              <a:spcAft>
                <a:spcPts val="1400"/>
              </a:spcAft>
            </a:pPr>
            <a:r>
              <a:rPr sz="1400" b="1">
                <a:solidFill>
                  <a:srgbClr val="16A34A"/>
                </a:solidFill>
                <a:latin typeface="Segoe UI"/>
              </a:rPr>
              <a:t>• Final False Positive Rate: 0.0%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Segoe UI"/>
              </a:rPr>
              <a:t>Key Takeaway: The Critic reflection step is what transforms DeploySafe from an untrusted toy into a robust production-grade safety gate.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3840480" cy="292608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563EB"/>
                </a:solidFill>
                <a:latin typeface="Segoe UI"/>
              </a:rPr>
              <a:t>DEPLOYSAFE — AGENTIC PRE-DEPLOYMENT RISK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>
                <a:solidFill>
                  <a:srgbClr val="94A3B8"/>
                </a:solidFill>
                <a:latin typeface="Segoe UI"/>
              </a:rPr>
              <a:t>06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F172A"/>
                </a:solidFill>
                <a:latin typeface="Segoe UI"/>
              </a:rPr>
              <a:t>Retrieval-Augmented Generation (RAG) Architecture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Segoe UI"/>
              </a:rPr>
              <a:t>ChromaDB vector store providing repository-level architectural context to domain agents.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342900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20" y="2011680"/>
            <a:ext cx="1645920" cy="256032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563EB"/>
                </a:solidFill>
                <a:latin typeface="Segoe UI"/>
              </a:rPr>
              <a:t>INGESTION &amp; EMBED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2971800" cy="3703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>
                <a:solidFill>
                  <a:srgbClr val="0F172A"/>
                </a:solidFill>
                <a:latin typeface="Segoe UI"/>
              </a:rPr>
              <a:t>Document Chunking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Chunks READMEs, architecture guides, runbooks, and API specs.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Primary Embedding: Google text-embedding-004 (768 dimensions).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Fallback: Local deterministic hashing embedding when API is offline.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9976" y="1783080"/>
            <a:ext cx="342900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608576" y="2011680"/>
            <a:ext cx="1645920" cy="256032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563EB"/>
                </a:solidFill>
                <a:latin typeface="Segoe UI"/>
              </a:rPr>
              <a:t>PERSISTENCE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8576" y="2377440"/>
            <a:ext cx="2971800" cy="3703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>
                <a:solidFill>
                  <a:srgbClr val="0F172A"/>
                </a:solidFill>
                <a:latin typeface="Segoe UI"/>
              </a:rPr>
              <a:t>ChromaDB Store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Isolated Chroma collection per repository ID.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Cosine similarity search with metadata filtering (file_path, type).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Query latency: &lt; 45ms per top-k retrieval.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8431" y="1783080"/>
            <a:ext cx="342900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257031" y="2011680"/>
            <a:ext cx="1645920" cy="256032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563EB"/>
                </a:solidFill>
                <a:latin typeface="Segoe UI"/>
              </a:rPr>
              <a:t>GROUNDING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57031" y="2377440"/>
            <a:ext cx="2971800" cy="3703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>
                <a:solidFill>
                  <a:srgbClr val="0F172A"/>
                </a:solidFill>
                <a:latin typeface="Segoe UI"/>
              </a:rPr>
              <a:t>Context Injection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Agents receive architectural context before analyzing diffs.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Example: Knowing that auth_service requires strict JWT validation according to docs/architecture.md.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Prevents false positives where unconventional code is intentional per architecture.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3840480" cy="292608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563EB"/>
                </a:solidFill>
                <a:latin typeface="Segoe UI"/>
              </a:rPr>
              <a:t>DEPLOYSAFE — AGENTIC PRE-DEPLOYMENT RISK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>
                <a:solidFill>
                  <a:srgbClr val="94A3B8"/>
                </a:solidFill>
                <a:latin typeface="Segoe UI"/>
              </a:rPr>
              <a:t>07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F172A"/>
                </a:solidFill>
                <a:latin typeface="Segoe UI"/>
              </a:rPr>
              <a:t>Mathematical Deterministic Risk Engine &amp; Gate Policy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Segoe UI"/>
              </a:rPr>
              <a:t>Transparent, calibrated scoring formula replacing black-box AI sentiment.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65960"/>
            <a:ext cx="47548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F172A"/>
                </a:solidFill>
                <a:latin typeface="Segoe UI"/>
              </a:rPr>
              <a:t>Deterministic Scoring Formula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Mathematical score calculated strictly from critic-validated findings: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0120" y="2880360"/>
            <a:ext cx="4754880" cy="1920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3017520"/>
            <a:ext cx="438912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1E3A8A"/>
                </a:solidFill>
                <a:latin typeface="Consolas"/>
              </a:rPr>
              <a:t>Risk Score = Min(100, Σ (Weight_i * Multiplier_i))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DC2626"/>
                </a:solidFill>
                <a:latin typeface="Consolas"/>
              </a:rPr>
              <a:t>• CRITICAL finding : 35 points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DC2626"/>
                </a:solidFill>
                <a:latin typeface="Consolas"/>
              </a:rPr>
              <a:t>• HIGH finding     : 25 points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475569"/>
                </a:solidFill>
                <a:latin typeface="Consolas"/>
              </a:rPr>
              <a:t>• MEDIUM finding   : 15 points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Consolas"/>
              </a:rPr>
              <a:t>• LOW finding      :  7 points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4983480"/>
            <a:ext cx="47548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Zero Black-Box Guesswork: The exact same findings always yield the exact same score across runs with 100% mathematical reproducibility.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783080"/>
            <a:ext cx="5242255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96596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172A"/>
                </a:solidFill>
                <a:latin typeface="Segoe UI"/>
              </a:rPr>
              <a:t>Automated Gate Thresholds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46520" y="2514600"/>
            <a:ext cx="4785055" cy="105156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2606040"/>
            <a:ext cx="4419295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A34A"/>
                </a:solidFill>
                <a:latin typeface="Segoe UI"/>
              </a:rPr>
              <a:t>ALLOWED (Deploy Permitted)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Score &lt; 40 and Critical = 0 and High = 0. Production promotion allowed.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46520" y="3703320"/>
            <a:ext cx="4785055" cy="105156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3794760"/>
            <a:ext cx="4419295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2563EB"/>
                </a:solidFill>
                <a:latin typeface="Segoe UI"/>
              </a:rPr>
              <a:t>REVIEW_REQUIRED (Manual Signoff Needed)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Score 40–69 or High &lt;= 2. Engineering lead manual review required.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46520" y="4892040"/>
            <a:ext cx="4785055" cy="105156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4983480"/>
            <a:ext cx="4419295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DC2626"/>
                </a:solidFill>
                <a:latin typeface="Segoe UI"/>
              </a:rPr>
              <a:t>BLOCKED (Deploy Halted)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Score &gt;= 70 or Critical &gt;= 1. Hard blocker in CI/CD pipeline.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3840480" cy="292608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563EB"/>
                </a:solidFill>
                <a:latin typeface="Segoe UI"/>
              </a:rPr>
              <a:t>DEPLOYSAFE — AGENTIC PRE-DEPLOYMENT RISK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>
                <a:solidFill>
                  <a:srgbClr val="94A3B8"/>
                </a:solidFill>
                <a:latin typeface="Segoe UI"/>
              </a:rPr>
              <a:t>08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F172A"/>
                </a:solidFill>
                <a:latin typeface="Segoe UI"/>
              </a:rPr>
              <a:t>DeploySafe V2 (Phase 7): Enterprise Reliability &amp; Intelligence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Segoe UI"/>
              </a:rPr>
              <a:t>Post-release enhancements: repository-level governance, blast radius, and historical analytics.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2523744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2011680"/>
            <a:ext cx="1645920" cy="256032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563EB"/>
                </a:solidFill>
                <a:latin typeface="Segoe UI"/>
              </a:rPr>
              <a:t>V2 GOVERNANCE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77440"/>
            <a:ext cx="2249424" cy="3749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0F172A"/>
                </a:solidFill>
                <a:latin typeface="Segoe UI"/>
              </a:rPr>
              <a:t>deploysafe.yml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• Version-controlled repository rules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• Custom risk thresholds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• Path exclusions &amp; gate overrides</a:t>
            </a:r>
          </a:p>
          <a:p>
            <a:pPr algn="l">
              <a:spcAft>
                <a:spcPts val="0"/>
              </a:spcAft>
            </a:pPr>
            <a:r>
              <a:rPr sz="1000" b="1">
                <a:solidFill>
                  <a:srgbClr val="16A34A"/>
                </a:solidFill>
                <a:latin typeface="Segoe UI"/>
              </a:rPr>
              <a:t>• Traversal &amp; injection defense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65575" y="1783080"/>
            <a:ext cx="2523744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02735" y="2011680"/>
            <a:ext cx="1645920" cy="256032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563EB"/>
                </a:solidFill>
                <a:latin typeface="Segoe UI"/>
              </a:rPr>
              <a:t>V2 BLAST RADIUS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2735" y="2377440"/>
            <a:ext cx="2249424" cy="3749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0F172A"/>
                </a:solidFill>
                <a:latin typeface="Segoe UI"/>
              </a:rPr>
              <a:t>Change Impact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• Physical blast radius mapping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• Affected layer classification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• Mandatory verification checks</a:t>
            </a:r>
          </a:p>
          <a:p>
            <a:pPr algn="l">
              <a:spcAft>
                <a:spcPts val="0"/>
              </a:spcAft>
            </a:pPr>
            <a:r>
              <a:rPr sz="1000" b="1">
                <a:solidFill>
                  <a:srgbClr val="16A34A"/>
                </a:solidFill>
                <a:latin typeface="Segoe UI"/>
              </a:rPr>
              <a:t>• Sub-10ms deterministic run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1" y="1783080"/>
            <a:ext cx="2523744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36792" y="2011680"/>
            <a:ext cx="1645920" cy="256032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563EB"/>
                </a:solidFill>
                <a:latin typeface="Segoe UI"/>
              </a:rPr>
              <a:t>V2 ANALYTICS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36792" y="2377440"/>
            <a:ext cx="2249424" cy="3749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0F172A"/>
                </a:solidFill>
                <a:latin typeface="Segoe UI"/>
              </a:rPr>
              <a:t>History Trends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• Multi-run timeline telemetry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• Recurring issue detection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• Gate pass/fail block rates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• Resolution velocity tracking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3688" y="1783080"/>
            <a:ext cx="2523744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070848" y="2011680"/>
            <a:ext cx="1645920" cy="256032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563EB"/>
                </a:solidFill>
                <a:latin typeface="Segoe UI"/>
              </a:rPr>
              <a:t>V2 REMEDIATION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8" y="2377440"/>
            <a:ext cx="2249424" cy="3749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0F172A"/>
                </a:solidFill>
                <a:latin typeface="Segoe UI"/>
              </a:rPr>
              <a:t>Patch Preview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• Standard unified diff format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• Non-destructive read-only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DC2626"/>
                </a:solidFill>
                <a:latin typeface="Segoe UI"/>
              </a:rPr>
              <a:t>• Human approval mandatory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• Zero autonomous commits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3840480" cy="292608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563EB"/>
                </a:solidFill>
                <a:latin typeface="Segoe UI"/>
              </a:rPr>
              <a:t>DEPLOYSAFE — AGENTIC PRE-DEPLOYMENT RISK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>
                <a:solidFill>
                  <a:srgbClr val="94A3B8"/>
                </a:solidFill>
                <a:latin typeface="Segoe UI"/>
              </a:rPr>
              <a:t>09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F172A"/>
                </a:solidFill>
                <a:latin typeface="Segoe UI"/>
              </a:rPr>
              <a:t>Human-in-the-Loop Safe Remediation: No Autonomous Writes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Segoe UI"/>
              </a:rPr>
              <a:t>Why DeploySafe strictly isolates AI suggestions from autonomous production commits.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65960"/>
            <a:ext cx="475488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>
                <a:solidFill>
                  <a:srgbClr val="0F172A"/>
                </a:solidFill>
                <a:latin typeface="Segoe UI"/>
              </a:rPr>
              <a:t>The Dangers of Autonomous Code Writes</a:t>
            </a:r>
          </a:p>
          <a:p>
            <a:pPr algn="l">
              <a:spcAft>
                <a:spcPts val="10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Allowing AI agents to commit code directly into deployment branches creates unacceptable enterprise risks: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DC2626"/>
                </a:solidFill>
                <a:latin typeface="Segoe UI"/>
              </a:rPr>
              <a:t>• Supply Chain Vulnerability: Malicious pull requests or prompt injections could trick agents into injecting backdoors.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Semantic Regressions: AI fixes may resolve a lint or type error but subtly break runtime business logic.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Developer Disempowerment: Engineers must retain ownership and accountability over all code pushed to production.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783080"/>
            <a:ext cx="5242255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46520" y="2011680"/>
            <a:ext cx="2286000" cy="274320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563EB"/>
                </a:solidFill>
                <a:latin typeface="Segoe UI"/>
              </a:rPr>
              <a:t>DEPLOYSAFE PROTOCOL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423160"/>
            <a:ext cx="4785055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>
                <a:solidFill>
                  <a:srgbClr val="0F172A"/>
                </a:solidFill>
                <a:latin typeface="Segoe UI"/>
              </a:rPr>
              <a:t>Actionable Unified Diff Previews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1. Standard Unified Diff Output: Formatted exactly like git diff with line offsets (@@ -x,y +a,b @@).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2. Syntax Colored UI: Additions rendered in green, removals in red, right inside the web findings modal.</a:t>
            </a:r>
          </a:p>
          <a:p>
            <a:pPr algn="l">
              <a:spcAft>
                <a:spcPts val="800"/>
              </a:spcAft>
            </a:pPr>
            <a:r>
              <a:rPr sz="1100" b="1">
                <a:solidFill>
                  <a:srgbClr val="0F172A"/>
                </a:solidFill>
                <a:latin typeface="Segoe UI"/>
              </a:rPr>
              <a:t>3. Explicit Safety Disclaimer: Clearly labeled with amber banner requiring developer testing prior to merge.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16A34A"/>
                </a:solidFill>
                <a:latin typeface="Segoe UI"/>
              </a:rPr>
              <a:t>4. One-Click Copy: Engineers copy the patch, test locally, and commit with human provenance.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3840480" cy="292608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563EB"/>
                </a:solidFill>
                <a:latin typeface="Segoe UI"/>
              </a:rPr>
              <a:t>DEPLOYSAFE — AGENTIC PRE-DEPLOYMENT RISK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>
                <a:solidFill>
                  <a:srgbClr val="94A3B8"/>
                </a:solidFill>
                <a:latin typeface="Segoe UI"/>
              </a:rPr>
              <a:t>10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F172A"/>
                </a:solidFill>
                <a:latin typeface="Segoe UI"/>
              </a:rPr>
              <a:t>Empirical Evaluation: Zero False Positives &amp; Verified Metrics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Segoe UI"/>
              </a:rPr>
              <a:t>Rigorous benchmarking across 5 test repositories and 98 automated unit/integration tests.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2523744" cy="137160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20240"/>
            <a:ext cx="2249424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16A34A"/>
                </a:solidFill>
                <a:latin typeface="Segoe UI"/>
              </a:rPr>
              <a:t>FALSE POSITIVE RATE</a:t>
            </a:r>
          </a:p>
          <a:p>
            <a:pPr algn="l">
              <a:spcAft>
                <a:spcPts val="200"/>
              </a:spcAft>
            </a:pPr>
            <a:r>
              <a:rPr sz="2400" b="1">
                <a:solidFill>
                  <a:srgbClr val="16A34A"/>
                </a:solidFill>
                <a:latin typeface="Segoe UI"/>
              </a:rPr>
              <a:t>0.0%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Zero phantom findings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65575" y="1783080"/>
            <a:ext cx="2523744" cy="137160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02735" y="1920240"/>
            <a:ext cx="2249424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16A34A"/>
                </a:solidFill>
                <a:latin typeface="Segoe UI"/>
              </a:rPr>
              <a:t>EVIDENCE VALIDITY</a:t>
            </a:r>
          </a:p>
          <a:p>
            <a:pPr algn="l">
              <a:spcAft>
                <a:spcPts val="200"/>
              </a:spcAft>
            </a:pPr>
            <a:r>
              <a:rPr sz="2400" b="1">
                <a:solidFill>
                  <a:srgbClr val="16A34A"/>
                </a:solidFill>
                <a:latin typeface="Segoe UI"/>
              </a:rPr>
              <a:t>100.0%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All grounded in physical files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1" y="1783080"/>
            <a:ext cx="2523744" cy="13716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36792" y="1920240"/>
            <a:ext cx="2249424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2563EB"/>
                </a:solidFill>
                <a:latin typeface="Segoe UI"/>
              </a:rPr>
              <a:t>DETECTION RECALL</a:t>
            </a:r>
          </a:p>
          <a:p>
            <a:pPr algn="l">
              <a:spcAft>
                <a:spcPts val="200"/>
              </a:spcAft>
            </a:pPr>
            <a:r>
              <a:rPr sz="2400" b="1">
                <a:solidFill>
                  <a:srgbClr val="2563EB"/>
                </a:solidFill>
                <a:latin typeface="Segoe UI"/>
              </a:rPr>
              <a:t>80.0%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4/5 target cases detected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33688" y="1783080"/>
            <a:ext cx="2523744" cy="137160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70848" y="1920240"/>
            <a:ext cx="2249424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16A34A"/>
                </a:solidFill>
                <a:latin typeface="Segoe UI"/>
              </a:rPr>
              <a:t>REGRESSION SUITE</a:t>
            </a:r>
          </a:p>
          <a:p>
            <a:pPr algn="l">
              <a:spcAft>
                <a:spcPts val="200"/>
              </a:spcAft>
            </a:pPr>
            <a:r>
              <a:rPr sz="2400" b="1">
                <a:solidFill>
                  <a:srgbClr val="16A34A"/>
                </a:solidFill>
                <a:latin typeface="Segoe UI"/>
              </a:rPr>
              <a:t>98 / 98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100% pass in 67.89s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337560"/>
            <a:ext cx="10728655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474720"/>
            <a:ext cx="10241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Evaluation Benchmark Breakdown Across Physical Test Repositories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0120" y="3886200"/>
            <a:ext cx="10271455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395935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EVAL-01: Config Hazard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60" y="3959352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Unpinned Docker tag &amp; debug mode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79" y="395935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2563EB"/>
                </a:solidFill>
                <a:latin typeface="Segoe UI"/>
              </a:rPr>
              <a:t>CRITICAL / HIGH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395935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6A34A"/>
                </a:solidFill>
                <a:latin typeface="Segoe UI"/>
              </a:rPr>
              <a:t>PASS (100% Detected)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" y="4325112"/>
            <a:ext cx="10271455" cy="38404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4398264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EVAL-02: Secret Exposure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23360" y="4398264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AWS credentials &amp; database password leak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4398264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2563EB"/>
                </a:solidFill>
                <a:latin typeface="Segoe UI"/>
              </a:rPr>
              <a:t>CRITICAL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4398264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6A34A"/>
                </a:solidFill>
                <a:latin typeface="Segoe UI"/>
              </a:rPr>
              <a:t>PASS (Scrubbed &amp; Flagged)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60120" y="4764024"/>
            <a:ext cx="10271455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97280" y="4837176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EVAL-03: Dependency CVE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23360" y="483717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Outdated PyYAML with published CVEs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79" y="4837176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2563EB"/>
                </a:solidFill>
                <a:latin typeface="Segoe UI"/>
              </a:rPr>
              <a:t>HIGH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0" y="4837176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6A34A"/>
                </a:solidFill>
                <a:latin typeface="Segoe UI"/>
              </a:rPr>
              <a:t>PASS (Advisory Matched)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60120" y="5202936"/>
            <a:ext cx="10271455" cy="38404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97280" y="5276088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EVAL-04: Test Coverage Deficit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23360" y="527608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Untested financial / auth payment logic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79" y="5276088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2563EB"/>
                </a:solidFill>
                <a:latin typeface="Segoe UI"/>
              </a:rPr>
              <a:t>MEDIUM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5276088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6A34A"/>
                </a:solidFill>
                <a:latin typeface="Segoe UI"/>
              </a:rPr>
              <a:t>PASS (Missing Test Flagged)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60120" y="5641848"/>
            <a:ext cx="10271455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97280" y="571500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EVAL-05: Clean Baseline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23360" y="57150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Segoe UI"/>
              </a:rPr>
              <a:t>Production-hardened clean repository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98079" y="571500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2563EB"/>
                </a:solidFill>
                <a:latin typeface="Segoe UI"/>
              </a:rPr>
              <a:t>NONE (Clean)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0" y="571500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6A34A"/>
                </a:solidFill>
                <a:latin typeface="Segoe UI"/>
              </a:rPr>
              <a:t>PASS (0.0% False Positives)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3840480" cy="292608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563EB"/>
                </a:solidFill>
                <a:latin typeface="Segoe UI"/>
              </a:rPr>
              <a:t>DEPLOYSAFE — AGENTIC PRE-DEPLOYMENT RISK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>
                <a:solidFill>
                  <a:srgbClr val="94A3B8"/>
                </a:solidFill>
                <a:latin typeface="Segoe UI"/>
              </a:rPr>
              <a:t>11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F172A"/>
                </a:solidFill>
                <a:latin typeface="Segoe UI"/>
              </a:rPr>
              <a:t>Production System Implementation &amp; Developer Experience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Segoe UI"/>
              </a:rPr>
              <a:t>Clean full-stack delivery: FastAPI, React 18 / Vite SPA, CLI, and GitHub Action.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342900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20" y="2011680"/>
            <a:ext cx="1645920" cy="256032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563EB"/>
                </a:solidFill>
                <a:latin typeface="Segoe UI"/>
              </a:rPr>
              <a:t>WEB DASHBOARD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2971800" cy="3703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F172A"/>
                </a:solidFill>
                <a:latin typeface="Segoe UI"/>
              </a:rPr>
              <a:t>React 18 + Tailwind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Real-time SSE streaming for live agent step progress.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Interactive Findings filter by severity &amp; category.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Run Fingerprint comparison diff view.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V2 Change Impact &amp; Patch Preview modals.</a:t>
            </a:r>
          </a:p>
          <a:p>
            <a:pPr algn="l">
              <a:spcAft>
                <a:spcPts val="0"/>
              </a:spcAft>
            </a:pPr>
            <a:r>
              <a:rPr sz="1100" b="1">
                <a:solidFill>
                  <a:srgbClr val="16A34A"/>
                </a:solidFill>
                <a:latin typeface="Segoe UI"/>
              </a:rPr>
              <a:t>• 0 TypeScript errors; bundle built in 1m 41s.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9976" y="1783080"/>
            <a:ext cx="342900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608576" y="2011680"/>
            <a:ext cx="1645920" cy="256032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563EB"/>
                </a:solidFill>
                <a:latin typeface="Segoe UI"/>
              </a:rPr>
              <a:t>BACKEND API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8576" y="2377440"/>
            <a:ext cx="2971800" cy="3703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F172A"/>
                </a:solidFill>
                <a:latin typeface="Segoe UI"/>
              </a:rPr>
              <a:t>FastAPI Service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Asynchronous LangGraph pipeline execution.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Ingestion of local repositories and Git clones.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REST endpoints for runs, findings, impact, analytics.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Sub-second response times for cached reports.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8431" y="1783080"/>
            <a:ext cx="342900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257031" y="2011680"/>
            <a:ext cx="1645920" cy="256032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563EB"/>
                </a:solidFill>
                <a:latin typeface="Segoe UI"/>
              </a:rPr>
              <a:t>CI/CD INTEGRATION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57031" y="2377440"/>
            <a:ext cx="2971800" cy="3703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F172A"/>
                </a:solidFill>
                <a:latin typeface="Segoe UI"/>
              </a:rPr>
              <a:t>CLI &amp; GitHub Action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deploysafe CLI command-line tool.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Emits ANSI colored summaries and exit codes (0 pass, 1 blocked).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Seamless GitHub Action integration for pull request gating.</a:t>
            </a:r>
          </a:p>
          <a:p>
            <a:pPr algn="l">
              <a:spcAft>
                <a:spcPts val="0"/>
              </a:spcAft>
            </a:pPr>
            <a:r>
              <a:rPr sz="1100" b="1">
                <a:solidFill>
                  <a:srgbClr val="0F172A"/>
                </a:solidFill>
                <a:latin typeface="Segoe UI"/>
              </a:rPr>
              <a:t>• Directly blocks unsafe PR merges.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3840480" cy="292608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563EB"/>
                </a:solidFill>
                <a:latin typeface="Segoe UI"/>
              </a:rPr>
              <a:t>DEPLOYSAFE — AGENTIC PRE-DEPLOYMENT RISK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>
                <a:solidFill>
                  <a:srgbClr val="94A3B8"/>
                </a:solidFill>
                <a:latin typeface="Segoe UI"/>
              </a:rPr>
              <a:t>12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F172A"/>
                </a:solidFill>
                <a:latin typeface="Segoe UI"/>
              </a:rPr>
              <a:t>Viva Defense Summary &amp; Project Conclusion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Segoe UI"/>
              </a:rPr>
              <a:t>Transforming pre-deployment safety validation through grounded, verifiable Agentic AI.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65960"/>
            <a:ext cx="475488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>
                <a:solidFill>
                  <a:srgbClr val="0F172A"/>
                </a:solidFill>
                <a:latin typeface="Segoe UI"/>
              </a:rPr>
              <a:t>Core Academic &amp; Technical Contributions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1. Cross-Boundary Seam Detection: Proved that multi-agent synthesis detects configuration and infrastructure hazards that bypass traditional CI test suites.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2. Grounded Reflection Architecture: Demonstrated that adversarial Critic reflection completely eliminates false positives (0.0% on clean baseline).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3. Deterministic Safety Gating: Replaced ungrounded sentiment with reproducible 0–100 mathematical risk scoring and automated gate policies.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4. V2 Enterprise Capabilities: Added repo governance (deploysafe.yml), deterministic blast radius (8.4ms), and human-approved patch diffs.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783080"/>
            <a:ext cx="5242255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46520" y="2011680"/>
            <a:ext cx="2286000" cy="274320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563EB"/>
                </a:solidFill>
                <a:latin typeface="Segoe UI"/>
              </a:rPr>
              <a:t>PROJECT DELIVERABLES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423160"/>
            <a:ext cx="4785055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>
                <a:solidFill>
                  <a:srgbClr val="0F172A"/>
                </a:solidFill>
                <a:latin typeface="Segoe UI"/>
              </a:rPr>
              <a:t>Project Completion Summary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0F172A"/>
                </a:solidFill>
                <a:latin typeface="Segoe UI"/>
              </a:rPr>
              <a:t>• Mentors: Sincere gratitude to Mr. Naveen Singla &amp; Dr. Kiran Khatter for architectural direction and guidance.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Versioning: v1.0.0 Final Academic Release preserved under Git Tag v1.0.0-final-submission.</a:t>
            </a:r>
          </a:p>
          <a:p>
            <a:pPr algn="l">
              <a:spcAft>
                <a:spcPts val="800"/>
              </a:spcAft>
            </a:pPr>
            <a:r>
              <a:rPr sz="1100" b="1">
                <a:solidFill>
                  <a:srgbClr val="16A34A"/>
                </a:solidFill>
                <a:latin typeface="Segoe UI"/>
              </a:rPr>
              <a:t>• V2 Status: Phase 7 Completed with 98/98 tests passing.</a:t>
            </a:r>
          </a:p>
          <a:p>
            <a:pPr algn="l">
              <a:spcAft>
                <a:spcPts val="14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• Documentation: Complete Viva Guide, Demo Scripts, Architecture Docs, and Contribution Matrix verified.</a:t>
            </a:r>
          </a:p>
          <a:p>
            <a:pPr algn="l">
              <a:spcAft>
                <a:spcPts val="0"/>
              </a:spcAft>
            </a:pPr>
            <a:r>
              <a:rPr sz="1300" b="1">
                <a:solidFill>
                  <a:srgbClr val="2563EB"/>
                </a:solidFill>
                <a:latin typeface="Segoe UI"/>
              </a:rPr>
              <a:t>Thank you. Questions &amp; Technical Demonstration Welcome.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