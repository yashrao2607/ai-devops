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9669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PROJECT FINAL DEFENSE &amp; V2 PLATFORM RELEASE</a:t>
            </a:r>
          </a:p>
          <a:p>
            <a:pPr algn="l">
              <a:spcAft>
                <a:spcPts val="800"/>
              </a:spcAft>
            </a:pPr>
            <a:r>
              <a:rPr sz="2800" b="1">
                <a:solidFill>
                  <a:srgbClr val="0F172A"/>
                </a:solidFill>
                <a:latin typeface="Segoe UI"/>
              </a:rPr>
              <a:t>DeploySafe: Agentic AI Pre-Deployment Risk Platform</a:t>
            </a:r>
          </a:p>
          <a:p>
            <a:pPr algn="l">
              <a:spcAft>
                <a:spcPts val="1800"/>
              </a:spcAft>
            </a:pPr>
            <a:r>
              <a:rPr sz="1400" b="0">
                <a:solidFill>
                  <a:srgbClr val="334155"/>
                </a:solidFill>
                <a:latin typeface="Segoe UI"/>
              </a:rPr>
              <a:t>An intelligent safety shield that catches hidden production outages before you deploy.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Segoe UI"/>
              </a:rPr>
              <a:t>Eliminates deployment blind spots between Code, Docker, Cloud Configurations, and Dependencies using grounded, zero-hallucination multi-agent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00600"/>
            <a:ext cx="3429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983480"/>
            <a:ext cx="2971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64748B"/>
                </a:solidFill>
                <a:latin typeface="Segoe UI"/>
              </a:rPr>
              <a:t>FACULTY MENTORS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Mr. Naveen Singla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334155"/>
                </a:solidFill>
                <a:latin typeface="Segoe UI"/>
              </a:rPr>
              <a:t>&amp; Dr. Kiran Khatter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4800600"/>
            <a:ext cx="3429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4983480"/>
            <a:ext cx="2971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64748B"/>
                </a:solidFill>
                <a:latin typeface="Segoe UI"/>
              </a:rPr>
              <a:t>CORE FOUNDATION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LangGraph + ChromaDB RAG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Segoe UI"/>
              </a:rPr>
              <a:t>FastAPI Backend + React 18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4800600"/>
            <a:ext cx="3429000" cy="14630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2" y="4983480"/>
            <a:ext cx="2971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6A34A"/>
                </a:solidFill>
                <a:latin typeface="Segoe UI"/>
              </a:rPr>
              <a:t>SYSTEM STATUS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16A34A"/>
                </a:solidFill>
                <a:latin typeface="Segoe UI"/>
              </a:rPr>
              <a:t>V2.0 Final Release: READY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Segoe UI"/>
              </a:rPr>
              <a:t>98/98 Tests Passing • 0 Regressions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02336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DEPLOYSAFE — AGENTIC PRE-DEPLOYMENT RISK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02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F172A"/>
                </a:solidFill>
                <a:latin typeface="Segoe UI"/>
              </a:rPr>
              <a:t>The Pre-Deployment Blind Spot: Why Good Code Breaks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Segoe UI"/>
              </a:rPr>
              <a:t>Over 65% of catastrophic production outages pass green through standard unit &amp; lint tests.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2011680"/>
            <a:ext cx="1645920" cy="256032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DC2626"/>
                </a:solidFill>
                <a:latin typeface="Segoe UI"/>
              </a:rPr>
              <a:t>SILOED RUNNERS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297180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Tests Run in Isolation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Unit tests check small functions in isolation, but miss the big picture.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Linters check code style and semicolons, but cannot detect architectural drift.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A pull request can have 100% test pass rate while silently breaking Docker networking or database credentials.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78308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08576" y="2011680"/>
            <a:ext cx="1828800" cy="256032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DC2626"/>
                </a:solidFill>
                <a:latin typeface="Segoe UI"/>
              </a:rPr>
              <a:t>SEAM MISMATCHES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377440"/>
            <a:ext cx="297180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Breakages at the Seams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Config Mismatches: Code consumes DATABASE_URL, but Docker defines DB_URL.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Container Drift: Unpinned tags (:latest) update upstream and crash deployments.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Security Leaks: Hardcoded API keys and unencrypted credentials slipping into git.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1" y="178308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57031" y="2011680"/>
            <a:ext cx="1828800" cy="256032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DC2626"/>
                </a:solidFill>
                <a:latin typeface="Segoe UI"/>
              </a:rPr>
              <a:t>LLM HALLUCINATIONS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377440"/>
            <a:ext cx="297180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Why Raw AI Fails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Generic LLMs hallucinate non-existent files and invent fake line numbers.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Single prompts lack real code grounding and mathematical scoring.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Developers get alert fatigue and immediately reject untrusted AI tools.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02336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DEPLOYSAFE — AGENTIC PRE-DEPLOYMENT RISK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03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F172A"/>
                </a:solidFill>
                <a:latin typeface="Segoe UI"/>
              </a:rPr>
              <a:t>DeploySafe Solution: The Multi-Agent Safety Flow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Segoe UI"/>
              </a:rPr>
              <a:t>Dynamic planning, parallel domain agents, adversarial reflection, and deterministic safety gates.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523744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011680"/>
            <a:ext cx="128016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2157984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Dynamic Planning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Reads git commit diffs &amp; file trees.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Scrubs secrets before sending to AI.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Planner activates only the agents needed for the modified files.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Safe limits: 2,000 files &amp; 200MB.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5" y="1783080"/>
            <a:ext cx="2523744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48456" y="2011680"/>
            <a:ext cx="128016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STAGE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8456" y="2377440"/>
            <a:ext cx="2157984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Parallel Agents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• Code Analysis Agent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• Config &amp; Infra Agent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• Dependency &amp; CVE Agent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• Test Path Coverage Agent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• Security &amp; IAM Agent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ChromaDB Vector RAG context injection.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1" y="1783080"/>
            <a:ext cx="2523744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82512" y="2011680"/>
            <a:ext cx="1645920" cy="256032"/>
          </a:xfrm>
          <a:prstGeom prst="round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7E22CE"/>
                </a:solidFill>
                <a:latin typeface="Segoe UI"/>
              </a:rPr>
              <a:t>STAGE 3 (CORE)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377440"/>
            <a:ext cx="2157984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Critic Reflection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Adversarial audit of every candidate finding.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Physical File Existence check.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Line Number Range check.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Literal Code Snippet match.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16A34A"/>
                </a:solidFill>
                <a:latin typeface="Segoe UI"/>
              </a:rPr>
              <a:t>• Drops hallucinations to 0.0% false positives.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3688" y="1783080"/>
            <a:ext cx="2523744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16567" y="2011680"/>
            <a:ext cx="128016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STAGE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6567" y="2377440"/>
            <a:ext cx="2157984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Gating &amp; Output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Deterministic 0–100 mathematical risk score.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Automated Gate: ALLOWED, REVIEW_REQUIRED, BLOCKED.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Fingerprint Diff engine.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Emits CLI exit codes &amp; CI status.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02336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DEPLOYSAFE — AGENTIC PRE-DEPLOYMENT RISK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04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F172A"/>
                </a:solidFill>
                <a:latin typeface="Segoe UI"/>
              </a:rPr>
              <a:t>Meet the 5 Specialized Domain Agents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Segoe UI"/>
              </a:rPr>
              <a:t>Each agent specializes in one critical aspect of your software repository.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306324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Segoe UI"/>
              </a:rPr>
              <a:t>1. Code Quality Agent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Catches silent error swallowing, resource leaks, and unhandled async crashes.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Analyzes pull request changes against the full file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78308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1965960"/>
            <a:ext cx="306324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Segoe UI"/>
              </a:rPr>
              <a:t>2. Config &amp; Docker Agent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Scans Dockerfiles, compose configs, and Kubernetes manifests.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Catches unpinned container tags (:latest), root users, and debug flags.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1" y="178308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1" y="1965960"/>
            <a:ext cx="306324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Segoe UI"/>
              </a:rPr>
              <a:t>3. Dependency &amp; CVE Agent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Inspects package.json, requirements.txt, and lockfiles.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Flags known CVE vulnerabilities and broken deprecated libraries.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69080"/>
            <a:ext cx="5248656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4882896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Segoe UI"/>
              </a:rPr>
              <a:t>4. Test Coverage Agent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Identifies untested critical paths modified in pull requests (auth, payments, billing).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Warns developers before risky modified code ships without regression tests.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4069080"/>
            <a:ext cx="5248656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4251960"/>
            <a:ext cx="4882896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Segoe UI"/>
              </a:rPr>
              <a:t>5. Security &amp; Secrets Agent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Detects leaked AWS/GCP tokens, private keys, database passwords, and JWT keys.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Identifies insecure wildcard CORS origins, SQL injection hazards, and open endpoints.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02336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DEPLOYSAFE — AGENTIC PRE-DEPLOYMENT RISK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05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F172A"/>
                </a:solidFill>
                <a:latin typeface="Segoe UI"/>
              </a:rPr>
              <a:t>Zero Hallucinations: The Critic Reflection Engine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Segoe UI"/>
              </a:rPr>
              <a:t>How DeploySafe achieves 100% evidence validity and 0.0% false positives on clean codebases.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47548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The 4-Point Physical Verification Gate</a:t>
            </a:r>
          </a:p>
          <a:p>
            <a:pPr algn="l">
              <a:spcAft>
                <a:spcPts val="10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Every finding must survive strict physical inspection before reaching developers: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1. File Existence: Does the file really exist in the repository? If not -&gt; REJECT.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2. Line Number Bounds: Is the reported line number valid on disk? If out of bounds -&gt; REJECT.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3. Literal Code Match: Does the code snippet match the physical text? If mismatch -&gt; REJECT.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4. Evidence Grounding: Is this a genuine deployment hazard or trivial style nit? If nit -&gt; REJECT.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524225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2011680"/>
            <a:ext cx="2286000" cy="27432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16A34A"/>
                </a:solidFill>
                <a:latin typeface="Segoe UI"/>
              </a:rPr>
              <a:t>EMPIRICAL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693615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Proven on Clean Benchmark Repository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Unvalidated AI Candidates: 3 phantom findings generated by raw LLM prompts.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DC2626"/>
                </a:solidFill>
                <a:latin typeface="Segoe UI"/>
              </a:rPr>
              <a:t>• Critic Filter Verdict: All 3 dropped due to code mismatch.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6A34A"/>
                </a:solidFill>
                <a:latin typeface="Segoe UI"/>
              </a:rPr>
              <a:t>• Final Verified Findings on Clean Baseline: 0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16A34A"/>
                </a:solidFill>
                <a:latin typeface="Segoe UI"/>
              </a:rPr>
              <a:t>• Final False Positive Rate: 0.0%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Key Takeaway: The Critic reflection step is what transforms DeploySafe from an untrusted toy into a trusted enterprise safety gate.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02336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DEPLOYSAFE — AGENTIC PRE-DEPLOYMENT RISK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06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F172A"/>
                </a:solidFill>
                <a:latin typeface="Segoe UI"/>
              </a:rPr>
              <a:t>Repository Context: Vector RAG Knowledge Base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Segoe UI"/>
              </a:rPr>
              <a:t>ChromaDB vector store providing architectural context so AI never misinterprets intentional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2011680"/>
            <a:ext cx="164592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KNOWLEDGE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297180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Smart Document Ingestion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Indexes READMEs, architecture docs, runbooks, and API specs.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Primary Embedding: Google text-embedding-004 (768 dimensions).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Fallback: Local deterministic hashing when API is offline.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78308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08576" y="2011680"/>
            <a:ext cx="164592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FAST 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377440"/>
            <a:ext cx="297180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Isolated ChromaDB Store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Isolated Chroma collection per repository ID.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Cosine similarity search with metadata filtering.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Blazing fast retrieval: &lt; 45ms per query.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1" y="178308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57031" y="2011680"/>
            <a:ext cx="164592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ARCHITECTURAL 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377440"/>
            <a:ext cx="297180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Context-Aware Agents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Agents check architectural guidelines before flagging code.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Understands custom microservice conventions and project patterns.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Prevents false positives where unconventional code is intentional.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02336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DEPLOYSAFE — AGENTIC PRE-DEPLOYMENT RISK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07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F172A"/>
                </a:solidFill>
                <a:latin typeface="Segoe UI"/>
              </a:rPr>
              <a:t>Mathematical Deterministic Risk Engine &amp; Gate Policy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Segoe UI"/>
              </a:rPr>
              <a:t>Transparent, calibrated scoring formula replacing black-box AI sentiment.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Deterministic Scoring Formula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Mathematical score calculated strictly from critic-validated findings: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880360"/>
            <a:ext cx="4754880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017520"/>
            <a:ext cx="4389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E3A8A"/>
                </a:solidFill>
                <a:latin typeface="Consolas"/>
              </a:rPr>
              <a:t>Risk Score = Min(100, Σ (Weight_i * Multiplier_i))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Consolas"/>
              </a:rPr>
              <a:t>• CRITICAL finding : 35 points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Consolas"/>
              </a:rPr>
              <a:t>• HIGH finding     : 25 points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334155"/>
                </a:solidFill>
                <a:latin typeface="Consolas"/>
              </a:rPr>
              <a:t>• MEDIUM finding   : 15 points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Consolas"/>
              </a:rPr>
              <a:t>• LOW finding      :  7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98348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Zero Black-Box Guesswork: The exact same findings always yield the exact same score across runs with 100% mathematical reproducibility.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83080"/>
            <a:ext cx="524225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659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Automated Gate Thresholds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514600"/>
            <a:ext cx="4785055" cy="10515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606040"/>
            <a:ext cx="44192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A34A"/>
                </a:solidFill>
                <a:latin typeface="Segoe UI"/>
              </a:rPr>
              <a:t>ALLOWED (Deploy Permitted)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334155"/>
                </a:solidFill>
                <a:latin typeface="Segoe UI"/>
              </a:rPr>
              <a:t>Score &lt; 40 and Critical = 0 and High = 0. Production promotion allowed.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3703320"/>
            <a:ext cx="4785055" cy="1051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794760"/>
            <a:ext cx="44192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REVIEW_REQUIRED (Manual Signoff Needed)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334155"/>
                </a:solidFill>
                <a:latin typeface="Segoe UI"/>
              </a:rPr>
              <a:t>Score 40–69 or High &lt;= 2. Engineering lead manual review required.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4892040"/>
            <a:ext cx="4785055" cy="10515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4983480"/>
            <a:ext cx="44192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DC2626"/>
                </a:solidFill>
                <a:latin typeface="Segoe UI"/>
              </a:rPr>
              <a:t>BLOCKED (Deploy Halted)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334155"/>
                </a:solidFill>
                <a:latin typeface="Segoe UI"/>
              </a:rPr>
              <a:t>Score &gt;= 70 or Critical &gt;= 1. Hard blocker in CI/CD pipeline.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02336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DEPLOYSAFE — AGENTIC PRE-DEPLOYMENT RISK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08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F172A"/>
                </a:solidFill>
                <a:latin typeface="Segoe UI"/>
              </a:rPr>
              <a:t>DeploySafe V2 (Phase 7): Enterprise Reliability &amp; Intelligence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Segoe UI"/>
              </a:rPr>
              <a:t>Post-release enhancements: repository-level governance, blast radius, and historical analytics.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523744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011680"/>
            <a:ext cx="164592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V2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2249424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deploysafe.yml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334155"/>
                </a:solidFill>
                <a:latin typeface="Segoe UI"/>
              </a:rPr>
              <a:t>• Version-controlled repo rules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334155"/>
                </a:solidFill>
                <a:latin typeface="Segoe UI"/>
              </a:rPr>
              <a:t>• Custom risk thresholds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334155"/>
                </a:solidFill>
                <a:latin typeface="Segoe UI"/>
              </a:rPr>
              <a:t>• Path exclusions &amp; gate overrides</a:t>
            </a:r>
          </a:p>
          <a:p>
            <a:pPr algn="l">
              <a:spcAft>
                <a:spcPts val="0"/>
              </a:spcAft>
            </a:pPr>
            <a:r>
              <a:rPr sz="1000" b="1">
                <a:solidFill>
                  <a:srgbClr val="16A34A"/>
                </a:solidFill>
                <a:latin typeface="Segoe UI"/>
              </a:rPr>
              <a:t>• Traversal &amp; injection defense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5" y="1783080"/>
            <a:ext cx="2523744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02735" y="2011680"/>
            <a:ext cx="164592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V2 BLAST RADIUS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2735" y="2377440"/>
            <a:ext cx="2249424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Change Impact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334155"/>
                </a:solidFill>
                <a:latin typeface="Segoe UI"/>
              </a:rPr>
              <a:t>• Physical blast radius mapping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334155"/>
                </a:solidFill>
                <a:latin typeface="Segoe UI"/>
              </a:rPr>
              <a:t>• Affected layer classification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334155"/>
                </a:solidFill>
                <a:latin typeface="Segoe UI"/>
              </a:rPr>
              <a:t>• Mandatory verification checks</a:t>
            </a:r>
          </a:p>
          <a:p>
            <a:pPr algn="l">
              <a:spcAft>
                <a:spcPts val="0"/>
              </a:spcAft>
            </a:pPr>
            <a:r>
              <a:rPr sz="1000" b="1">
                <a:solidFill>
                  <a:srgbClr val="16A34A"/>
                </a:solidFill>
                <a:latin typeface="Segoe UI"/>
              </a:rPr>
              <a:t>• Sub-10ms deterministic 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1" y="1783080"/>
            <a:ext cx="2523744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36792" y="2011680"/>
            <a:ext cx="164592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V2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2377440"/>
            <a:ext cx="2249424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History Trends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334155"/>
                </a:solidFill>
                <a:latin typeface="Segoe UI"/>
              </a:rPr>
              <a:t>• Multi-run timeline telemetry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334155"/>
                </a:solidFill>
                <a:latin typeface="Segoe UI"/>
              </a:rPr>
              <a:t>• Recurring issue detection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334155"/>
                </a:solidFill>
                <a:latin typeface="Segoe UI"/>
              </a:rPr>
              <a:t>• Gate pass/fail block rates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334155"/>
                </a:solidFill>
                <a:latin typeface="Segoe UI"/>
              </a:rPr>
              <a:t>• Resolution velocity tracking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3688" y="1783080"/>
            <a:ext cx="2523744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70848" y="2011680"/>
            <a:ext cx="164592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V2 REMEDIATION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8" y="2377440"/>
            <a:ext cx="2249424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Patch Preview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334155"/>
                </a:solidFill>
                <a:latin typeface="Segoe UI"/>
              </a:rPr>
              <a:t>• Standard unified diff format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334155"/>
                </a:solidFill>
                <a:latin typeface="Segoe UI"/>
              </a:rPr>
              <a:t>• Non-destructive read-only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DC2626"/>
                </a:solidFill>
                <a:latin typeface="Segoe UI"/>
              </a:rPr>
              <a:t>• Human approval mandatory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334155"/>
                </a:solidFill>
                <a:latin typeface="Segoe UI"/>
              </a:rPr>
              <a:t>• Zero autonomous commits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02336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DEPLOYSAFE — AGENTIC PRE-DEPLOYMENT RISK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09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F172A"/>
                </a:solidFill>
                <a:latin typeface="Segoe UI"/>
              </a:rPr>
              <a:t>Human-in-the-Loop Safe Remediation: No Autonomous Writes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Segoe UI"/>
              </a:rPr>
              <a:t>Why DeploySafe strictly isolates AI suggestions from autonomous production commits.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47548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The Dangers of Autonomous Code Writes</a:t>
            </a:r>
          </a:p>
          <a:p>
            <a:pPr algn="l">
              <a:spcAft>
                <a:spcPts val="10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Allowing AI agents to commit code directly into deployment branches creates unacceptable enterprise risks: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DC2626"/>
                </a:solidFill>
                <a:latin typeface="Segoe UI"/>
              </a:rPr>
              <a:t>• Supply Chain Risk: Malicious pull requests or prompt injections could trick agents into injecting backdoors.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Semantic Regressions: AI fixes may resolve a lint error but subtly break runtime business logic.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Developer Ownership: Human engineers must always retain ultimate accountability over all code pushed to production.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524225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2011680"/>
            <a:ext cx="2286000" cy="2743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DEPLOYSAFE PROTOCOL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423160"/>
            <a:ext cx="4785055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Actionable Unified Diff Previews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1. Standard Unified Diff Output: Formatted exactly like git diff with line offsets (@@ -x,y +a,b @@).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2. Syntax Colored UI: Additions rendered in green, removals in red, right inside the web findings modal.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3. Explicit Safety Disclaimer: Clearly labeled with amber banner requiring developer testing prior to merge.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6A34A"/>
                </a:solidFill>
                <a:latin typeface="Segoe UI"/>
              </a:rPr>
              <a:t>4. One-Click Copy: Engineers copy the patch, test locally, and commit with human provenance.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02336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DEPLOYSAFE — AGENTIC PRE-DEPLOYMENT RISK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F172A"/>
                </a:solidFill>
                <a:latin typeface="Segoe UI"/>
              </a:rPr>
              <a:t>Empirical Evaluation: Zero False Positives &amp; Verified Metrics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Segoe UI"/>
              </a:rPr>
              <a:t>Rigorous benchmarking across 5 test repositories and 98 automated unit/integration tests.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523744" cy="13716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2249424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6A34A"/>
                </a:solidFill>
                <a:latin typeface="Segoe UI"/>
              </a:rPr>
              <a:t>FALSE POSITIVE RATE</a:t>
            </a:r>
          </a:p>
          <a:p>
            <a:pPr algn="l">
              <a:spcAft>
                <a:spcPts val="200"/>
              </a:spcAft>
            </a:pPr>
            <a:r>
              <a:rPr sz="2400" b="1">
                <a:solidFill>
                  <a:srgbClr val="16A34A"/>
                </a:solidFill>
                <a:latin typeface="Segoe UI"/>
              </a:rPr>
              <a:t>0.0%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334155"/>
                </a:solidFill>
                <a:latin typeface="Segoe UI"/>
              </a:rPr>
              <a:t>Zero phantom findings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5" y="1783080"/>
            <a:ext cx="2523744" cy="13716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2735" y="1920240"/>
            <a:ext cx="2249424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6A34A"/>
                </a:solidFill>
                <a:latin typeface="Segoe UI"/>
              </a:rPr>
              <a:t>EVIDENCE VALIDITY</a:t>
            </a:r>
          </a:p>
          <a:p>
            <a:pPr algn="l">
              <a:spcAft>
                <a:spcPts val="200"/>
              </a:spcAft>
            </a:pPr>
            <a:r>
              <a:rPr sz="2400" b="1">
                <a:solidFill>
                  <a:srgbClr val="16A34A"/>
                </a:solidFill>
                <a:latin typeface="Segoe UI"/>
              </a:rPr>
              <a:t>100.0%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334155"/>
                </a:solidFill>
                <a:latin typeface="Segoe UI"/>
              </a:rPr>
              <a:t>All grounded in physical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1" y="1783080"/>
            <a:ext cx="2523744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920240"/>
            <a:ext cx="2249424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Segoe UI"/>
              </a:rPr>
              <a:t>DETECTION RECALL</a:t>
            </a:r>
          </a:p>
          <a:p>
            <a:pPr algn="l">
              <a:spcAft>
                <a:spcPts val="200"/>
              </a:spcAft>
            </a:pPr>
            <a:r>
              <a:rPr sz="2400" b="1">
                <a:solidFill>
                  <a:srgbClr val="2563EB"/>
                </a:solidFill>
                <a:latin typeface="Segoe UI"/>
              </a:rPr>
              <a:t>80.0%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334155"/>
                </a:solidFill>
                <a:latin typeface="Segoe UI"/>
              </a:rPr>
              <a:t>4/5 target cases detected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33688" y="1783080"/>
            <a:ext cx="2523744" cy="13716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0848" y="1920240"/>
            <a:ext cx="2249424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6A34A"/>
                </a:solidFill>
                <a:latin typeface="Segoe UI"/>
              </a:rPr>
              <a:t>REGRESSION SUITE</a:t>
            </a:r>
          </a:p>
          <a:p>
            <a:pPr algn="l">
              <a:spcAft>
                <a:spcPts val="200"/>
              </a:spcAft>
            </a:pPr>
            <a:r>
              <a:rPr sz="2400" b="1">
                <a:solidFill>
                  <a:srgbClr val="16A34A"/>
                </a:solidFill>
                <a:latin typeface="Segoe UI"/>
              </a:rPr>
              <a:t>98 / 98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334155"/>
                </a:solidFill>
                <a:latin typeface="Segoe UI"/>
              </a:rPr>
              <a:t>100% pass in 67.89s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37560"/>
            <a:ext cx="10728655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7472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Evaluation Benchmark Breakdown Across Physical Test Repositories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886200"/>
            <a:ext cx="10271455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95935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EVAL-01: Config Hazard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395935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34155"/>
                </a:solidFill>
                <a:latin typeface="Segoe UI"/>
              </a:rPr>
              <a:t>Unpinned Docker tag &amp; debug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95935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Segoe UI"/>
              </a:rPr>
              <a:t>CRITICAL / 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9593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6A34A"/>
                </a:solidFill>
                <a:latin typeface="Segoe UI"/>
              </a:rPr>
              <a:t>PASS (100% Detected)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4325112"/>
            <a:ext cx="10271455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39826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EVAL-02: Secret Exposure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439826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34155"/>
                </a:solidFill>
                <a:latin typeface="Segoe UI"/>
              </a:rPr>
              <a:t>AWS credentials &amp; database password leak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39826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Segoe UI"/>
              </a:rPr>
              <a:t>CRITICAL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439826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6A34A"/>
                </a:solidFill>
                <a:latin typeface="Segoe UI"/>
              </a:rPr>
              <a:t>PASS (Scrubbed &amp; Flagged)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4764024"/>
            <a:ext cx="10271455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8371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EVAL-03: Dependency CVE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483717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34155"/>
                </a:solidFill>
                <a:latin typeface="Segoe UI"/>
              </a:rPr>
              <a:t>Outdated PyYAML with published CVEs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483717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Segoe UI"/>
              </a:rPr>
              <a:t>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483717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6A34A"/>
                </a:solidFill>
                <a:latin typeface="Segoe UI"/>
              </a:rPr>
              <a:t>PASS (Advisory Matched)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" y="5202936"/>
            <a:ext cx="10271455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27608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EVAL-04: Test Coverage Deficit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527608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34155"/>
                </a:solidFill>
                <a:latin typeface="Segoe UI"/>
              </a:rPr>
              <a:t>Untested financial / auth payment logic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527608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Segoe UI"/>
              </a:rPr>
              <a:t>MEDIUM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52760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6A34A"/>
                </a:solidFill>
                <a:latin typeface="Segoe UI"/>
              </a:rPr>
              <a:t>PASS (Missing Test Flagged)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0120" y="5641848"/>
            <a:ext cx="10271455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7150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EVAL-05: Clean Baseline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3360" y="57150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34155"/>
                </a:solidFill>
                <a:latin typeface="Segoe UI"/>
              </a:rPr>
              <a:t>Production-hardened clean repository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57150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Segoe UI"/>
              </a:rPr>
              <a:t>NONE (Clean)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57150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6A34A"/>
                </a:solidFill>
                <a:latin typeface="Segoe UI"/>
              </a:rPr>
              <a:t>PASS (0.0% False Positives)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02336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DEPLOYSAFE — AGENTIC PRE-DEPLOYMENT RISK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F172A"/>
                </a:solidFill>
                <a:latin typeface="Segoe UI"/>
              </a:rPr>
              <a:t>Production System Implementation &amp; Developer Experience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Segoe UI"/>
              </a:rPr>
              <a:t>Clean full-stack delivery: FastAPI, React 18 / Vite SPA, CLI, and GitHub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2011680"/>
            <a:ext cx="164592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WEB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297180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React 18 + Tailwind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Real-time SSE streaming for live agent step progress.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Interactive Findings filter by severity &amp; category.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Run Fingerprint comparison diff view.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V2 Change Impact &amp; Patch Preview modals.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16A34A"/>
                </a:solidFill>
                <a:latin typeface="Segoe UI"/>
              </a:rPr>
              <a:t>• 0 TypeScript errors; bundle built in 1m 41s.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78308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08576" y="2011680"/>
            <a:ext cx="164592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BACKEND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377440"/>
            <a:ext cx="297180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FastAPI Service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Asynchronous LangGraph pipeline execution.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Ingestion of local repositories and Git clones.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REST endpoints for runs, findings, impact, analytics.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Sub-second response times for cached reports.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1" y="178308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57031" y="2011680"/>
            <a:ext cx="164592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CI/CD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377440"/>
            <a:ext cx="297180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CLI &amp; GitHub Action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deploysafe CLI command-line tool.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Emits ANSI colored summaries and exit codes (0 pass, 1 blocked).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Seamless GitHub Action integration for pull request gating.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• Directly blocks unsafe PR merges.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02336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DEPLOYSAFE — AGENTIC PRE-DEPLOYMENT RISK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F172A"/>
                </a:solidFill>
                <a:latin typeface="Segoe UI"/>
              </a:rPr>
              <a:t>Viva Defense Summary &amp; Project Conclusion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Segoe UI"/>
              </a:rPr>
              <a:t>Transforming pre-deployment safety validation through grounded, verifiable Agentic 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47548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Core Academic &amp; Technical Contributions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1. Cross-Boundary Seam Detection: Proved that multi-agent synthesis detects configuration and infrastructure hazards that bypass traditional CI test suites.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2. Grounded Reflection Architecture: Demonstrated that adversarial Critic reflection completely eliminates false positives (0.0% on clean baseline).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3. Deterministic Safety Gating: Replaced ungrounded sentiment with reproducible 0–100 mathematical risk scoring and automated gate policies.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4. V2 Enterprise Capabilities: Added repo governance (deploysafe.yml), deterministic blast radius (8.4ms), and human-approved patch diffs.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524225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2011680"/>
            <a:ext cx="2286000" cy="2743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PROJECT DELIVERABLES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423160"/>
            <a:ext cx="4785055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Project Completion Summary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• Mentors: Sincere gratitude to Mr. Naveen Singla &amp; Dr. Kiran Khatter for architectural direction and guidance.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Versioning: v1.0.0 Final Academic Release preserved under Git Tag v1.0.0-final-submission.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16A34A"/>
                </a:solidFill>
                <a:latin typeface="Segoe UI"/>
              </a:rPr>
              <a:t>• V2 Status: Phase 7 Completed with 98/98 tests passing.</a:t>
            </a:r>
          </a:p>
          <a:p>
            <a:pPr algn="l">
              <a:spcAft>
                <a:spcPts val="1400"/>
              </a:spcAft>
            </a:pPr>
            <a:r>
              <a:rPr sz="1100" b="0">
                <a:solidFill>
                  <a:srgbClr val="334155"/>
                </a:solidFill>
                <a:latin typeface="Segoe UI"/>
              </a:rPr>
              <a:t>• Documentation: Complete Viva Guide, Demo Scripts, Architecture Docs, and Contribution Matrix verified.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Thank you. Questions &amp; Technical Demonstration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